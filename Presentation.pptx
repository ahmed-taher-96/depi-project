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308" r:id="rId2"/>
    <p:sldId id="309" r:id="rId3"/>
    <p:sldId id="352" r:id="rId4"/>
    <p:sldId id="353" r:id="rId5"/>
    <p:sldId id="354" r:id="rId6"/>
    <p:sldId id="315" r:id="rId7"/>
    <p:sldId id="325" r:id="rId8"/>
    <p:sldId id="292" r:id="rId9"/>
    <p:sldId id="265" r:id="rId10"/>
    <p:sldId id="272" r:id="rId11"/>
    <p:sldId id="264" r:id="rId12"/>
    <p:sldId id="266" r:id="rId13"/>
    <p:sldId id="267" r:id="rId14"/>
    <p:sldId id="268" r:id="rId15"/>
    <p:sldId id="269" r:id="rId16"/>
    <p:sldId id="270" r:id="rId17"/>
    <p:sldId id="318" r:id="rId18"/>
    <p:sldId id="319" r:id="rId19"/>
    <p:sldId id="320" r:id="rId20"/>
    <p:sldId id="321" r:id="rId21"/>
    <p:sldId id="322" r:id="rId22"/>
    <p:sldId id="323" r:id="rId23"/>
    <p:sldId id="317" r:id="rId24"/>
    <p:sldId id="326" r:id="rId25"/>
    <p:sldId id="260" r:id="rId26"/>
    <p:sldId id="327" r:id="rId27"/>
    <p:sldId id="328" r:id="rId28"/>
    <p:sldId id="329" r:id="rId29"/>
    <p:sldId id="284" r:id="rId30"/>
    <p:sldId id="286" r:id="rId31"/>
    <p:sldId id="274" r:id="rId32"/>
    <p:sldId id="287" r:id="rId33"/>
    <p:sldId id="331" r:id="rId34"/>
    <p:sldId id="332" r:id="rId35"/>
    <p:sldId id="333" r:id="rId36"/>
    <p:sldId id="334" r:id="rId37"/>
    <p:sldId id="290" r:id="rId38"/>
    <p:sldId id="291" r:id="rId39"/>
    <p:sldId id="271" r:id="rId40"/>
    <p:sldId id="282" r:id="rId41"/>
    <p:sldId id="294" r:id="rId42"/>
    <p:sldId id="335" r:id="rId43"/>
    <p:sldId id="336" r:id="rId44"/>
    <p:sldId id="283" r:id="rId45"/>
    <p:sldId id="293" r:id="rId46"/>
    <p:sldId id="337" r:id="rId47"/>
    <p:sldId id="338" r:id="rId48"/>
    <p:sldId id="349" r:id="rId49"/>
    <p:sldId id="339" r:id="rId50"/>
    <p:sldId id="340" r:id="rId51"/>
    <p:sldId id="341" r:id="rId52"/>
    <p:sldId id="342" r:id="rId53"/>
    <p:sldId id="343" r:id="rId54"/>
    <p:sldId id="344" r:id="rId55"/>
    <p:sldId id="275" r:id="rId56"/>
    <p:sldId id="345" r:id="rId57"/>
    <p:sldId id="346" r:id="rId58"/>
    <p:sldId id="347" r:id="rId59"/>
    <p:sldId id="273" r:id="rId60"/>
    <p:sldId id="348" r:id="rId61"/>
    <p:sldId id="278" r:id="rId62"/>
    <p:sldId id="279" r:id="rId63"/>
    <p:sldId id="280" r:id="rId64"/>
    <p:sldId id="281" r:id="rId65"/>
    <p:sldId id="350" r:id="rId66"/>
    <p:sldId id="300" r:id="rId67"/>
    <p:sldId id="361" r:id="rId68"/>
    <p:sldId id="301" r:id="rId69"/>
    <p:sldId id="302" r:id="rId70"/>
    <p:sldId id="303" r:id="rId71"/>
    <p:sldId id="261" r:id="rId72"/>
    <p:sldId id="355" r:id="rId73"/>
    <p:sldId id="356" r:id="rId74"/>
    <p:sldId id="263" r:id="rId75"/>
    <p:sldId id="357" r:id="rId76"/>
    <p:sldId id="358" r:id="rId77"/>
    <p:sldId id="359" r:id="rId78"/>
    <p:sldId id="360" r:id="rId79"/>
    <p:sldId id="362" r:id="rId80"/>
    <p:sldId id="305"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2250"/>
    <a:srgbClr val="DEC78A"/>
    <a:srgbClr val="FAFDFE"/>
    <a:srgbClr val="E8EDED"/>
    <a:srgbClr val="D9CBC2"/>
    <a:srgbClr val="FE9121"/>
    <a:srgbClr val="B5DB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1646" autoAdjust="0"/>
  </p:normalViewPr>
  <p:slideViewPr>
    <p:cSldViewPr snapToGrid="0">
      <p:cViewPr>
        <p:scale>
          <a:sx n="66" d="100"/>
          <a:sy n="66" d="100"/>
        </p:scale>
        <p:origin x="1524" y="774"/>
      </p:cViewPr>
      <p:guideLst>
        <p:guide orient="horz" pos="2160"/>
        <p:guide pos="3840"/>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EC78B5-D717-47F0-9213-5987FDFBB7CE}"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3EC06-4ACE-4511-8FA1-6AC46A524F95}" type="slidenum">
              <a:rPr lang="en-US" smtClean="0"/>
              <a:t>‹#›</a:t>
            </a:fld>
            <a:endParaRPr lang="en-US"/>
          </a:p>
        </p:txBody>
      </p:sp>
    </p:spTree>
    <p:extLst>
      <p:ext uri="{BB962C8B-B14F-4D97-AF65-F5344CB8AC3E}">
        <p14:creationId xmlns:p14="http://schemas.microsoft.com/office/powerpoint/2010/main" val="780011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73EC06-4ACE-4511-8FA1-6AC46A524F95}" type="slidenum">
              <a:rPr lang="en-US" smtClean="0"/>
              <a:t>6</a:t>
            </a:fld>
            <a:endParaRPr lang="en-US"/>
          </a:p>
        </p:txBody>
      </p:sp>
    </p:spTree>
    <p:extLst>
      <p:ext uri="{BB962C8B-B14F-4D97-AF65-F5344CB8AC3E}">
        <p14:creationId xmlns:p14="http://schemas.microsoft.com/office/powerpoint/2010/main" val="1836749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D18A-4929-8652-13FE-37CA1A240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1671D-02C1-77A9-EFA2-8BB501D22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EDF65-2C9C-2A18-7125-72E5A55708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D00C33-FBA3-FF18-22A9-FE8811F7A533}"/>
              </a:ext>
            </a:extLst>
          </p:cNvPr>
          <p:cNvSpPr>
            <a:spLocks noGrp="1"/>
          </p:cNvSpPr>
          <p:nvPr>
            <p:ph type="sldNum" sz="quarter" idx="5"/>
          </p:nvPr>
        </p:nvSpPr>
        <p:spPr/>
        <p:txBody>
          <a:bodyPr/>
          <a:lstStyle/>
          <a:p>
            <a:fld id="{B173EC06-4ACE-4511-8FA1-6AC46A524F95}" type="slidenum">
              <a:rPr lang="en-US" smtClean="0"/>
              <a:t>7</a:t>
            </a:fld>
            <a:endParaRPr lang="en-US"/>
          </a:p>
        </p:txBody>
      </p:sp>
    </p:spTree>
    <p:extLst>
      <p:ext uri="{BB962C8B-B14F-4D97-AF65-F5344CB8AC3E}">
        <p14:creationId xmlns:p14="http://schemas.microsoft.com/office/powerpoint/2010/main" val="3735826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27F715-E9AF-484A-B210-05821974D69D}" type="slidenum">
              <a:rPr lang="en-US" smtClean="0"/>
              <a:t>28</a:t>
            </a:fld>
            <a:endParaRPr lang="en-US"/>
          </a:p>
        </p:txBody>
      </p:sp>
    </p:spTree>
    <p:extLst>
      <p:ext uri="{BB962C8B-B14F-4D97-AF65-F5344CB8AC3E}">
        <p14:creationId xmlns:p14="http://schemas.microsoft.com/office/powerpoint/2010/main" val="1572697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73EC06-4ACE-4511-8FA1-6AC46A524F95}" type="slidenum">
              <a:rPr lang="en-US" smtClean="0"/>
              <a:t>69</a:t>
            </a:fld>
            <a:endParaRPr lang="en-US"/>
          </a:p>
        </p:txBody>
      </p:sp>
    </p:spTree>
    <p:extLst>
      <p:ext uri="{BB962C8B-B14F-4D97-AF65-F5344CB8AC3E}">
        <p14:creationId xmlns:p14="http://schemas.microsoft.com/office/powerpoint/2010/main" val="2429471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2D709-306A-67FA-FCB5-3495DC6FD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50E72F-632C-236C-4A6C-5B176F3373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CF3BA5-5AB1-0F3B-3D60-486442009F9A}"/>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10ECF2A9-1D8D-78DF-B428-6326989C39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3D5EC5-346E-D344-26AB-E83960AFE2D2}"/>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3071169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8A47F-CF52-3D35-216B-28D36AB39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15C19E-30B5-40F2-D6A4-606273EF07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1EC4E-19E4-A098-5BCF-28D07ECFF64A}"/>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CF747AA6-7BB2-7A9B-D904-E4E1EAD4BE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5DC48-9515-FCCB-FB16-4146D2A51972}"/>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285862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D46B-7367-55C7-AF52-3B77467322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5B398C-99B2-E04A-44A9-15A2F2E6DF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A5E7B2-C448-4C86-A9C3-096B2187D1A1}"/>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356DA263-3C00-829E-CD28-B183FECD48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5E8AC-620C-725A-A219-B5FB882CDBA9}"/>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2887545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33898-2A8B-DF10-972C-5DD39076EF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4F71B7-C8CF-BE88-1408-BB0945783C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F306CC-384C-9925-FAE4-9590200850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0B21BC-A275-098A-CAA6-12530AB691C1}"/>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6" name="Footer Placeholder 5">
            <a:extLst>
              <a:ext uri="{FF2B5EF4-FFF2-40B4-BE49-F238E27FC236}">
                <a16:creationId xmlns:a16="http://schemas.microsoft.com/office/drawing/2014/main" id="{8A6CE80C-00D4-C01E-28E9-8A8ABCBC1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09F19-10D3-A5AA-6F5D-AB701389CBE8}"/>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3474830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4293E-6F5E-C4F3-5B23-11A67C6F25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E76380-511D-3721-4A28-C4623D982D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69304-05C2-D136-F5DB-8A0DC13AB3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80DFAF-C145-D8AF-4634-77BD7626B4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4BBDE7-5CC7-A8D4-672A-6692DA2324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8024DD-ABE1-B852-C9E1-F163C70E1877}"/>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8" name="Footer Placeholder 7">
            <a:extLst>
              <a:ext uri="{FF2B5EF4-FFF2-40B4-BE49-F238E27FC236}">
                <a16:creationId xmlns:a16="http://schemas.microsoft.com/office/drawing/2014/main" id="{57C32C05-B42C-63E3-56EC-72DBD16722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3EE0C0-C9FC-636B-2181-A03EF8C6EBAE}"/>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274142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77665-07F3-BD2D-249F-E15636E5F6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A0CCEA-BD1A-7046-4020-13E6C07FDD96}"/>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4" name="Footer Placeholder 3">
            <a:extLst>
              <a:ext uri="{FF2B5EF4-FFF2-40B4-BE49-F238E27FC236}">
                <a16:creationId xmlns:a16="http://schemas.microsoft.com/office/drawing/2014/main" id="{C16BE07F-25E9-E2E8-0B43-79C8662CBE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DB2AF4-F10F-8776-7958-D019F44CEB37}"/>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474435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35BF43-6450-B961-4C5B-FF59159D7C63}"/>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3" name="Footer Placeholder 2">
            <a:extLst>
              <a:ext uri="{FF2B5EF4-FFF2-40B4-BE49-F238E27FC236}">
                <a16:creationId xmlns:a16="http://schemas.microsoft.com/office/drawing/2014/main" id="{06383C39-9DE3-5755-AF13-C04D618E6E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A0A82B-2E47-1672-98C8-061F684FE88C}"/>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369146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D9B73-CAB3-A6F5-1C69-E7381A23E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6E61D7-7670-3E1B-EB7C-B3419FE87C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9D8854-9F0E-0B1A-7CDB-7FA1AFBBC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249E7-2C97-975B-DB3A-C46C3DBC59FA}"/>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6" name="Footer Placeholder 5">
            <a:extLst>
              <a:ext uri="{FF2B5EF4-FFF2-40B4-BE49-F238E27FC236}">
                <a16:creationId xmlns:a16="http://schemas.microsoft.com/office/drawing/2014/main" id="{36570963-3FAB-AE12-9CEB-F0BA42CA47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896B6-0859-06AF-4FA9-31DC83E97B7D}"/>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4077351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62A84-FFFC-546F-AA0D-0FA52075F2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713F34-7765-CA23-23D8-36EE912AF2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0842BB-3EBB-A098-07A8-6A1398B10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F22A3-7591-30C6-CFCC-6CBEEA5E179F}"/>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6" name="Footer Placeholder 5">
            <a:extLst>
              <a:ext uri="{FF2B5EF4-FFF2-40B4-BE49-F238E27FC236}">
                <a16:creationId xmlns:a16="http://schemas.microsoft.com/office/drawing/2014/main" id="{1B17B768-982F-412A-0AF3-95C55942E2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671806-38F4-F6CE-B496-1DBB60537510}"/>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3570604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727D-9754-24A4-5B65-6583E3C199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D9EDF-4D6B-00EB-2C1C-C8097D4453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67D913-8CF3-92C5-06F5-FB45ADE5FB2B}"/>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5EC125E1-D2CC-3171-1B08-4503E6BD9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0EAA6-8791-0D1D-14AB-1172A6AD004F}"/>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793134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27650C-5C2F-77FC-98BA-63C413D1AF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F30FAA-1215-A2A6-FEFA-81BF896BF8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DE1FA-52F1-8700-94BA-723F8CDA257B}"/>
              </a:ext>
            </a:extLst>
          </p:cNvPr>
          <p:cNvSpPr>
            <a:spLocks noGrp="1"/>
          </p:cNvSpPr>
          <p:nvPr>
            <p:ph type="dt" sz="half" idx="10"/>
          </p:nvPr>
        </p:nvSpPr>
        <p:spPr/>
        <p:txBody>
          <a:body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00167EDC-7266-ECA8-80D5-3D7BAF35E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01AA3-8D1B-EB59-6F6E-4BD1BDDCA8DE}"/>
              </a:ext>
            </a:extLst>
          </p:cNvPr>
          <p:cNvSpPr>
            <a:spLocks noGrp="1"/>
          </p:cNvSpPr>
          <p:nvPr>
            <p:ph type="sldNum" sz="quarter" idx="12"/>
          </p:nvPr>
        </p:nvSpPr>
        <p:spPr/>
        <p:txBody>
          <a:bodyPr/>
          <a:lstStyle/>
          <a:p>
            <a:fld id="{AAD33BCE-9375-4DA2-86B2-9B8BC0A42CF6}" type="slidenum">
              <a:rPr lang="en-US" smtClean="0"/>
              <a:t>‹#›</a:t>
            </a:fld>
            <a:endParaRPr lang="en-US"/>
          </a:p>
        </p:txBody>
      </p:sp>
    </p:spTree>
    <p:extLst>
      <p:ext uri="{BB962C8B-B14F-4D97-AF65-F5344CB8AC3E}">
        <p14:creationId xmlns:p14="http://schemas.microsoft.com/office/powerpoint/2010/main" val="163523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6C61C-7A58-78E3-751F-BA4DB158ED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775B5B-5ACC-65F0-E8D2-833890844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5F891-EBA0-BB4B-1DA5-DD05730A57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ABFBF7-097A-4770-8504-EC06A26C5E6D}" type="datetimeFigureOut">
              <a:rPr lang="en-US" smtClean="0"/>
              <a:t>11/29/2025</a:t>
            </a:fld>
            <a:endParaRPr lang="en-US"/>
          </a:p>
        </p:txBody>
      </p:sp>
      <p:sp>
        <p:nvSpPr>
          <p:cNvPr id="5" name="Footer Placeholder 4">
            <a:extLst>
              <a:ext uri="{FF2B5EF4-FFF2-40B4-BE49-F238E27FC236}">
                <a16:creationId xmlns:a16="http://schemas.microsoft.com/office/drawing/2014/main" id="{E2610053-634B-7C1F-E9AB-B61EE44BF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CE0332-C485-2A61-AB7A-7C7C1C4E04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33BCE-9375-4DA2-86B2-9B8BC0A42CF6}" type="slidenum">
              <a:rPr lang="en-US" smtClean="0"/>
              <a:t>‹#›</a:t>
            </a:fld>
            <a:endParaRPr lang="en-US"/>
          </a:p>
        </p:txBody>
      </p:sp>
    </p:spTree>
    <p:extLst>
      <p:ext uri="{BB962C8B-B14F-4D97-AF65-F5344CB8AC3E}">
        <p14:creationId xmlns:p14="http://schemas.microsoft.com/office/powerpoint/2010/main" val="1624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22.png"/><Relationship Id="rId21" Type="http://schemas.microsoft.com/office/2007/relationships/hdphoto" Target="../media/hdphoto1.wdp"/><Relationship Id="rId7" Type="http://schemas.openxmlformats.org/officeDocument/2006/relationships/image" Target="../media/image18.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21.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4.png"/><Relationship Id="rId5" Type="http://schemas.openxmlformats.org/officeDocument/2006/relationships/image" Target="../media/image16.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24.pn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18" Type="http://schemas.openxmlformats.org/officeDocument/2006/relationships/image" Target="../media/image38.png"/><Relationship Id="rId3" Type="http://schemas.openxmlformats.org/officeDocument/2006/relationships/image" Target="../media/image22.png"/><Relationship Id="rId21" Type="http://schemas.openxmlformats.org/officeDocument/2006/relationships/image" Target="../media/image41.sv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21.png"/><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24" Type="http://schemas.openxmlformats.org/officeDocument/2006/relationships/image" Target="../media/image44.png"/><Relationship Id="rId5" Type="http://schemas.openxmlformats.org/officeDocument/2006/relationships/image" Target="../media/image24.png"/><Relationship Id="rId15" Type="http://schemas.openxmlformats.org/officeDocument/2006/relationships/image" Target="../media/image35.png"/><Relationship Id="rId23" Type="http://schemas.openxmlformats.org/officeDocument/2006/relationships/image" Target="../media/image43.svg"/><Relationship Id="rId10" Type="http://schemas.openxmlformats.org/officeDocument/2006/relationships/image" Target="../media/image27.png"/><Relationship Id="rId19" Type="http://schemas.openxmlformats.org/officeDocument/2006/relationships/image" Target="../media/image39.svg"/><Relationship Id="rId4" Type="http://schemas.openxmlformats.org/officeDocument/2006/relationships/image" Target="../media/image23.png"/><Relationship Id="rId9" Type="http://schemas.openxmlformats.org/officeDocument/2006/relationships/image" Target="../media/image30.png"/><Relationship Id="rId14" Type="http://schemas.openxmlformats.org/officeDocument/2006/relationships/image" Target="../media/image34.png"/><Relationship Id="rId22"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24.png"/><Relationship Id="rId15" Type="http://schemas.openxmlformats.org/officeDocument/2006/relationships/image" Target="../media/image35.pn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30.png"/><Relationship Id="rId1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18" Type="http://schemas.openxmlformats.org/officeDocument/2006/relationships/image" Target="../media/image42.png"/><Relationship Id="rId3" Type="http://schemas.openxmlformats.org/officeDocument/2006/relationships/image" Target="../media/image22.png"/><Relationship Id="rId21" Type="http://schemas.openxmlformats.org/officeDocument/2006/relationships/image" Target="../media/image45.sv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41.svg"/><Relationship Id="rId2" Type="http://schemas.openxmlformats.org/officeDocument/2006/relationships/image" Target="../media/image21.png"/><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24.png"/><Relationship Id="rId15" Type="http://schemas.openxmlformats.org/officeDocument/2006/relationships/image" Target="../media/image37.svg"/><Relationship Id="rId10" Type="http://schemas.openxmlformats.org/officeDocument/2006/relationships/image" Target="../media/image27.png"/><Relationship Id="rId19" Type="http://schemas.openxmlformats.org/officeDocument/2006/relationships/image" Target="../media/image43.svg"/><Relationship Id="rId4" Type="http://schemas.openxmlformats.org/officeDocument/2006/relationships/image" Target="../media/image23.png"/><Relationship Id="rId9" Type="http://schemas.openxmlformats.org/officeDocument/2006/relationships/image" Target="../media/image30.png"/><Relationship Id="rId1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18" Type="http://schemas.openxmlformats.org/officeDocument/2006/relationships/image" Target="../media/image42.png"/><Relationship Id="rId3" Type="http://schemas.openxmlformats.org/officeDocument/2006/relationships/image" Target="../media/image22.png"/><Relationship Id="rId21" Type="http://schemas.openxmlformats.org/officeDocument/2006/relationships/image" Target="../media/image45.sv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41.svg"/><Relationship Id="rId2" Type="http://schemas.openxmlformats.org/officeDocument/2006/relationships/image" Target="../media/image21.png"/><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24.png"/><Relationship Id="rId15" Type="http://schemas.openxmlformats.org/officeDocument/2006/relationships/image" Target="../media/image37.svg"/><Relationship Id="rId10" Type="http://schemas.openxmlformats.org/officeDocument/2006/relationships/image" Target="../media/image27.png"/><Relationship Id="rId19" Type="http://schemas.openxmlformats.org/officeDocument/2006/relationships/image" Target="../media/image43.svg"/><Relationship Id="rId4" Type="http://schemas.openxmlformats.org/officeDocument/2006/relationships/image" Target="../media/image23.png"/><Relationship Id="rId9" Type="http://schemas.openxmlformats.org/officeDocument/2006/relationships/image" Target="../media/image30.png"/><Relationship Id="rId14" Type="http://schemas.openxmlformats.org/officeDocument/2006/relationships/image" Target="../media/image36.pn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2.png"/><Relationship Id="rId7" Type="http://schemas.openxmlformats.org/officeDocument/2006/relationships/image" Target="../media/image43.sv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5.svg"/><Relationship Id="rId5" Type="http://schemas.openxmlformats.org/officeDocument/2006/relationships/image" Target="../media/image41.svg"/><Relationship Id="rId10" Type="http://schemas.openxmlformats.org/officeDocument/2006/relationships/image" Target="../media/image44.png"/><Relationship Id="rId4" Type="http://schemas.openxmlformats.org/officeDocument/2006/relationships/image" Target="../media/image40.png"/><Relationship Id="rId9" Type="http://schemas.openxmlformats.org/officeDocument/2006/relationships/image" Target="../media/image47.svg"/></Relationships>
</file>

<file path=ppt/slides/_rels/slide19.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1.png"/><Relationship Id="rId3" Type="http://schemas.openxmlformats.org/officeDocument/2006/relationships/image" Target="../media/image22.png"/><Relationship Id="rId7" Type="http://schemas.openxmlformats.org/officeDocument/2006/relationships/image" Target="../media/image43.svg"/><Relationship Id="rId12" Type="http://schemas.openxmlformats.org/officeDocument/2006/relationships/image" Target="../media/image50.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9.svg"/></Relationships>
</file>

<file path=ppt/slides/_rels/slide20.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45.svg"/><Relationship Id="rId3" Type="http://schemas.openxmlformats.org/officeDocument/2006/relationships/image" Target="../media/image22.png"/><Relationship Id="rId7" Type="http://schemas.openxmlformats.org/officeDocument/2006/relationships/image" Target="../media/image43.svg"/><Relationship Id="rId12" Type="http://schemas.openxmlformats.org/officeDocument/2006/relationships/image" Target="../media/image44.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51.png"/><Relationship Id="rId5" Type="http://schemas.openxmlformats.org/officeDocument/2006/relationships/image" Target="../media/image37.svg"/><Relationship Id="rId10" Type="http://schemas.openxmlformats.org/officeDocument/2006/relationships/image" Target="../media/image50.png"/><Relationship Id="rId4" Type="http://schemas.openxmlformats.org/officeDocument/2006/relationships/image" Target="../media/image36.png"/><Relationship Id="rId9" Type="http://schemas.openxmlformats.org/officeDocument/2006/relationships/image" Target="../media/image49.svg"/></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6.png"/><Relationship Id="rId18" Type="http://schemas.openxmlformats.org/officeDocument/2006/relationships/image" Target="../media/image50.png"/><Relationship Id="rId3" Type="http://schemas.openxmlformats.org/officeDocument/2006/relationships/image" Target="../media/image22.png"/><Relationship Id="rId7" Type="http://schemas.openxmlformats.org/officeDocument/2006/relationships/image" Target="../media/image41.sv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21.png"/><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7.svg"/><Relationship Id="rId15" Type="http://schemas.openxmlformats.org/officeDocument/2006/relationships/image" Target="../media/image18.png"/><Relationship Id="rId10" Type="http://schemas.openxmlformats.org/officeDocument/2006/relationships/image" Target="../media/image44.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53.svg"/><Relationship Id="rId14" Type="http://schemas.openxmlformats.org/officeDocument/2006/relationships/image" Target="../media/image17.png"/></Relationships>
</file>

<file path=ppt/slides/_rels/slide22.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6.png"/><Relationship Id="rId18" Type="http://schemas.openxmlformats.org/officeDocument/2006/relationships/image" Target="../media/image50.png"/><Relationship Id="rId3" Type="http://schemas.openxmlformats.org/officeDocument/2006/relationships/image" Target="../media/image22.png"/><Relationship Id="rId7" Type="http://schemas.openxmlformats.org/officeDocument/2006/relationships/image" Target="../media/image41.sv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4.png"/><Relationship Id="rId16" Type="http://schemas.openxmlformats.org/officeDocument/2006/relationships/image" Target="../media/image19.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7.svg"/><Relationship Id="rId15" Type="http://schemas.openxmlformats.org/officeDocument/2006/relationships/image" Target="../media/image18.png"/><Relationship Id="rId10" Type="http://schemas.openxmlformats.org/officeDocument/2006/relationships/image" Target="../media/image44.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53.svg"/><Relationship Id="rId14"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7.png"/><Relationship Id="rId7" Type="http://schemas.openxmlformats.org/officeDocument/2006/relationships/image" Target="../media/image6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svg"/></Relationships>
</file>

<file path=ppt/slides/_rels/slide2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sv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svg"/></Relationships>
</file>

<file path=ppt/slides/_rels/slide30.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slide" Target="slide31.xml"/><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33.xml"/><Relationship Id="rId1" Type="http://schemas.openxmlformats.org/officeDocument/2006/relationships/slideLayout" Target="../slideLayouts/slideLayout1.xml"/><Relationship Id="rId6" Type="http://schemas.openxmlformats.org/officeDocument/2006/relationships/image" Target="../media/image73.sv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67.png"/><Relationship Id="rId10" Type="http://schemas.openxmlformats.org/officeDocument/2006/relationships/image" Target="../media/image77.png"/><Relationship Id="rId19" Type="http://schemas.openxmlformats.org/officeDocument/2006/relationships/image" Target="../media/image69.png"/><Relationship Id="rId4" Type="http://schemas.openxmlformats.org/officeDocument/2006/relationships/image" Target="../media/image71.svg"/><Relationship Id="rId9" Type="http://schemas.openxmlformats.org/officeDocument/2006/relationships/image" Target="../media/image76.png"/><Relationship Id="rId14" Type="http://schemas.openxmlformats.org/officeDocument/2006/relationships/slide" Target="slide32.xml"/></Relationships>
</file>

<file path=ppt/slides/_rels/slide31.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68.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slide" Target="slide32.xml"/><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67.png"/><Relationship Id="rId5" Type="http://schemas.openxmlformats.org/officeDocument/2006/relationships/image" Target="../media/image76.png"/><Relationship Id="rId15" Type="http://schemas.openxmlformats.org/officeDocument/2006/relationships/slide" Target="slide30.xml"/><Relationship Id="rId10" Type="http://schemas.openxmlformats.org/officeDocument/2006/relationships/slide" Target="slide31.xml"/><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69.png"/></Relationships>
</file>

<file path=ppt/slides/_rels/slide3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68.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slide" Target="slide35.xml"/><Relationship Id="rId2" Type="http://schemas.openxmlformats.org/officeDocument/2006/relationships/image" Target="../media/image57.png"/><Relationship Id="rId16"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67.png"/><Relationship Id="rId5" Type="http://schemas.openxmlformats.org/officeDocument/2006/relationships/image" Target="../media/image76.png"/><Relationship Id="rId15" Type="http://schemas.openxmlformats.org/officeDocument/2006/relationships/image" Target="../media/image69.png"/><Relationship Id="rId10" Type="http://schemas.openxmlformats.org/officeDocument/2006/relationships/slide" Target="slide34.xml"/><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slide" Target="slide31.xml"/></Relationships>
</file>

<file path=ppt/slides/_rels/slide33.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68.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slide" Target="slide36.xml"/><Relationship Id="rId2" Type="http://schemas.openxmlformats.org/officeDocument/2006/relationships/image" Target="../media/image57.png"/><Relationship Id="rId16"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67.png"/><Relationship Id="rId5" Type="http://schemas.openxmlformats.org/officeDocument/2006/relationships/image" Target="../media/image76.png"/><Relationship Id="rId15" Type="http://schemas.openxmlformats.org/officeDocument/2006/relationships/image" Target="../media/image69.png"/><Relationship Id="rId10" Type="http://schemas.openxmlformats.org/officeDocument/2006/relationships/slide" Target="slide35.xml"/><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slide" Target="slide31.xml"/></Relationships>
</file>

<file path=ppt/slides/_rels/slide3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9.png"/><Relationship Id="rId7" Type="http://schemas.openxmlformats.org/officeDocument/2006/relationships/image" Target="../media/image73.sv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1.svg"/></Relationships>
</file>

<file path=ppt/slides/_rels/slide35.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18" Type="http://schemas.openxmlformats.org/officeDocument/2006/relationships/slide" Target="slide38.xml"/><Relationship Id="rId3" Type="http://schemas.openxmlformats.org/officeDocument/2006/relationships/image" Target="../media/image72.png"/><Relationship Id="rId21" Type="http://schemas.openxmlformats.org/officeDocument/2006/relationships/image" Target="../media/image91.sv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67.png"/><Relationship Id="rId2" Type="http://schemas.openxmlformats.org/officeDocument/2006/relationships/image" Target="../media/image57.png"/><Relationship Id="rId16" Type="http://schemas.openxmlformats.org/officeDocument/2006/relationships/slide" Target="slide37.xml"/><Relationship Id="rId20"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69.png"/><Relationship Id="rId10" Type="http://schemas.openxmlformats.org/officeDocument/2006/relationships/image" Target="../media/image86.png"/><Relationship Id="rId19" Type="http://schemas.openxmlformats.org/officeDocument/2006/relationships/image" Target="../media/image68.png"/><Relationship Id="rId4" Type="http://schemas.openxmlformats.org/officeDocument/2006/relationships/image" Target="../media/image73.svg"/><Relationship Id="rId9" Type="http://schemas.openxmlformats.org/officeDocument/2006/relationships/image" Target="../media/image85.png"/><Relationship Id="rId14" Type="http://schemas.openxmlformats.org/officeDocument/2006/relationships/slide" Target="slide36.xml"/></Relationships>
</file>

<file path=ppt/slides/_rels/slide36.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69.png"/><Relationship Id="rId18" Type="http://schemas.openxmlformats.org/officeDocument/2006/relationships/slide" Target="slide35.xml"/><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slide" Target="slide39.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45.xml"/><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67.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slide" Target="slide40.xml"/></Relationships>
</file>

<file path=ppt/slides/_rels/slide37.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69.png"/><Relationship Id="rId18" Type="http://schemas.openxmlformats.org/officeDocument/2006/relationships/slide" Target="slide35.xml"/><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slide" Target="slide37.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39.xml"/><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67.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slide" Target="slide38.xml"/></Relationships>
</file>

<file path=ppt/slides/_rels/slide38.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69.png"/><Relationship Id="rId18" Type="http://schemas.openxmlformats.org/officeDocument/2006/relationships/slide" Target="slide35.xml"/><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slide" Target="slide38.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40.xml"/><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67.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slide" Target="slide39.xml"/></Relationships>
</file>

<file path=ppt/slides/_rels/slide39.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68.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9.png"/><Relationship Id="rId4" Type="http://schemas.openxmlformats.org/officeDocument/2006/relationships/image" Target="../media/image91.svg"/></Relationships>
</file>

<file path=ppt/slides/_rels/slide40.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5.png"/><Relationship Id="rId18" Type="http://schemas.openxmlformats.org/officeDocument/2006/relationships/slide" Target="slide43.xml"/><Relationship Id="rId3" Type="http://schemas.openxmlformats.org/officeDocument/2006/relationships/image" Target="../media/image90.png"/><Relationship Id="rId21" Type="http://schemas.openxmlformats.org/officeDocument/2006/relationships/image" Target="../media/image97.svg"/><Relationship Id="rId7" Type="http://schemas.openxmlformats.org/officeDocument/2006/relationships/image" Target="../media/image88.png"/><Relationship Id="rId12" Type="http://schemas.openxmlformats.org/officeDocument/2006/relationships/image" Target="../media/image94.png"/><Relationship Id="rId17" Type="http://schemas.openxmlformats.org/officeDocument/2006/relationships/image" Target="../media/image67.png"/><Relationship Id="rId2" Type="http://schemas.openxmlformats.org/officeDocument/2006/relationships/image" Target="../media/image57.png"/><Relationship Id="rId16" Type="http://schemas.openxmlformats.org/officeDocument/2006/relationships/slide" Target="slide42.xml"/><Relationship Id="rId20"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87.png"/><Relationship Id="rId11" Type="http://schemas.openxmlformats.org/officeDocument/2006/relationships/image" Target="../media/image93.png"/><Relationship Id="rId5" Type="http://schemas.openxmlformats.org/officeDocument/2006/relationships/image" Target="../media/image86.png"/><Relationship Id="rId15" Type="http://schemas.openxmlformats.org/officeDocument/2006/relationships/image" Target="../media/image69.png"/><Relationship Id="rId10" Type="http://schemas.openxmlformats.org/officeDocument/2006/relationships/image" Target="../media/image92.png"/><Relationship Id="rId19" Type="http://schemas.openxmlformats.org/officeDocument/2006/relationships/image" Target="../media/image68.png"/><Relationship Id="rId4" Type="http://schemas.openxmlformats.org/officeDocument/2006/relationships/image" Target="../media/image91.svg"/><Relationship Id="rId9" Type="http://schemas.openxmlformats.org/officeDocument/2006/relationships/image" Target="../media/image85.png"/><Relationship Id="rId14" Type="http://schemas.openxmlformats.org/officeDocument/2006/relationships/slide" Target="slide41.xml"/></Relationships>
</file>

<file path=ppt/slides/_rels/slide41.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69.png"/><Relationship Id="rId18" Type="http://schemas.openxmlformats.org/officeDocument/2006/relationships/slide" Target="slide40.xml"/><Relationship Id="rId3" Type="http://schemas.openxmlformats.org/officeDocument/2006/relationships/image" Target="../media/image86.png"/><Relationship Id="rId7" Type="http://schemas.openxmlformats.org/officeDocument/2006/relationships/image" Target="../media/image85.png"/><Relationship Id="rId12" Type="http://schemas.openxmlformats.org/officeDocument/2006/relationships/slide" Target="slide36.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38.xml"/><Relationship Id="rId1" Type="http://schemas.openxmlformats.org/officeDocument/2006/relationships/slideLayout" Target="../slideLayouts/slideLayout1.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67.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slide" Target="slide37.xml"/></Relationships>
</file>

<file path=ppt/slides/_rels/slide42.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69.png"/><Relationship Id="rId18" Type="http://schemas.openxmlformats.org/officeDocument/2006/relationships/slide" Target="slide40.xml"/><Relationship Id="rId3" Type="http://schemas.openxmlformats.org/officeDocument/2006/relationships/image" Target="../media/image86.png"/><Relationship Id="rId7" Type="http://schemas.openxmlformats.org/officeDocument/2006/relationships/image" Target="../media/image85.png"/><Relationship Id="rId12" Type="http://schemas.openxmlformats.org/officeDocument/2006/relationships/slide" Target="slide36.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38.xml"/><Relationship Id="rId1" Type="http://schemas.openxmlformats.org/officeDocument/2006/relationships/slideLayout" Target="../slideLayouts/slideLayout1.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67.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slide" Target="slide37.xml"/></Relationships>
</file>

<file path=ppt/slides/_rels/slide43.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69.png"/><Relationship Id="rId18" Type="http://schemas.openxmlformats.org/officeDocument/2006/relationships/slide" Target="slide40.xml"/><Relationship Id="rId3" Type="http://schemas.openxmlformats.org/officeDocument/2006/relationships/image" Target="../media/image86.png"/><Relationship Id="rId7" Type="http://schemas.openxmlformats.org/officeDocument/2006/relationships/image" Target="../media/image85.png"/><Relationship Id="rId12" Type="http://schemas.openxmlformats.org/officeDocument/2006/relationships/slide" Target="slide36.xml"/><Relationship Id="rId17" Type="http://schemas.openxmlformats.org/officeDocument/2006/relationships/image" Target="../media/image68.png"/><Relationship Id="rId2" Type="http://schemas.openxmlformats.org/officeDocument/2006/relationships/image" Target="../media/image57.png"/><Relationship Id="rId16" Type="http://schemas.openxmlformats.org/officeDocument/2006/relationships/slide" Target="slide38.xml"/><Relationship Id="rId1" Type="http://schemas.openxmlformats.org/officeDocument/2006/relationships/slideLayout" Target="../slideLayouts/slideLayout1.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67.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slide" Target="slide37.xml"/></Relationships>
</file>

<file path=ppt/slides/_rels/slide44.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69.png"/><Relationship Id="rId7" Type="http://schemas.openxmlformats.org/officeDocument/2006/relationships/image" Target="../media/image96.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slide" Target="slide42.xml"/></Relationships>
</file>

<file path=ppt/slides/_rels/slide4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16.png"/><Relationship Id="rId3" Type="http://schemas.openxmlformats.org/officeDocument/2006/relationships/image" Target="../media/image98.png"/><Relationship Id="rId7" Type="http://schemas.openxmlformats.org/officeDocument/2006/relationships/slide" Target="slide47.xml"/><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7.png"/><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97.svg"/><Relationship Id="rId5" Type="http://schemas.openxmlformats.org/officeDocument/2006/relationships/slide" Target="slide46.xml"/><Relationship Id="rId15" Type="http://schemas.openxmlformats.org/officeDocument/2006/relationships/image" Target="../media/image18.png"/><Relationship Id="rId10" Type="http://schemas.openxmlformats.org/officeDocument/2006/relationships/image" Target="../media/image96.png"/><Relationship Id="rId4" Type="http://schemas.openxmlformats.org/officeDocument/2006/relationships/image" Target="../media/image99.png"/><Relationship Id="rId9" Type="http://schemas.openxmlformats.org/officeDocument/2006/relationships/image" Target="../media/image100.png"/><Relationship Id="rId14" Type="http://schemas.openxmlformats.org/officeDocument/2006/relationships/image" Target="../media/image17.png"/></Relationships>
</file>

<file path=ppt/slides/_rels/slide46.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16.png"/><Relationship Id="rId3" Type="http://schemas.openxmlformats.org/officeDocument/2006/relationships/image" Target="../media/image98.png"/><Relationship Id="rId7" Type="http://schemas.openxmlformats.org/officeDocument/2006/relationships/slide" Target="slide43.xml"/><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7.png"/><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slide" Target="slide45.xml"/><Relationship Id="rId5" Type="http://schemas.openxmlformats.org/officeDocument/2006/relationships/slide" Target="slide41.xml"/><Relationship Id="rId15" Type="http://schemas.openxmlformats.org/officeDocument/2006/relationships/image" Target="../media/image18.png"/><Relationship Id="rId10" Type="http://schemas.openxmlformats.org/officeDocument/2006/relationships/slide" Target="slide36.xml"/><Relationship Id="rId4" Type="http://schemas.openxmlformats.org/officeDocument/2006/relationships/image" Target="../media/image99.png"/><Relationship Id="rId9" Type="http://schemas.openxmlformats.org/officeDocument/2006/relationships/image" Target="../media/image100.png"/><Relationship Id="rId14" Type="http://schemas.openxmlformats.org/officeDocument/2006/relationships/image" Target="../media/image17.png"/></Relationships>
</file>

<file path=ppt/slides/_rels/slide47.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17.png"/><Relationship Id="rId3" Type="http://schemas.openxmlformats.org/officeDocument/2006/relationships/image" Target="../media/image98.png"/><Relationship Id="rId7" Type="http://schemas.openxmlformats.org/officeDocument/2006/relationships/slide" Target="slide43.xml"/><Relationship Id="rId12" Type="http://schemas.openxmlformats.org/officeDocument/2006/relationships/image" Target="../media/image16.png"/><Relationship Id="rId2" Type="http://schemas.openxmlformats.org/officeDocument/2006/relationships/image" Target="../media/image57.png"/><Relationship Id="rId16"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15.png"/><Relationship Id="rId5" Type="http://schemas.openxmlformats.org/officeDocument/2006/relationships/slide" Target="slide41.xml"/><Relationship Id="rId15" Type="http://schemas.openxmlformats.org/officeDocument/2006/relationships/image" Target="../media/image19.png"/><Relationship Id="rId10" Type="http://schemas.openxmlformats.org/officeDocument/2006/relationships/slide" Target="slide45.xml"/><Relationship Id="rId4" Type="http://schemas.openxmlformats.org/officeDocument/2006/relationships/image" Target="../media/image99.png"/><Relationship Id="rId9" Type="http://schemas.openxmlformats.org/officeDocument/2006/relationships/image" Target="../media/image100.png"/><Relationship Id="rId14" Type="http://schemas.openxmlformats.org/officeDocument/2006/relationships/image" Target="../media/image18.png"/></Relationships>
</file>

<file path=ppt/slides/_rels/slide4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02.png"/><Relationship Id="rId7" Type="http://schemas.openxmlformats.org/officeDocument/2006/relationships/image" Target="../media/image18.png"/><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6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6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6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13.png"/></Relationships>
</file>

<file path=ppt/slides/_rels/slide6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5.png"/><Relationship Id="rId7" Type="http://schemas.openxmlformats.org/officeDocument/2006/relationships/image" Target="../media/image16.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17.png"/><Relationship Id="rId10" Type="http://schemas.openxmlformats.org/officeDocument/2006/relationships/image" Target="../media/image19.png"/><Relationship Id="rId4" Type="http://schemas.openxmlformats.org/officeDocument/2006/relationships/image" Target="../media/image116.png"/><Relationship Id="rId9" Type="http://schemas.openxmlformats.org/officeDocument/2006/relationships/image" Target="../media/image18.png"/></Relationships>
</file>

<file path=ppt/slides/_rels/slide6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119.png"/></Relationships>
</file>

<file path=ppt/slides/_rels/slide6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120.png"/></Relationships>
</file>

<file path=ppt/slides/_rels/slide6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8.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7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21.jp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2.xml.rels><?xml version="1.0" encoding="UTF-8" standalone="yes"?>
<Relationships xmlns="http://schemas.openxmlformats.org/package/2006/relationships"><Relationship Id="rId2" Type="http://schemas.openxmlformats.org/officeDocument/2006/relationships/image" Target="../media/image121.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21.jp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g"/><Relationship Id="rId1" Type="http://schemas.openxmlformats.org/officeDocument/2006/relationships/slideLayout" Target="../slideLayouts/slideLayout1.xml"/><Relationship Id="rId4" Type="http://schemas.openxmlformats.org/officeDocument/2006/relationships/image" Target="../media/image123.svg"/></Relationships>
</file>

<file path=ppt/slides/_rels/slide7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g"/><Relationship Id="rId1" Type="http://schemas.openxmlformats.org/officeDocument/2006/relationships/slideLayout" Target="../slideLayouts/slideLayout1.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svg"/></Relationships>
</file>

<file path=ppt/slides/_rels/slide76.xml.rels><?xml version="1.0" encoding="UTF-8" standalone="yes"?>
<Relationships xmlns="http://schemas.openxmlformats.org/package/2006/relationships"><Relationship Id="rId3" Type="http://schemas.openxmlformats.org/officeDocument/2006/relationships/image" Target="../media/image122.png"/><Relationship Id="rId7" Type="http://schemas.openxmlformats.org/officeDocument/2006/relationships/image" Target="../media/image128.svg"/><Relationship Id="rId2" Type="http://schemas.openxmlformats.org/officeDocument/2006/relationships/image" Target="../media/image121.jpg"/><Relationship Id="rId1" Type="http://schemas.openxmlformats.org/officeDocument/2006/relationships/slideLayout" Target="../slideLayouts/slideLayout1.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3.svg"/></Relationships>
</file>

<file path=ppt/slides/_rels/slide77.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2.png"/><Relationship Id="rId7" Type="http://schemas.openxmlformats.org/officeDocument/2006/relationships/image" Target="../media/image129.png"/><Relationship Id="rId2" Type="http://schemas.openxmlformats.org/officeDocument/2006/relationships/image" Target="../media/image121.jpg"/><Relationship Id="rId1" Type="http://schemas.openxmlformats.org/officeDocument/2006/relationships/slideLayout" Target="../slideLayouts/slideLayout1.xml"/><Relationship Id="rId6" Type="http://schemas.openxmlformats.org/officeDocument/2006/relationships/image" Target="../media/image124.png"/><Relationship Id="rId5" Type="http://schemas.openxmlformats.org/officeDocument/2006/relationships/image" Target="../media/image125.png"/><Relationship Id="rId4" Type="http://schemas.openxmlformats.org/officeDocument/2006/relationships/image" Target="../media/image123.svg"/></Relationships>
</file>

<file path=ppt/slides/_rels/slide7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21.jp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59000" b="-59000"/>
          </a:stretch>
        </a:blipFill>
        <a:effectLst/>
      </p:bgPr>
    </p:bg>
    <p:spTree>
      <p:nvGrpSpPr>
        <p:cNvPr id="1" name="">
          <a:extLst>
            <a:ext uri="{FF2B5EF4-FFF2-40B4-BE49-F238E27FC236}">
              <a16:creationId xmlns:a16="http://schemas.microsoft.com/office/drawing/2014/main" id="{0C24A4A6-AC0E-75C7-5331-A5E283CE39D1}"/>
            </a:ext>
          </a:extLst>
        </p:cNvPr>
        <p:cNvGrpSpPr/>
        <p:nvPr/>
      </p:nvGrpSpPr>
      <p:grpSpPr>
        <a:xfrm>
          <a:off x="0" y="0"/>
          <a:ext cx="0" cy="0"/>
          <a:chOff x="0" y="0"/>
          <a:chExt cx="0" cy="0"/>
        </a:xfrm>
      </p:grpSpPr>
      <p:pic>
        <p:nvPicPr>
          <p:cNvPr id="9" name="!!BackGround">
            <a:extLst>
              <a:ext uri="{FF2B5EF4-FFF2-40B4-BE49-F238E27FC236}">
                <a16:creationId xmlns:a16="http://schemas.microsoft.com/office/drawing/2014/main" id="{0B70A5C2-4456-7A6D-DEEA-01D6437FC5A2}"/>
              </a:ext>
            </a:extLst>
          </p:cNvPr>
          <p:cNvPicPr>
            <a:picLocks noChangeAspect="1"/>
          </p:cNvPicPr>
          <p:nvPr/>
        </p:nvPicPr>
        <p:blipFill>
          <a:blip r:embed="rId3">
            <a:alphaModFix amt="40000"/>
          </a:blip>
          <a:srcRect t="1532"/>
          <a:stretch>
            <a:fillRect/>
          </a:stretch>
        </p:blipFill>
        <p:spPr>
          <a:xfrm>
            <a:off x="-1828800" y="-515722"/>
            <a:ext cx="14020800" cy="7907732"/>
          </a:xfrm>
          <a:prstGeom prst="rect">
            <a:avLst/>
          </a:prstGeom>
        </p:spPr>
      </p:pic>
      <p:pic>
        <p:nvPicPr>
          <p:cNvPr id="24" name="Picture 23">
            <a:extLst>
              <a:ext uri="{FF2B5EF4-FFF2-40B4-BE49-F238E27FC236}">
                <a16:creationId xmlns:a16="http://schemas.microsoft.com/office/drawing/2014/main" id="{F6DD02E6-2D59-CAD3-9CD1-B305B9F0B2C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8849" y="-168705"/>
            <a:ext cx="3532671" cy="1996563"/>
          </a:xfrm>
          <a:prstGeom prst="rect">
            <a:avLst/>
          </a:prstGeom>
          <a:noFill/>
          <a:ln>
            <a:noFill/>
          </a:ln>
        </p:spPr>
      </p:pic>
      <p:pic>
        <p:nvPicPr>
          <p:cNvPr id="25" name="Picture 24" descr="A logo of a globe with a graduation cap&#10;&#10;AI-generated content may be incorrect.">
            <a:extLst>
              <a:ext uri="{FF2B5EF4-FFF2-40B4-BE49-F238E27FC236}">
                <a16:creationId xmlns:a16="http://schemas.microsoft.com/office/drawing/2014/main" id="{038C9E8C-8656-A465-6D09-D02FCF1793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600" y="115770"/>
            <a:ext cx="1796026" cy="1651185"/>
          </a:xfrm>
          <a:prstGeom prst="rect">
            <a:avLst/>
          </a:prstGeom>
        </p:spPr>
      </p:pic>
      <p:sp>
        <p:nvSpPr>
          <p:cNvPr id="27" name="TextBox 26">
            <a:extLst>
              <a:ext uri="{FF2B5EF4-FFF2-40B4-BE49-F238E27FC236}">
                <a16:creationId xmlns:a16="http://schemas.microsoft.com/office/drawing/2014/main" id="{263F0DB9-A4B7-708D-38BD-972E13747878}"/>
              </a:ext>
            </a:extLst>
          </p:cNvPr>
          <p:cNvSpPr txBox="1"/>
          <p:nvPr/>
        </p:nvSpPr>
        <p:spPr>
          <a:xfrm>
            <a:off x="3613149" y="484164"/>
            <a:ext cx="4965700" cy="584775"/>
          </a:xfrm>
          <a:prstGeom prst="rect">
            <a:avLst/>
          </a:prstGeom>
          <a:noFill/>
        </p:spPr>
        <p:txBody>
          <a:bodyPr wrap="square" rtlCol="0">
            <a:spAutoFit/>
          </a:bodyPr>
          <a:lstStyle/>
          <a:p>
            <a:pPr algn="ctr"/>
            <a:r>
              <a:rPr lang="en-US" sz="3200" b="1" dirty="0"/>
              <a:t>Manufacturing Downtime</a:t>
            </a:r>
            <a:endParaRPr lang="en-US" sz="3200" dirty="0"/>
          </a:p>
        </p:txBody>
      </p:sp>
      <p:sp>
        <p:nvSpPr>
          <p:cNvPr id="28" name="TextBox 27">
            <a:extLst>
              <a:ext uri="{FF2B5EF4-FFF2-40B4-BE49-F238E27FC236}">
                <a16:creationId xmlns:a16="http://schemas.microsoft.com/office/drawing/2014/main" id="{8352FA1F-DA28-FEE3-216A-C982271CA70C}"/>
              </a:ext>
            </a:extLst>
          </p:cNvPr>
          <p:cNvSpPr txBox="1"/>
          <p:nvPr/>
        </p:nvSpPr>
        <p:spPr>
          <a:xfrm>
            <a:off x="3613149" y="1127215"/>
            <a:ext cx="4965700" cy="707886"/>
          </a:xfrm>
          <a:prstGeom prst="rect">
            <a:avLst/>
          </a:prstGeom>
          <a:noFill/>
        </p:spPr>
        <p:txBody>
          <a:bodyPr wrap="square" rtlCol="0">
            <a:spAutoFit/>
          </a:bodyPr>
          <a:lstStyle/>
          <a:p>
            <a:pPr algn="ctr"/>
            <a:r>
              <a:rPr lang="en-US" sz="2000" b="1" dirty="0"/>
              <a:t>Graduation project of DEPI</a:t>
            </a:r>
            <a:endParaRPr lang="en-US" sz="2000" dirty="0"/>
          </a:p>
          <a:p>
            <a:pPr algn="ctr"/>
            <a:r>
              <a:rPr lang="en-US" sz="2000" b="1" dirty="0"/>
              <a:t>(Digital Egypt Pioneers Initiative)</a:t>
            </a:r>
            <a:endParaRPr lang="en-US" sz="2000" dirty="0"/>
          </a:p>
        </p:txBody>
      </p:sp>
      <p:sp>
        <p:nvSpPr>
          <p:cNvPr id="29" name="TextBox 28">
            <a:extLst>
              <a:ext uri="{FF2B5EF4-FFF2-40B4-BE49-F238E27FC236}">
                <a16:creationId xmlns:a16="http://schemas.microsoft.com/office/drawing/2014/main" id="{071C0FDF-A9E2-E797-4174-8165CEB7058D}"/>
              </a:ext>
            </a:extLst>
          </p:cNvPr>
          <p:cNvSpPr txBox="1"/>
          <p:nvPr/>
        </p:nvSpPr>
        <p:spPr>
          <a:xfrm>
            <a:off x="3613149" y="1879745"/>
            <a:ext cx="4965700" cy="369332"/>
          </a:xfrm>
          <a:prstGeom prst="rect">
            <a:avLst/>
          </a:prstGeom>
          <a:noFill/>
        </p:spPr>
        <p:txBody>
          <a:bodyPr wrap="square" rtlCol="0">
            <a:spAutoFit/>
          </a:bodyPr>
          <a:lstStyle/>
          <a:p>
            <a:pPr algn="ctr"/>
            <a:r>
              <a:rPr lang="en-US" b="1" dirty="0"/>
              <a:t>Data Analytics - Data Analyst Specialist</a:t>
            </a:r>
            <a:endParaRPr lang="en-US" dirty="0"/>
          </a:p>
        </p:txBody>
      </p:sp>
      <p:sp>
        <p:nvSpPr>
          <p:cNvPr id="30" name="TextBox 29">
            <a:extLst>
              <a:ext uri="{FF2B5EF4-FFF2-40B4-BE49-F238E27FC236}">
                <a16:creationId xmlns:a16="http://schemas.microsoft.com/office/drawing/2014/main" id="{C8D46E96-5484-0475-34C5-1D0A3B8D7A8A}"/>
              </a:ext>
            </a:extLst>
          </p:cNvPr>
          <p:cNvSpPr txBox="1"/>
          <p:nvPr/>
        </p:nvSpPr>
        <p:spPr>
          <a:xfrm>
            <a:off x="2323064" y="2770864"/>
            <a:ext cx="7545871" cy="584775"/>
          </a:xfrm>
          <a:prstGeom prst="rect">
            <a:avLst/>
          </a:prstGeom>
          <a:noFill/>
        </p:spPr>
        <p:txBody>
          <a:bodyPr wrap="square" rtlCol="0">
            <a:spAutoFit/>
          </a:bodyPr>
          <a:lstStyle/>
          <a:p>
            <a:pPr algn="ctr"/>
            <a:r>
              <a:rPr lang="en-US" sz="3200" b="1" dirty="0"/>
              <a:t>Ahmed Taher Abdelhamed Youssef</a:t>
            </a:r>
            <a:endParaRPr lang="en-US" sz="3200" dirty="0"/>
          </a:p>
        </p:txBody>
      </p:sp>
      <p:sp>
        <p:nvSpPr>
          <p:cNvPr id="31" name="TextBox 30">
            <a:extLst>
              <a:ext uri="{FF2B5EF4-FFF2-40B4-BE49-F238E27FC236}">
                <a16:creationId xmlns:a16="http://schemas.microsoft.com/office/drawing/2014/main" id="{01F9E0E0-26D8-7C89-D0A0-37427B639877}"/>
              </a:ext>
            </a:extLst>
          </p:cNvPr>
          <p:cNvSpPr txBox="1"/>
          <p:nvPr/>
        </p:nvSpPr>
        <p:spPr>
          <a:xfrm>
            <a:off x="3613149" y="2284981"/>
            <a:ext cx="4965700" cy="369332"/>
          </a:xfrm>
          <a:prstGeom prst="rect">
            <a:avLst/>
          </a:prstGeom>
          <a:noFill/>
        </p:spPr>
        <p:txBody>
          <a:bodyPr wrap="square" rtlCol="0">
            <a:spAutoFit/>
          </a:bodyPr>
          <a:lstStyle/>
          <a:p>
            <a:pPr algn="ctr"/>
            <a:r>
              <a:rPr lang="en-US" b="1" dirty="0"/>
              <a:t>Presented by</a:t>
            </a:r>
            <a:endParaRPr lang="en-US" dirty="0"/>
          </a:p>
        </p:txBody>
      </p:sp>
      <p:sp>
        <p:nvSpPr>
          <p:cNvPr id="32" name="TextBox 31">
            <a:extLst>
              <a:ext uri="{FF2B5EF4-FFF2-40B4-BE49-F238E27FC236}">
                <a16:creationId xmlns:a16="http://schemas.microsoft.com/office/drawing/2014/main" id="{A737158C-5C51-3149-29CE-A37A7ED33669}"/>
              </a:ext>
            </a:extLst>
          </p:cNvPr>
          <p:cNvSpPr txBox="1"/>
          <p:nvPr/>
        </p:nvSpPr>
        <p:spPr>
          <a:xfrm>
            <a:off x="1853681" y="3472130"/>
            <a:ext cx="8484636" cy="584775"/>
          </a:xfrm>
          <a:prstGeom prst="rect">
            <a:avLst/>
          </a:prstGeom>
          <a:noFill/>
        </p:spPr>
        <p:txBody>
          <a:bodyPr wrap="square" rtlCol="0">
            <a:spAutoFit/>
          </a:bodyPr>
          <a:lstStyle/>
          <a:p>
            <a:pPr algn="ctr"/>
            <a:r>
              <a:rPr lang="en-US" sz="3200" b="1" dirty="0"/>
              <a:t>Abdelrhman Mohammed </a:t>
            </a:r>
            <a:r>
              <a:rPr lang="en-US" sz="3200" b="1" dirty="0" err="1"/>
              <a:t>Mohammed</a:t>
            </a:r>
            <a:r>
              <a:rPr lang="en-US" sz="3200" b="1" dirty="0"/>
              <a:t> Fekry</a:t>
            </a:r>
            <a:endParaRPr lang="en-US" sz="3200" dirty="0"/>
          </a:p>
        </p:txBody>
      </p:sp>
      <p:sp>
        <p:nvSpPr>
          <p:cNvPr id="33" name="TextBox 32">
            <a:extLst>
              <a:ext uri="{FF2B5EF4-FFF2-40B4-BE49-F238E27FC236}">
                <a16:creationId xmlns:a16="http://schemas.microsoft.com/office/drawing/2014/main" id="{AFF95E1E-8960-026A-422B-4BCEE64A32E1}"/>
              </a:ext>
            </a:extLst>
          </p:cNvPr>
          <p:cNvSpPr txBox="1"/>
          <p:nvPr/>
        </p:nvSpPr>
        <p:spPr>
          <a:xfrm>
            <a:off x="2323064" y="4173396"/>
            <a:ext cx="7545871" cy="584775"/>
          </a:xfrm>
          <a:prstGeom prst="rect">
            <a:avLst/>
          </a:prstGeom>
          <a:noFill/>
        </p:spPr>
        <p:txBody>
          <a:bodyPr wrap="square" rtlCol="0">
            <a:spAutoFit/>
          </a:bodyPr>
          <a:lstStyle/>
          <a:p>
            <a:pPr algn="ctr"/>
            <a:r>
              <a:rPr lang="en-US" sz="3200" b="1" dirty="0"/>
              <a:t>Michael Emil Abdou Habib</a:t>
            </a:r>
            <a:endParaRPr lang="en-US" sz="3200" dirty="0"/>
          </a:p>
        </p:txBody>
      </p:sp>
      <p:sp>
        <p:nvSpPr>
          <p:cNvPr id="34" name="TextBox 33">
            <a:extLst>
              <a:ext uri="{FF2B5EF4-FFF2-40B4-BE49-F238E27FC236}">
                <a16:creationId xmlns:a16="http://schemas.microsoft.com/office/drawing/2014/main" id="{1BF7C698-BF7A-D03D-297C-81A73D27E97A}"/>
              </a:ext>
            </a:extLst>
          </p:cNvPr>
          <p:cNvSpPr txBox="1"/>
          <p:nvPr/>
        </p:nvSpPr>
        <p:spPr>
          <a:xfrm>
            <a:off x="2323064" y="4874661"/>
            <a:ext cx="7545871" cy="584775"/>
          </a:xfrm>
          <a:prstGeom prst="rect">
            <a:avLst/>
          </a:prstGeom>
          <a:noFill/>
        </p:spPr>
        <p:txBody>
          <a:bodyPr wrap="square" rtlCol="0">
            <a:spAutoFit/>
          </a:bodyPr>
          <a:lstStyle/>
          <a:p>
            <a:pPr algn="ctr"/>
            <a:r>
              <a:rPr lang="en-US" sz="3200" b="1" dirty="0"/>
              <a:t>Aya Ramadan Mahmoud Rashed</a:t>
            </a:r>
            <a:endParaRPr lang="en-US" sz="3200" dirty="0"/>
          </a:p>
        </p:txBody>
      </p:sp>
      <p:sp>
        <p:nvSpPr>
          <p:cNvPr id="35" name="TextBox 34">
            <a:extLst>
              <a:ext uri="{FF2B5EF4-FFF2-40B4-BE49-F238E27FC236}">
                <a16:creationId xmlns:a16="http://schemas.microsoft.com/office/drawing/2014/main" id="{378EF4B2-A59A-5008-39DD-BB2DDD45B091}"/>
              </a:ext>
            </a:extLst>
          </p:cNvPr>
          <p:cNvSpPr txBox="1"/>
          <p:nvPr/>
        </p:nvSpPr>
        <p:spPr>
          <a:xfrm>
            <a:off x="3613149" y="5546119"/>
            <a:ext cx="4965700" cy="369332"/>
          </a:xfrm>
          <a:prstGeom prst="rect">
            <a:avLst/>
          </a:prstGeom>
          <a:noFill/>
        </p:spPr>
        <p:txBody>
          <a:bodyPr wrap="square" rtlCol="0">
            <a:spAutoFit/>
          </a:bodyPr>
          <a:lstStyle/>
          <a:p>
            <a:pPr algn="ctr"/>
            <a:r>
              <a:rPr lang="en-US" b="1" dirty="0"/>
              <a:t>Supervised by</a:t>
            </a:r>
            <a:endParaRPr lang="en-US" dirty="0"/>
          </a:p>
        </p:txBody>
      </p:sp>
      <p:sp>
        <p:nvSpPr>
          <p:cNvPr id="36" name="TextBox 35">
            <a:extLst>
              <a:ext uri="{FF2B5EF4-FFF2-40B4-BE49-F238E27FC236}">
                <a16:creationId xmlns:a16="http://schemas.microsoft.com/office/drawing/2014/main" id="{FC5D5025-661D-52E6-72B3-48D813D91E33}"/>
              </a:ext>
            </a:extLst>
          </p:cNvPr>
          <p:cNvSpPr txBox="1"/>
          <p:nvPr/>
        </p:nvSpPr>
        <p:spPr>
          <a:xfrm>
            <a:off x="2323064" y="6023843"/>
            <a:ext cx="7545871" cy="584775"/>
          </a:xfrm>
          <a:prstGeom prst="rect">
            <a:avLst/>
          </a:prstGeom>
          <a:noFill/>
        </p:spPr>
        <p:txBody>
          <a:bodyPr wrap="square" rtlCol="0">
            <a:spAutoFit/>
          </a:bodyPr>
          <a:lstStyle/>
          <a:p>
            <a:pPr algn="ctr"/>
            <a:r>
              <a:rPr lang="en-US" sz="3200" b="1" dirty="0"/>
              <a:t>Eng. Ahmed Samir Ahmed</a:t>
            </a:r>
            <a:endParaRPr lang="en-US" sz="3200" dirty="0"/>
          </a:p>
        </p:txBody>
      </p:sp>
      <p:sp>
        <p:nvSpPr>
          <p:cNvPr id="2" name="Rectangle 1">
            <a:extLst>
              <a:ext uri="{FF2B5EF4-FFF2-40B4-BE49-F238E27FC236}">
                <a16:creationId xmlns:a16="http://schemas.microsoft.com/office/drawing/2014/main" id="{669033E8-08B7-5BDB-10E0-226241B28E63}"/>
              </a:ext>
            </a:extLst>
          </p:cNvPr>
          <p:cNvSpPr/>
          <p:nvPr/>
        </p:nvSpPr>
        <p:spPr>
          <a:xfrm>
            <a:off x="0" y="0"/>
            <a:ext cx="12192000" cy="6858000"/>
          </a:xfrm>
          <a:prstGeom prst="rect">
            <a:avLst/>
          </a:prstGeom>
          <a:blipFill>
            <a:blip r:embed="rId6"/>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background with text&#10;&#10;AI-generated content may be incorrect.">
            <a:extLst>
              <a:ext uri="{FF2B5EF4-FFF2-40B4-BE49-F238E27FC236}">
                <a16:creationId xmlns:a16="http://schemas.microsoft.com/office/drawing/2014/main" id="{34E46672-1985-6968-EB25-0AE0FD52FDF5}"/>
              </a:ext>
            </a:extLst>
          </p:cNvPr>
          <p:cNvPicPr>
            <a:picLocks noChangeAspect="1"/>
          </p:cNvPicPr>
          <p:nvPr/>
        </p:nvPicPr>
        <p:blipFill>
          <a:blip r:embed="rId7">
            <a:extLst>
              <a:ext uri="{28A0092B-C50C-407E-A947-70E740481C1C}">
                <a14:useLocalDpi xmlns:a14="http://schemas.microsoft.com/office/drawing/2010/main" val="0"/>
              </a:ext>
            </a:extLst>
          </a:blip>
          <a:srcRect l="38108" t="39145" r="38437" b="40410"/>
          <a:stretch>
            <a:fillRect/>
          </a:stretch>
        </p:blipFill>
        <p:spPr>
          <a:xfrm>
            <a:off x="2960203" y="1857959"/>
            <a:ext cx="6231422" cy="3055400"/>
          </a:xfrm>
          <a:prstGeom prst="rect">
            <a:avLst/>
          </a:prstGeom>
        </p:spPr>
      </p:pic>
    </p:spTree>
    <p:extLst>
      <p:ext uri="{BB962C8B-B14F-4D97-AF65-F5344CB8AC3E}">
        <p14:creationId xmlns:p14="http://schemas.microsoft.com/office/powerpoint/2010/main" val="343399455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59000" b="-59000"/>
          </a:stretch>
        </a:blipFill>
        <a:effectLst/>
      </p:bgPr>
    </p:bg>
    <p:spTree>
      <p:nvGrpSpPr>
        <p:cNvPr id="1" name="">
          <a:extLst>
            <a:ext uri="{FF2B5EF4-FFF2-40B4-BE49-F238E27FC236}">
              <a16:creationId xmlns:a16="http://schemas.microsoft.com/office/drawing/2014/main" id="{DC1DF6A8-234D-42D7-401C-0675A35F112C}"/>
            </a:ext>
          </a:extLst>
        </p:cNvPr>
        <p:cNvGrpSpPr/>
        <p:nvPr/>
      </p:nvGrpSpPr>
      <p:grpSpPr>
        <a:xfrm>
          <a:off x="0" y="0"/>
          <a:ext cx="0" cy="0"/>
          <a:chOff x="0" y="0"/>
          <a:chExt cx="0" cy="0"/>
        </a:xfrm>
      </p:grpSpPr>
      <p:pic>
        <p:nvPicPr>
          <p:cNvPr id="17" name="!!BackGround">
            <a:extLst>
              <a:ext uri="{FF2B5EF4-FFF2-40B4-BE49-F238E27FC236}">
                <a16:creationId xmlns:a16="http://schemas.microsoft.com/office/drawing/2014/main" id="{298F9415-5F00-3C51-9EA8-2E41EFF53A2A}"/>
              </a:ext>
            </a:extLst>
          </p:cNvPr>
          <p:cNvPicPr>
            <a:picLocks noChangeAspect="1"/>
          </p:cNvPicPr>
          <p:nvPr/>
        </p:nvPicPr>
        <p:blipFill>
          <a:blip r:embed="rId3">
            <a:alphaModFix amt="40000"/>
          </a:blip>
          <a:srcRect t="1532"/>
          <a:stretch>
            <a:fillRect/>
          </a:stretch>
        </p:blipFill>
        <p:spPr>
          <a:xfrm>
            <a:off x="-1828800" y="-515722"/>
            <a:ext cx="14020800" cy="7907732"/>
          </a:xfrm>
          <a:prstGeom prst="rect">
            <a:avLst/>
          </a:prstGeom>
        </p:spPr>
      </p:pic>
      <p:pic>
        <p:nvPicPr>
          <p:cNvPr id="2" name="Picture 1">
            <a:extLst>
              <a:ext uri="{FF2B5EF4-FFF2-40B4-BE49-F238E27FC236}">
                <a16:creationId xmlns:a16="http://schemas.microsoft.com/office/drawing/2014/main" id="{C22C69C6-21D2-5FA9-3944-B3F9993F033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8849" y="-168705"/>
            <a:ext cx="3532671" cy="1996563"/>
          </a:xfrm>
          <a:prstGeom prst="rect">
            <a:avLst/>
          </a:prstGeom>
          <a:noFill/>
          <a:ln>
            <a:noFill/>
          </a:ln>
        </p:spPr>
      </p:pic>
      <p:pic>
        <p:nvPicPr>
          <p:cNvPr id="3" name="Picture 2" descr="A logo of a globe with a graduation cap&#10;&#10;AI-generated content may be incorrect.">
            <a:extLst>
              <a:ext uri="{FF2B5EF4-FFF2-40B4-BE49-F238E27FC236}">
                <a16:creationId xmlns:a16="http://schemas.microsoft.com/office/drawing/2014/main" id="{04E884BC-09AC-426C-22CC-A2A0CC4775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600" y="115770"/>
            <a:ext cx="1796026" cy="1651185"/>
          </a:xfrm>
          <a:prstGeom prst="rect">
            <a:avLst/>
          </a:prstGeom>
        </p:spPr>
      </p:pic>
      <p:sp>
        <p:nvSpPr>
          <p:cNvPr id="4" name="TextBox 3">
            <a:extLst>
              <a:ext uri="{FF2B5EF4-FFF2-40B4-BE49-F238E27FC236}">
                <a16:creationId xmlns:a16="http://schemas.microsoft.com/office/drawing/2014/main" id="{07A93674-809F-A017-0038-4278D9E51D12}"/>
              </a:ext>
            </a:extLst>
          </p:cNvPr>
          <p:cNvSpPr txBox="1"/>
          <p:nvPr/>
        </p:nvSpPr>
        <p:spPr>
          <a:xfrm>
            <a:off x="570250" y="2875002"/>
            <a:ext cx="11051501" cy="1107996"/>
          </a:xfrm>
          <a:prstGeom prst="rect">
            <a:avLst/>
          </a:prstGeom>
          <a:noFill/>
        </p:spPr>
        <p:txBody>
          <a:bodyPr wrap="square" rtlCol="0">
            <a:spAutoFit/>
          </a:bodyPr>
          <a:lstStyle/>
          <a:p>
            <a:pPr algn="ctr"/>
            <a:r>
              <a:rPr lang="en-US" sz="6600" b="1" dirty="0">
                <a:latin typeface="Avenir Next LT Pro" panose="020B0504020202020204" pitchFamily="34" charset="0"/>
              </a:rPr>
              <a:t>Manufacturing Downtime</a:t>
            </a:r>
            <a:endParaRPr lang="en-US" sz="6600" dirty="0">
              <a:latin typeface="Avenir Next LT Pro" panose="020B0504020202020204" pitchFamily="34" charset="0"/>
            </a:endParaRPr>
          </a:p>
        </p:txBody>
      </p:sp>
      <p:sp>
        <p:nvSpPr>
          <p:cNvPr id="5" name="TextBox 4">
            <a:extLst>
              <a:ext uri="{FF2B5EF4-FFF2-40B4-BE49-F238E27FC236}">
                <a16:creationId xmlns:a16="http://schemas.microsoft.com/office/drawing/2014/main" id="{FB502961-774F-CE0B-63CB-46E3455C5379}"/>
              </a:ext>
            </a:extLst>
          </p:cNvPr>
          <p:cNvSpPr txBox="1"/>
          <p:nvPr/>
        </p:nvSpPr>
        <p:spPr>
          <a:xfrm>
            <a:off x="3613149" y="4830376"/>
            <a:ext cx="4965700" cy="369332"/>
          </a:xfrm>
          <a:prstGeom prst="rect">
            <a:avLst/>
          </a:prstGeom>
          <a:noFill/>
        </p:spPr>
        <p:txBody>
          <a:bodyPr wrap="square" rtlCol="0">
            <a:spAutoFit/>
          </a:bodyPr>
          <a:lstStyle/>
          <a:p>
            <a:pPr algn="ctr"/>
            <a:r>
              <a:rPr lang="en-US" b="1" dirty="0"/>
              <a:t>CAI3-DAT1-G2</a:t>
            </a:r>
            <a:endParaRPr lang="en-US" dirty="0"/>
          </a:p>
        </p:txBody>
      </p:sp>
      <p:sp>
        <p:nvSpPr>
          <p:cNvPr id="6" name="TextBox 5">
            <a:extLst>
              <a:ext uri="{FF2B5EF4-FFF2-40B4-BE49-F238E27FC236}">
                <a16:creationId xmlns:a16="http://schemas.microsoft.com/office/drawing/2014/main" id="{A4CE459E-0F98-F8ED-DAB9-1E4DCF77C9CF}"/>
              </a:ext>
            </a:extLst>
          </p:cNvPr>
          <p:cNvSpPr txBox="1"/>
          <p:nvPr/>
        </p:nvSpPr>
        <p:spPr>
          <a:xfrm>
            <a:off x="3613149" y="4213174"/>
            <a:ext cx="4965700" cy="461665"/>
          </a:xfrm>
          <a:prstGeom prst="rect">
            <a:avLst/>
          </a:prstGeom>
          <a:noFill/>
        </p:spPr>
        <p:txBody>
          <a:bodyPr wrap="square" rtlCol="0">
            <a:spAutoFit/>
          </a:bodyPr>
          <a:lstStyle/>
          <a:p>
            <a:pPr algn="ctr"/>
            <a:r>
              <a:rPr lang="en-US" sz="2400" b="1" dirty="0"/>
              <a:t>Data Analyst Specialist</a:t>
            </a:r>
            <a:endParaRPr lang="en-US" sz="2400" dirty="0"/>
          </a:p>
        </p:txBody>
      </p:sp>
      <p:sp>
        <p:nvSpPr>
          <p:cNvPr id="15" name="TextBox 14">
            <a:extLst>
              <a:ext uri="{FF2B5EF4-FFF2-40B4-BE49-F238E27FC236}">
                <a16:creationId xmlns:a16="http://schemas.microsoft.com/office/drawing/2014/main" id="{20E4D242-296D-676F-4E6A-FD4CEDA401D6}"/>
              </a:ext>
            </a:extLst>
          </p:cNvPr>
          <p:cNvSpPr txBox="1"/>
          <p:nvPr/>
        </p:nvSpPr>
        <p:spPr>
          <a:xfrm>
            <a:off x="5438931" y="10487921"/>
            <a:ext cx="7545871" cy="461665"/>
          </a:xfrm>
          <a:prstGeom prst="rect">
            <a:avLst/>
          </a:prstGeom>
          <a:noFill/>
        </p:spPr>
        <p:txBody>
          <a:bodyPr wrap="square" rtlCol="0">
            <a:spAutoFit/>
          </a:bodyPr>
          <a:lstStyle/>
          <a:p>
            <a:pPr algn="ctr"/>
            <a:r>
              <a:rPr lang="en-US" sz="2400" b="1" dirty="0"/>
              <a:t>Eng. Ahmed Samir Ahmed</a:t>
            </a:r>
          </a:p>
        </p:txBody>
      </p:sp>
      <p:sp>
        <p:nvSpPr>
          <p:cNvPr id="18" name="TextBox 17">
            <a:extLst>
              <a:ext uri="{FF2B5EF4-FFF2-40B4-BE49-F238E27FC236}">
                <a16:creationId xmlns:a16="http://schemas.microsoft.com/office/drawing/2014/main" id="{BEB317E8-4921-1EAE-00AA-C6CEB066FC09}"/>
              </a:ext>
            </a:extLst>
          </p:cNvPr>
          <p:cNvSpPr txBox="1"/>
          <p:nvPr/>
        </p:nvSpPr>
        <p:spPr>
          <a:xfrm>
            <a:off x="12792488" y="2285303"/>
            <a:ext cx="1924697" cy="369332"/>
          </a:xfrm>
          <a:prstGeom prst="rect">
            <a:avLst/>
          </a:prstGeom>
          <a:noFill/>
        </p:spPr>
        <p:txBody>
          <a:bodyPr wrap="square" rtlCol="0">
            <a:spAutoFit/>
          </a:bodyPr>
          <a:lstStyle/>
          <a:p>
            <a:pPr algn="ctr"/>
            <a:r>
              <a:rPr lang="en-US" b="1" dirty="0"/>
              <a:t>Supervised by</a:t>
            </a:r>
            <a:endParaRPr lang="en-US" dirty="0"/>
          </a:p>
        </p:txBody>
      </p:sp>
      <p:sp>
        <p:nvSpPr>
          <p:cNvPr id="19" name="Oval 18">
            <a:extLst>
              <a:ext uri="{FF2B5EF4-FFF2-40B4-BE49-F238E27FC236}">
                <a16:creationId xmlns:a16="http://schemas.microsoft.com/office/drawing/2014/main" id="{7B6CAF6E-3279-708E-C355-4D043A8CD9B1}"/>
              </a:ext>
            </a:extLst>
          </p:cNvPr>
          <p:cNvSpPr/>
          <p:nvPr/>
        </p:nvSpPr>
        <p:spPr>
          <a:xfrm>
            <a:off x="2804761" y="8365625"/>
            <a:ext cx="1381955" cy="1381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E163EDB5-9946-CE82-D54E-97AE376DCE56}"/>
              </a:ext>
            </a:extLst>
          </p:cNvPr>
          <p:cNvSpPr/>
          <p:nvPr/>
        </p:nvSpPr>
        <p:spPr>
          <a:xfrm>
            <a:off x="2804761" y="8365625"/>
            <a:ext cx="1381955" cy="1381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C8A72F3-F891-2604-64EE-DE8930B66A77}"/>
              </a:ext>
            </a:extLst>
          </p:cNvPr>
          <p:cNvSpPr/>
          <p:nvPr/>
        </p:nvSpPr>
        <p:spPr>
          <a:xfrm>
            <a:off x="2804761" y="8365625"/>
            <a:ext cx="1381955" cy="1381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D367E6B-8614-5C32-F883-E350C5D6FFB7}"/>
              </a:ext>
            </a:extLst>
          </p:cNvPr>
          <p:cNvSpPr/>
          <p:nvPr/>
        </p:nvSpPr>
        <p:spPr>
          <a:xfrm>
            <a:off x="2804761" y="8365625"/>
            <a:ext cx="1381955" cy="1381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44C85FC8-A4F9-3916-8E8C-08616A2EEB56}"/>
              </a:ext>
            </a:extLst>
          </p:cNvPr>
          <p:cNvPicPr>
            <a:picLocks noChangeAspect="1"/>
          </p:cNvPicPr>
          <p:nvPr/>
        </p:nvPicPr>
        <p:blipFill>
          <a:blip r:embed="rId6">
            <a:alphaModFix/>
          </a:blip>
          <a:stretch>
            <a:fillRect/>
          </a:stretch>
        </p:blipFill>
        <p:spPr>
          <a:xfrm>
            <a:off x="2394075" y="7954939"/>
            <a:ext cx="2203326" cy="2203326"/>
          </a:xfrm>
          <a:prstGeom prst="rect">
            <a:avLst/>
          </a:prstGeom>
        </p:spPr>
      </p:pic>
      <p:sp>
        <p:nvSpPr>
          <p:cNvPr id="24" name="TextBox 23">
            <a:extLst>
              <a:ext uri="{FF2B5EF4-FFF2-40B4-BE49-F238E27FC236}">
                <a16:creationId xmlns:a16="http://schemas.microsoft.com/office/drawing/2014/main" id="{96F10001-544D-296A-2876-6C6A09FF9854}"/>
              </a:ext>
            </a:extLst>
          </p:cNvPr>
          <p:cNvSpPr txBox="1"/>
          <p:nvPr/>
        </p:nvSpPr>
        <p:spPr>
          <a:xfrm>
            <a:off x="-4593124" y="2285303"/>
            <a:ext cx="1924697" cy="369332"/>
          </a:xfrm>
          <a:prstGeom prst="rect">
            <a:avLst/>
          </a:prstGeom>
          <a:noFill/>
        </p:spPr>
        <p:txBody>
          <a:bodyPr wrap="square" rtlCol="0">
            <a:spAutoFit/>
          </a:bodyPr>
          <a:lstStyle/>
          <a:p>
            <a:pPr algn="ctr"/>
            <a:r>
              <a:rPr lang="en-US" b="1" dirty="0"/>
              <a:t>Presented by</a:t>
            </a:r>
            <a:endParaRPr lang="en-US" dirty="0"/>
          </a:p>
        </p:txBody>
      </p:sp>
      <p:sp>
        <p:nvSpPr>
          <p:cNvPr id="25" name="Oval 24">
            <a:extLst>
              <a:ext uri="{FF2B5EF4-FFF2-40B4-BE49-F238E27FC236}">
                <a16:creationId xmlns:a16="http://schemas.microsoft.com/office/drawing/2014/main" id="{0D0DB52C-B1E1-767E-BDF5-D681C1B02E70}"/>
              </a:ext>
            </a:extLst>
          </p:cNvPr>
          <p:cNvSpPr/>
          <p:nvPr/>
        </p:nvSpPr>
        <p:spPr>
          <a:xfrm>
            <a:off x="7954565" y="7739027"/>
            <a:ext cx="2514600" cy="2514600"/>
          </a:xfrm>
          <a:prstGeom prst="ellipse">
            <a:avLst/>
          </a:prstGeom>
          <a:blipFill dpi="0" rotWithShape="1">
            <a:blip r:embed="rId7"/>
            <a:srcRect/>
            <a:stretch>
              <a:fillRect/>
            </a:stretch>
          </a:blipFill>
          <a:scene3d>
            <a:camera prst="perspective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6A04C2E-626A-CBCC-8A36-4E54387046D3}"/>
              </a:ext>
            </a:extLst>
          </p:cNvPr>
          <p:cNvPicPr>
            <a:picLocks noChangeAspect="1"/>
          </p:cNvPicPr>
          <p:nvPr/>
        </p:nvPicPr>
        <p:blipFill>
          <a:blip r:embed="rId8"/>
          <a:stretch>
            <a:fillRect/>
          </a:stretch>
        </p:blipFill>
        <p:spPr>
          <a:xfrm>
            <a:off x="7942968" y="7739027"/>
            <a:ext cx="2517866" cy="2517866"/>
          </a:xfrm>
          <a:prstGeom prst="rect">
            <a:avLst/>
          </a:prstGeom>
          <a:scene3d>
            <a:camera prst="perspectiveFront"/>
            <a:lightRig rig="threePt" dir="t"/>
          </a:scene3d>
        </p:spPr>
      </p:pic>
    </p:spTree>
    <p:extLst>
      <p:ext uri="{BB962C8B-B14F-4D97-AF65-F5344CB8AC3E}">
        <p14:creationId xmlns:p14="http://schemas.microsoft.com/office/powerpoint/2010/main" val="26231040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59000" b="-59000"/>
          </a:stretch>
        </a:blipFill>
        <a:effectLst/>
      </p:bgPr>
    </p:bg>
    <p:spTree>
      <p:nvGrpSpPr>
        <p:cNvPr id="1" name="">
          <a:extLst>
            <a:ext uri="{FF2B5EF4-FFF2-40B4-BE49-F238E27FC236}">
              <a16:creationId xmlns:a16="http://schemas.microsoft.com/office/drawing/2014/main" id="{4D0BA618-95D6-D46C-0C70-BAEFD3FA3D74}"/>
            </a:ext>
          </a:extLst>
        </p:cNvPr>
        <p:cNvGrpSpPr/>
        <p:nvPr/>
      </p:nvGrpSpPr>
      <p:grpSpPr>
        <a:xfrm>
          <a:off x="0" y="0"/>
          <a:ext cx="0" cy="0"/>
          <a:chOff x="0" y="0"/>
          <a:chExt cx="0" cy="0"/>
        </a:xfrm>
      </p:grpSpPr>
      <p:pic>
        <p:nvPicPr>
          <p:cNvPr id="17" name="!!BackGround">
            <a:extLst>
              <a:ext uri="{FF2B5EF4-FFF2-40B4-BE49-F238E27FC236}">
                <a16:creationId xmlns:a16="http://schemas.microsoft.com/office/drawing/2014/main" id="{A50F2F17-8DBE-57AE-89C8-0A2EB5D78961}"/>
              </a:ext>
            </a:extLst>
          </p:cNvPr>
          <p:cNvPicPr>
            <a:picLocks noChangeAspect="1"/>
          </p:cNvPicPr>
          <p:nvPr/>
        </p:nvPicPr>
        <p:blipFill>
          <a:blip r:embed="rId3">
            <a:alphaModFix amt="40000"/>
          </a:blip>
          <a:srcRect t="1532"/>
          <a:stretch>
            <a:fillRect/>
          </a:stretch>
        </p:blipFill>
        <p:spPr>
          <a:xfrm>
            <a:off x="-1828800" y="-515722"/>
            <a:ext cx="14020800" cy="7907732"/>
          </a:xfrm>
          <a:prstGeom prst="rect">
            <a:avLst/>
          </a:prstGeom>
        </p:spPr>
      </p:pic>
      <p:pic>
        <p:nvPicPr>
          <p:cNvPr id="2" name="Picture 1">
            <a:extLst>
              <a:ext uri="{FF2B5EF4-FFF2-40B4-BE49-F238E27FC236}">
                <a16:creationId xmlns:a16="http://schemas.microsoft.com/office/drawing/2014/main" id="{CC72DE7D-E9FA-29C9-ADCD-616A06CEE37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8849" y="-168705"/>
            <a:ext cx="3532671" cy="1996563"/>
          </a:xfrm>
          <a:prstGeom prst="rect">
            <a:avLst/>
          </a:prstGeom>
          <a:noFill/>
          <a:ln>
            <a:noFill/>
          </a:ln>
        </p:spPr>
      </p:pic>
      <p:pic>
        <p:nvPicPr>
          <p:cNvPr id="3" name="Picture 2" descr="A logo of a globe with a graduation cap&#10;&#10;AI-generated content may be incorrect.">
            <a:extLst>
              <a:ext uri="{FF2B5EF4-FFF2-40B4-BE49-F238E27FC236}">
                <a16:creationId xmlns:a16="http://schemas.microsoft.com/office/drawing/2014/main" id="{CEF872CC-37F2-C632-5371-7D7E20AABF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600" y="115770"/>
            <a:ext cx="1796026" cy="1651185"/>
          </a:xfrm>
          <a:prstGeom prst="rect">
            <a:avLst/>
          </a:prstGeom>
        </p:spPr>
      </p:pic>
      <p:sp>
        <p:nvSpPr>
          <p:cNvPr id="4" name="TextBox 3">
            <a:extLst>
              <a:ext uri="{FF2B5EF4-FFF2-40B4-BE49-F238E27FC236}">
                <a16:creationId xmlns:a16="http://schemas.microsoft.com/office/drawing/2014/main" id="{A8099744-541A-B257-D250-38D211254A48}"/>
              </a:ext>
            </a:extLst>
          </p:cNvPr>
          <p:cNvSpPr txBox="1"/>
          <p:nvPr/>
        </p:nvSpPr>
        <p:spPr>
          <a:xfrm>
            <a:off x="3525600" y="484164"/>
            <a:ext cx="4965700" cy="584775"/>
          </a:xfrm>
          <a:prstGeom prst="rect">
            <a:avLst/>
          </a:prstGeom>
          <a:noFill/>
        </p:spPr>
        <p:txBody>
          <a:bodyPr wrap="square" rtlCol="0">
            <a:spAutoFit/>
          </a:bodyPr>
          <a:lstStyle/>
          <a:p>
            <a:pPr algn="ctr"/>
            <a:r>
              <a:rPr lang="en-US" sz="3200" b="1" dirty="0"/>
              <a:t>Manufacturing Downtime</a:t>
            </a:r>
          </a:p>
        </p:txBody>
      </p:sp>
      <p:sp>
        <p:nvSpPr>
          <p:cNvPr id="5" name="TextBox 4">
            <a:extLst>
              <a:ext uri="{FF2B5EF4-FFF2-40B4-BE49-F238E27FC236}">
                <a16:creationId xmlns:a16="http://schemas.microsoft.com/office/drawing/2014/main" id="{938A5BD3-E1B5-807B-54B9-C4BC0511EFD2}"/>
              </a:ext>
            </a:extLst>
          </p:cNvPr>
          <p:cNvSpPr txBox="1"/>
          <p:nvPr/>
        </p:nvSpPr>
        <p:spPr>
          <a:xfrm>
            <a:off x="3613149" y="1536140"/>
            <a:ext cx="4965700" cy="338554"/>
          </a:xfrm>
          <a:prstGeom prst="rect">
            <a:avLst/>
          </a:prstGeom>
          <a:noFill/>
        </p:spPr>
        <p:txBody>
          <a:bodyPr wrap="square" rtlCol="0">
            <a:spAutoFit/>
          </a:bodyPr>
          <a:lstStyle/>
          <a:p>
            <a:pPr algn="ctr"/>
            <a:r>
              <a:rPr lang="en-US" sz="1600" b="1" dirty="0"/>
              <a:t>CAI3-DAT1-G2</a:t>
            </a:r>
            <a:endParaRPr lang="en-US" sz="2000" dirty="0"/>
          </a:p>
        </p:txBody>
      </p:sp>
      <p:sp>
        <p:nvSpPr>
          <p:cNvPr id="6" name="TextBox 5">
            <a:extLst>
              <a:ext uri="{FF2B5EF4-FFF2-40B4-BE49-F238E27FC236}">
                <a16:creationId xmlns:a16="http://schemas.microsoft.com/office/drawing/2014/main" id="{84B1552D-53B7-4A51-9AE1-E3F56917468A}"/>
              </a:ext>
            </a:extLst>
          </p:cNvPr>
          <p:cNvSpPr txBox="1"/>
          <p:nvPr/>
        </p:nvSpPr>
        <p:spPr>
          <a:xfrm>
            <a:off x="3613149" y="1091303"/>
            <a:ext cx="4965700" cy="400110"/>
          </a:xfrm>
          <a:prstGeom prst="rect">
            <a:avLst/>
          </a:prstGeom>
          <a:noFill/>
        </p:spPr>
        <p:txBody>
          <a:bodyPr wrap="square" rtlCol="0">
            <a:spAutoFit/>
          </a:bodyPr>
          <a:lstStyle/>
          <a:p>
            <a:pPr algn="ctr"/>
            <a:r>
              <a:rPr lang="en-US" b="1" dirty="0"/>
              <a:t>Data Analyst </a:t>
            </a:r>
            <a:r>
              <a:rPr lang="en-US" sz="2000" b="1" dirty="0"/>
              <a:t>Specialist</a:t>
            </a:r>
            <a:endParaRPr lang="en-US" dirty="0"/>
          </a:p>
        </p:txBody>
      </p:sp>
      <p:sp>
        <p:nvSpPr>
          <p:cNvPr id="44" name="Oval 43">
            <a:extLst>
              <a:ext uri="{FF2B5EF4-FFF2-40B4-BE49-F238E27FC236}">
                <a16:creationId xmlns:a16="http://schemas.microsoft.com/office/drawing/2014/main" id="{5B9B8E15-214E-BA7A-0F43-1EA2794F367E}"/>
              </a:ext>
            </a:extLst>
          </p:cNvPr>
          <p:cNvSpPr/>
          <p:nvPr/>
        </p:nvSpPr>
        <p:spPr>
          <a:xfrm>
            <a:off x="7954565" y="3122255"/>
            <a:ext cx="2514600" cy="2514600"/>
          </a:xfrm>
          <a:prstGeom prst="ellipse">
            <a:avLst/>
          </a:prstGeom>
          <a:blipFill dpi="0" rotWithShape="1">
            <a:blip r:embed="rId6"/>
            <a:srcRect/>
            <a:stretch>
              <a:fillRect/>
            </a:stretch>
          </a:blipFill>
          <a:scene3d>
            <a:camera prst="perspective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2AD6F9EE-EC9C-595C-BA42-2B4A591A2095}"/>
              </a:ext>
            </a:extLst>
          </p:cNvPr>
          <p:cNvPicPr>
            <a:picLocks noChangeAspect="1"/>
          </p:cNvPicPr>
          <p:nvPr/>
        </p:nvPicPr>
        <p:blipFill>
          <a:blip r:embed="rId7"/>
          <a:stretch>
            <a:fillRect/>
          </a:stretch>
        </p:blipFill>
        <p:spPr>
          <a:xfrm>
            <a:off x="7942968" y="3122255"/>
            <a:ext cx="2517866" cy="2517866"/>
          </a:xfrm>
          <a:prstGeom prst="rect">
            <a:avLst/>
          </a:prstGeom>
          <a:scene3d>
            <a:camera prst="perspectiveFront"/>
            <a:lightRig rig="threePt" dir="t"/>
          </a:scene3d>
        </p:spPr>
      </p:pic>
      <p:sp>
        <p:nvSpPr>
          <p:cNvPr id="41" name="TextBox 40">
            <a:extLst>
              <a:ext uri="{FF2B5EF4-FFF2-40B4-BE49-F238E27FC236}">
                <a16:creationId xmlns:a16="http://schemas.microsoft.com/office/drawing/2014/main" id="{66153B11-1F95-5DC4-7DF2-31F4096460E0}"/>
              </a:ext>
            </a:extLst>
          </p:cNvPr>
          <p:cNvSpPr txBox="1"/>
          <p:nvPr/>
        </p:nvSpPr>
        <p:spPr>
          <a:xfrm>
            <a:off x="2533390" y="2285303"/>
            <a:ext cx="1924697" cy="369332"/>
          </a:xfrm>
          <a:prstGeom prst="rect">
            <a:avLst/>
          </a:prstGeom>
          <a:noFill/>
        </p:spPr>
        <p:txBody>
          <a:bodyPr wrap="square" rtlCol="0">
            <a:spAutoFit/>
          </a:bodyPr>
          <a:lstStyle/>
          <a:p>
            <a:pPr algn="ctr"/>
            <a:r>
              <a:rPr lang="en-US" b="1" dirty="0"/>
              <a:t>Presented by</a:t>
            </a:r>
            <a:endParaRPr lang="en-US" dirty="0"/>
          </a:p>
        </p:txBody>
      </p:sp>
      <p:sp>
        <p:nvSpPr>
          <p:cNvPr id="42" name="TextBox 41">
            <a:extLst>
              <a:ext uri="{FF2B5EF4-FFF2-40B4-BE49-F238E27FC236}">
                <a16:creationId xmlns:a16="http://schemas.microsoft.com/office/drawing/2014/main" id="{E96C6FA2-0554-0CD3-ADDC-A4F194E770D7}"/>
              </a:ext>
            </a:extLst>
          </p:cNvPr>
          <p:cNvSpPr txBox="1"/>
          <p:nvPr/>
        </p:nvSpPr>
        <p:spPr>
          <a:xfrm>
            <a:off x="8249517" y="2285303"/>
            <a:ext cx="1924697" cy="369332"/>
          </a:xfrm>
          <a:prstGeom prst="rect">
            <a:avLst/>
          </a:prstGeom>
          <a:noFill/>
        </p:spPr>
        <p:txBody>
          <a:bodyPr wrap="square" rtlCol="0">
            <a:spAutoFit/>
          </a:bodyPr>
          <a:lstStyle/>
          <a:p>
            <a:pPr algn="ctr"/>
            <a:r>
              <a:rPr lang="en-US" b="1" dirty="0"/>
              <a:t>Supervised by</a:t>
            </a:r>
            <a:endParaRPr lang="en-US" dirty="0"/>
          </a:p>
        </p:txBody>
      </p:sp>
      <p:sp>
        <p:nvSpPr>
          <p:cNvPr id="49" name="Oval 48">
            <a:extLst>
              <a:ext uri="{FF2B5EF4-FFF2-40B4-BE49-F238E27FC236}">
                <a16:creationId xmlns:a16="http://schemas.microsoft.com/office/drawing/2014/main" id="{33962A17-1328-E2ED-CA36-4F31CEDD6098}"/>
              </a:ext>
            </a:extLst>
          </p:cNvPr>
          <p:cNvSpPr/>
          <p:nvPr/>
        </p:nvSpPr>
        <p:spPr>
          <a:xfrm>
            <a:off x="2863120" y="3697198"/>
            <a:ext cx="1381955" cy="1381955"/>
          </a:xfrm>
          <a:prstGeom prst="ellipse">
            <a:avLst/>
          </a:prstGeom>
          <a:blipFill dpi="0" rotWithShape="1">
            <a:blip r:embed="rId8"/>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305FE9AF-B8DA-BE00-FADA-CBAB87AE7C3D}"/>
              </a:ext>
            </a:extLst>
          </p:cNvPr>
          <p:cNvSpPr/>
          <p:nvPr/>
        </p:nvSpPr>
        <p:spPr>
          <a:xfrm>
            <a:off x="2863120" y="3697198"/>
            <a:ext cx="1381955" cy="13819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BD9D82C4-BA5A-9A01-F836-EF67C7DC524C}"/>
              </a:ext>
            </a:extLst>
          </p:cNvPr>
          <p:cNvSpPr/>
          <p:nvPr/>
        </p:nvSpPr>
        <p:spPr>
          <a:xfrm>
            <a:off x="2863120" y="3697198"/>
            <a:ext cx="1381955" cy="1381955"/>
          </a:xfrm>
          <a:prstGeom prst="ellipse">
            <a:avLst/>
          </a:prstGeom>
          <a:blipFill>
            <a:blip r:embed="rId9">
              <a:alphaModFix amt="35000"/>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A454969B-12AC-DEF6-8DFC-F4A4D9DC44C2}"/>
              </a:ext>
            </a:extLst>
          </p:cNvPr>
          <p:cNvSpPr/>
          <p:nvPr/>
        </p:nvSpPr>
        <p:spPr>
          <a:xfrm>
            <a:off x="2863120" y="3697198"/>
            <a:ext cx="1381955" cy="1381955"/>
          </a:xfrm>
          <a:prstGeom prst="ellipse">
            <a:avLst/>
          </a:prstGeom>
          <a:blipFill>
            <a:blip r:embed="rId10">
              <a:alphaModFix amt="35000"/>
              <a:extLst>
                <a:ext uri="{96DAC541-7B7A-43D3-8B79-37D633B846F1}">
                  <asvg:svgBlip xmlns:asvg="http://schemas.microsoft.com/office/drawing/2016/SVG/main" r:embed="rId11"/>
                </a:ext>
              </a:extLst>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a:extLst>
              <a:ext uri="{FF2B5EF4-FFF2-40B4-BE49-F238E27FC236}">
                <a16:creationId xmlns:a16="http://schemas.microsoft.com/office/drawing/2014/main" id="{F63387B7-543B-C6EC-509F-3DCB2CE26BE2}"/>
              </a:ext>
            </a:extLst>
          </p:cNvPr>
          <p:cNvPicPr>
            <a:picLocks noChangeAspect="1"/>
          </p:cNvPicPr>
          <p:nvPr/>
        </p:nvPicPr>
        <p:blipFill>
          <a:blip r:embed="rId12">
            <a:alphaModFix/>
          </a:blip>
          <a:stretch>
            <a:fillRect/>
          </a:stretch>
        </p:blipFill>
        <p:spPr>
          <a:xfrm>
            <a:off x="2442987" y="3293686"/>
            <a:ext cx="2203326" cy="2203326"/>
          </a:xfrm>
          <a:prstGeom prst="rect">
            <a:avLst/>
          </a:prstGeom>
        </p:spPr>
      </p:pic>
    </p:spTree>
    <p:extLst>
      <p:ext uri="{BB962C8B-B14F-4D97-AF65-F5344CB8AC3E}">
        <p14:creationId xmlns:p14="http://schemas.microsoft.com/office/powerpoint/2010/main" val="2342076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59000" b="-59000"/>
          </a:stretch>
        </a:blipFill>
        <a:effectLst/>
      </p:bgPr>
    </p:bg>
    <p:spTree>
      <p:nvGrpSpPr>
        <p:cNvPr id="1" name="">
          <a:extLst>
            <a:ext uri="{FF2B5EF4-FFF2-40B4-BE49-F238E27FC236}">
              <a16:creationId xmlns:a16="http://schemas.microsoft.com/office/drawing/2014/main" id="{04444B98-BBF6-C80D-13F4-98C77195A388}"/>
            </a:ext>
          </a:extLst>
        </p:cNvPr>
        <p:cNvGrpSpPr/>
        <p:nvPr/>
      </p:nvGrpSpPr>
      <p:grpSpPr>
        <a:xfrm>
          <a:off x="0" y="0"/>
          <a:ext cx="0" cy="0"/>
          <a:chOff x="0" y="0"/>
          <a:chExt cx="0" cy="0"/>
        </a:xfrm>
      </p:grpSpPr>
      <p:pic>
        <p:nvPicPr>
          <p:cNvPr id="17" name="!!BackGround">
            <a:extLst>
              <a:ext uri="{FF2B5EF4-FFF2-40B4-BE49-F238E27FC236}">
                <a16:creationId xmlns:a16="http://schemas.microsoft.com/office/drawing/2014/main" id="{6FABE326-481D-C6BE-BD27-D1B308D451B1}"/>
              </a:ext>
            </a:extLst>
          </p:cNvPr>
          <p:cNvPicPr>
            <a:picLocks noChangeAspect="1"/>
          </p:cNvPicPr>
          <p:nvPr/>
        </p:nvPicPr>
        <p:blipFill>
          <a:blip r:embed="rId3">
            <a:alphaModFix amt="40000"/>
          </a:blip>
          <a:srcRect t="1532"/>
          <a:stretch>
            <a:fillRect/>
          </a:stretch>
        </p:blipFill>
        <p:spPr>
          <a:xfrm>
            <a:off x="-1828800" y="-515722"/>
            <a:ext cx="14020800" cy="7907732"/>
          </a:xfrm>
          <a:prstGeom prst="rect">
            <a:avLst/>
          </a:prstGeom>
        </p:spPr>
      </p:pic>
      <p:pic>
        <p:nvPicPr>
          <p:cNvPr id="2" name="Picture 1">
            <a:extLst>
              <a:ext uri="{FF2B5EF4-FFF2-40B4-BE49-F238E27FC236}">
                <a16:creationId xmlns:a16="http://schemas.microsoft.com/office/drawing/2014/main" id="{DEB14F7A-AD1C-BC3D-CD64-182E067EE5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8849" y="-168705"/>
            <a:ext cx="3532671" cy="1996563"/>
          </a:xfrm>
          <a:prstGeom prst="rect">
            <a:avLst/>
          </a:prstGeom>
          <a:noFill/>
          <a:ln>
            <a:noFill/>
          </a:ln>
        </p:spPr>
      </p:pic>
      <p:pic>
        <p:nvPicPr>
          <p:cNvPr id="3" name="Picture 2" descr="A logo of a globe with a graduation cap&#10;&#10;AI-generated content may be incorrect.">
            <a:extLst>
              <a:ext uri="{FF2B5EF4-FFF2-40B4-BE49-F238E27FC236}">
                <a16:creationId xmlns:a16="http://schemas.microsoft.com/office/drawing/2014/main" id="{1640FF34-A9A1-78DB-A26A-73F99BC4C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600" y="115770"/>
            <a:ext cx="1796026" cy="1651185"/>
          </a:xfrm>
          <a:prstGeom prst="rect">
            <a:avLst/>
          </a:prstGeom>
        </p:spPr>
      </p:pic>
      <p:sp>
        <p:nvSpPr>
          <p:cNvPr id="4" name="TextBox 3">
            <a:extLst>
              <a:ext uri="{FF2B5EF4-FFF2-40B4-BE49-F238E27FC236}">
                <a16:creationId xmlns:a16="http://schemas.microsoft.com/office/drawing/2014/main" id="{9A36E8DF-90E3-9EFB-C8DD-8EFDCCFD6727}"/>
              </a:ext>
            </a:extLst>
          </p:cNvPr>
          <p:cNvSpPr txBox="1"/>
          <p:nvPr/>
        </p:nvSpPr>
        <p:spPr>
          <a:xfrm>
            <a:off x="3525600" y="484164"/>
            <a:ext cx="4965700" cy="584775"/>
          </a:xfrm>
          <a:prstGeom prst="rect">
            <a:avLst/>
          </a:prstGeom>
          <a:noFill/>
        </p:spPr>
        <p:txBody>
          <a:bodyPr wrap="square" rtlCol="0">
            <a:spAutoFit/>
          </a:bodyPr>
          <a:lstStyle/>
          <a:p>
            <a:pPr algn="ctr"/>
            <a:r>
              <a:rPr lang="en-US" sz="3200" b="1" dirty="0"/>
              <a:t>Manufacturing Downtime</a:t>
            </a:r>
          </a:p>
        </p:txBody>
      </p:sp>
      <p:sp>
        <p:nvSpPr>
          <p:cNvPr id="5" name="TextBox 4">
            <a:extLst>
              <a:ext uri="{FF2B5EF4-FFF2-40B4-BE49-F238E27FC236}">
                <a16:creationId xmlns:a16="http://schemas.microsoft.com/office/drawing/2014/main" id="{685DAFB2-AEA2-A922-B501-73F0187B5854}"/>
              </a:ext>
            </a:extLst>
          </p:cNvPr>
          <p:cNvSpPr txBox="1"/>
          <p:nvPr/>
        </p:nvSpPr>
        <p:spPr>
          <a:xfrm>
            <a:off x="3613149" y="1536140"/>
            <a:ext cx="4965700" cy="338554"/>
          </a:xfrm>
          <a:prstGeom prst="rect">
            <a:avLst/>
          </a:prstGeom>
          <a:noFill/>
        </p:spPr>
        <p:txBody>
          <a:bodyPr wrap="square" rtlCol="0">
            <a:spAutoFit/>
          </a:bodyPr>
          <a:lstStyle/>
          <a:p>
            <a:pPr algn="ctr"/>
            <a:r>
              <a:rPr lang="en-US" sz="1600" b="1" dirty="0"/>
              <a:t>CAI3-DAT1-G2</a:t>
            </a:r>
            <a:endParaRPr lang="en-US" sz="2000" dirty="0"/>
          </a:p>
        </p:txBody>
      </p:sp>
      <p:sp>
        <p:nvSpPr>
          <p:cNvPr id="6" name="TextBox 5">
            <a:extLst>
              <a:ext uri="{FF2B5EF4-FFF2-40B4-BE49-F238E27FC236}">
                <a16:creationId xmlns:a16="http://schemas.microsoft.com/office/drawing/2014/main" id="{35C8AEE7-AA60-3C5B-EDB0-9133EF97F6D1}"/>
              </a:ext>
            </a:extLst>
          </p:cNvPr>
          <p:cNvSpPr txBox="1"/>
          <p:nvPr/>
        </p:nvSpPr>
        <p:spPr>
          <a:xfrm>
            <a:off x="3613149" y="1091303"/>
            <a:ext cx="4965700" cy="400110"/>
          </a:xfrm>
          <a:prstGeom prst="rect">
            <a:avLst/>
          </a:prstGeom>
          <a:noFill/>
        </p:spPr>
        <p:txBody>
          <a:bodyPr wrap="square" rtlCol="0">
            <a:spAutoFit/>
          </a:bodyPr>
          <a:lstStyle/>
          <a:p>
            <a:pPr algn="ctr"/>
            <a:r>
              <a:rPr lang="en-US" b="1" dirty="0"/>
              <a:t>Data Analyst </a:t>
            </a:r>
            <a:r>
              <a:rPr lang="en-US" sz="2000" b="1" dirty="0"/>
              <a:t>Specialist</a:t>
            </a:r>
            <a:endParaRPr lang="en-US" dirty="0"/>
          </a:p>
        </p:txBody>
      </p:sp>
      <p:sp>
        <p:nvSpPr>
          <p:cNvPr id="7" name="TextBox 6">
            <a:extLst>
              <a:ext uri="{FF2B5EF4-FFF2-40B4-BE49-F238E27FC236}">
                <a16:creationId xmlns:a16="http://schemas.microsoft.com/office/drawing/2014/main" id="{F11BB44E-8721-6D10-EA4A-A7B6C98F87B7}"/>
              </a:ext>
            </a:extLst>
          </p:cNvPr>
          <p:cNvSpPr txBox="1"/>
          <p:nvPr/>
        </p:nvSpPr>
        <p:spPr>
          <a:xfrm>
            <a:off x="1045156" y="4145468"/>
            <a:ext cx="2683523" cy="461665"/>
          </a:xfrm>
          <a:prstGeom prst="rect">
            <a:avLst/>
          </a:prstGeom>
          <a:noFill/>
        </p:spPr>
        <p:txBody>
          <a:bodyPr wrap="square" rtlCol="0">
            <a:spAutoFit/>
          </a:bodyPr>
          <a:lstStyle/>
          <a:p>
            <a:pPr algn="ctr"/>
            <a:r>
              <a:rPr lang="en-US" sz="2400" b="1" dirty="0"/>
              <a:t>Ahmed Taher</a:t>
            </a:r>
            <a:endParaRPr lang="en-US" sz="2400" dirty="0"/>
          </a:p>
        </p:txBody>
      </p:sp>
      <p:sp>
        <p:nvSpPr>
          <p:cNvPr id="11" name="TextBox 10">
            <a:extLst>
              <a:ext uri="{FF2B5EF4-FFF2-40B4-BE49-F238E27FC236}">
                <a16:creationId xmlns:a16="http://schemas.microsoft.com/office/drawing/2014/main" id="{3654AC62-6FCA-F0B5-9884-215FBD73E2E7}"/>
              </a:ext>
            </a:extLst>
          </p:cNvPr>
          <p:cNvSpPr txBox="1"/>
          <p:nvPr/>
        </p:nvSpPr>
        <p:spPr>
          <a:xfrm>
            <a:off x="3371079" y="4145467"/>
            <a:ext cx="2700393" cy="461665"/>
          </a:xfrm>
          <a:prstGeom prst="rect">
            <a:avLst/>
          </a:prstGeom>
          <a:noFill/>
        </p:spPr>
        <p:txBody>
          <a:bodyPr wrap="square" rtlCol="0">
            <a:spAutoFit/>
          </a:bodyPr>
          <a:lstStyle/>
          <a:p>
            <a:pPr algn="ctr"/>
            <a:r>
              <a:rPr lang="en-US" sz="2400" b="1" dirty="0"/>
              <a:t>Aya Ramadan</a:t>
            </a:r>
          </a:p>
        </p:txBody>
      </p:sp>
      <p:sp>
        <p:nvSpPr>
          <p:cNvPr id="23" name="Oval 22">
            <a:extLst>
              <a:ext uri="{FF2B5EF4-FFF2-40B4-BE49-F238E27FC236}">
                <a16:creationId xmlns:a16="http://schemas.microsoft.com/office/drawing/2014/main" id="{F5464DA6-D962-F188-E5EE-AE8EA1DE88BB}"/>
              </a:ext>
            </a:extLst>
          </p:cNvPr>
          <p:cNvSpPr/>
          <p:nvPr/>
        </p:nvSpPr>
        <p:spPr>
          <a:xfrm>
            <a:off x="1695941" y="2763513"/>
            <a:ext cx="1381955" cy="1381955"/>
          </a:xfrm>
          <a:prstGeom prst="ellipse">
            <a:avLst/>
          </a:prstGeom>
          <a:blipFill dpi="0" rotWithShape="1">
            <a:blip r:embed="rId6"/>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8765801C-ED9D-E8FC-3102-51D0AA52B4FD}"/>
              </a:ext>
            </a:extLst>
          </p:cNvPr>
          <p:cNvSpPr/>
          <p:nvPr/>
        </p:nvSpPr>
        <p:spPr>
          <a:xfrm>
            <a:off x="4030299" y="2763513"/>
            <a:ext cx="1381955" cy="13819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C5B4AD8B-F8AE-FC50-5C4D-6D7EF4E194AD}"/>
              </a:ext>
            </a:extLst>
          </p:cNvPr>
          <p:cNvSpPr txBox="1"/>
          <p:nvPr/>
        </p:nvSpPr>
        <p:spPr>
          <a:xfrm>
            <a:off x="1045156" y="5989087"/>
            <a:ext cx="2683523" cy="461665"/>
          </a:xfrm>
          <a:prstGeom prst="rect">
            <a:avLst/>
          </a:prstGeom>
          <a:noFill/>
        </p:spPr>
        <p:txBody>
          <a:bodyPr wrap="square" rtlCol="0">
            <a:spAutoFit/>
          </a:bodyPr>
          <a:lstStyle/>
          <a:p>
            <a:pPr algn="ctr"/>
            <a:r>
              <a:rPr lang="en-US" sz="2400" b="1" dirty="0"/>
              <a:t>Michael Emil</a:t>
            </a:r>
          </a:p>
        </p:txBody>
      </p:sp>
      <p:sp>
        <p:nvSpPr>
          <p:cNvPr id="34" name="Oval 33">
            <a:extLst>
              <a:ext uri="{FF2B5EF4-FFF2-40B4-BE49-F238E27FC236}">
                <a16:creationId xmlns:a16="http://schemas.microsoft.com/office/drawing/2014/main" id="{732DC3CA-BC5B-EF73-506D-071E8451BD81}"/>
              </a:ext>
            </a:extLst>
          </p:cNvPr>
          <p:cNvSpPr/>
          <p:nvPr/>
        </p:nvSpPr>
        <p:spPr>
          <a:xfrm>
            <a:off x="1695941" y="4607132"/>
            <a:ext cx="1381955" cy="1381955"/>
          </a:xfrm>
          <a:prstGeom prst="ellipse">
            <a:avLst/>
          </a:prstGeom>
          <a:blipFill>
            <a:blip r:embed="rId7"/>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8B9705FD-61CE-87A3-DE8A-AE691DBC6261}"/>
              </a:ext>
            </a:extLst>
          </p:cNvPr>
          <p:cNvSpPr txBox="1"/>
          <p:nvPr/>
        </p:nvSpPr>
        <p:spPr>
          <a:xfrm>
            <a:off x="3371079" y="6012836"/>
            <a:ext cx="2700393" cy="830997"/>
          </a:xfrm>
          <a:prstGeom prst="rect">
            <a:avLst/>
          </a:prstGeom>
          <a:noFill/>
        </p:spPr>
        <p:txBody>
          <a:bodyPr wrap="square" rtlCol="0">
            <a:spAutoFit/>
          </a:bodyPr>
          <a:lstStyle/>
          <a:p>
            <a:pPr algn="ctr"/>
            <a:r>
              <a:rPr lang="en-US" sz="2400" b="1" dirty="0"/>
              <a:t>Abdelrahman Mohammed</a:t>
            </a:r>
          </a:p>
        </p:txBody>
      </p:sp>
      <p:sp>
        <p:nvSpPr>
          <p:cNvPr id="36" name="Oval 35">
            <a:extLst>
              <a:ext uri="{FF2B5EF4-FFF2-40B4-BE49-F238E27FC236}">
                <a16:creationId xmlns:a16="http://schemas.microsoft.com/office/drawing/2014/main" id="{6BF86EC2-310B-3382-77A5-78CB6562D846}"/>
              </a:ext>
            </a:extLst>
          </p:cNvPr>
          <p:cNvSpPr/>
          <p:nvPr/>
        </p:nvSpPr>
        <p:spPr>
          <a:xfrm>
            <a:off x="4030299" y="4630882"/>
            <a:ext cx="1381955" cy="1381955"/>
          </a:xfrm>
          <a:prstGeom prst="ellipse">
            <a:avLst/>
          </a:prstGeom>
          <a:blipFill>
            <a:blip r:embed="rId8"/>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1B833439-9A0A-7CE7-BA73-927F0934FE6D}"/>
              </a:ext>
            </a:extLst>
          </p:cNvPr>
          <p:cNvSpPr txBox="1"/>
          <p:nvPr/>
        </p:nvSpPr>
        <p:spPr>
          <a:xfrm>
            <a:off x="2533390" y="2285303"/>
            <a:ext cx="1924697" cy="369332"/>
          </a:xfrm>
          <a:prstGeom prst="rect">
            <a:avLst/>
          </a:prstGeom>
          <a:noFill/>
        </p:spPr>
        <p:txBody>
          <a:bodyPr wrap="square" rtlCol="0">
            <a:spAutoFit/>
          </a:bodyPr>
          <a:lstStyle/>
          <a:p>
            <a:pPr algn="ctr"/>
            <a:r>
              <a:rPr lang="en-US" b="1" dirty="0"/>
              <a:t>Presented by</a:t>
            </a:r>
            <a:endParaRPr lang="en-US" dirty="0"/>
          </a:p>
        </p:txBody>
      </p:sp>
      <p:sp>
        <p:nvSpPr>
          <p:cNvPr id="12" name="TextBox 11">
            <a:extLst>
              <a:ext uri="{FF2B5EF4-FFF2-40B4-BE49-F238E27FC236}">
                <a16:creationId xmlns:a16="http://schemas.microsoft.com/office/drawing/2014/main" id="{79AFC4C9-ED07-84D8-C15E-CF0F03891CBE}"/>
              </a:ext>
            </a:extLst>
          </p:cNvPr>
          <p:cNvSpPr txBox="1"/>
          <p:nvPr/>
        </p:nvSpPr>
        <p:spPr>
          <a:xfrm>
            <a:off x="8249517" y="2285303"/>
            <a:ext cx="1924697" cy="369332"/>
          </a:xfrm>
          <a:prstGeom prst="rect">
            <a:avLst/>
          </a:prstGeom>
          <a:noFill/>
        </p:spPr>
        <p:txBody>
          <a:bodyPr wrap="square" rtlCol="0">
            <a:spAutoFit/>
          </a:bodyPr>
          <a:lstStyle/>
          <a:p>
            <a:pPr algn="ctr"/>
            <a:r>
              <a:rPr lang="en-US" b="1" dirty="0"/>
              <a:t>Supervised by</a:t>
            </a:r>
            <a:endParaRPr lang="en-US" dirty="0"/>
          </a:p>
        </p:txBody>
      </p:sp>
      <p:sp>
        <p:nvSpPr>
          <p:cNvPr id="8" name="Oval 7">
            <a:extLst>
              <a:ext uri="{FF2B5EF4-FFF2-40B4-BE49-F238E27FC236}">
                <a16:creationId xmlns:a16="http://schemas.microsoft.com/office/drawing/2014/main" id="{795CA184-5A2C-9259-A4F4-2942DB18210E}"/>
              </a:ext>
            </a:extLst>
          </p:cNvPr>
          <p:cNvSpPr/>
          <p:nvPr/>
        </p:nvSpPr>
        <p:spPr>
          <a:xfrm>
            <a:off x="7954565" y="3122255"/>
            <a:ext cx="2514600" cy="2514600"/>
          </a:xfrm>
          <a:prstGeom prst="ellipse">
            <a:avLst/>
          </a:prstGeom>
          <a:blipFill dpi="0" rotWithShape="1">
            <a:blip r:embed="rId9"/>
            <a:srcRect/>
            <a:stretch>
              <a:fillRect/>
            </a:stretch>
          </a:blipFill>
          <a:scene3d>
            <a:camera prst="perspective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78F3A8A-5DA5-8183-CE1E-26A69BF77D0F}"/>
              </a:ext>
            </a:extLst>
          </p:cNvPr>
          <p:cNvPicPr>
            <a:picLocks noChangeAspect="1"/>
          </p:cNvPicPr>
          <p:nvPr/>
        </p:nvPicPr>
        <p:blipFill>
          <a:blip r:embed="rId10"/>
          <a:stretch>
            <a:fillRect/>
          </a:stretch>
        </p:blipFill>
        <p:spPr>
          <a:xfrm>
            <a:off x="7942968" y="3122255"/>
            <a:ext cx="2517866" cy="2517866"/>
          </a:xfrm>
          <a:prstGeom prst="rect">
            <a:avLst/>
          </a:prstGeom>
          <a:scene3d>
            <a:camera prst="perspectiveFront"/>
            <a:lightRig rig="threePt" dir="t"/>
          </a:scene3d>
        </p:spPr>
      </p:pic>
      <p:sp>
        <p:nvSpPr>
          <p:cNvPr id="14" name="TextBox 13">
            <a:extLst>
              <a:ext uri="{FF2B5EF4-FFF2-40B4-BE49-F238E27FC236}">
                <a16:creationId xmlns:a16="http://schemas.microsoft.com/office/drawing/2014/main" id="{D2580ADD-0C99-E634-350C-6BC43975C06E}"/>
              </a:ext>
            </a:extLst>
          </p:cNvPr>
          <p:cNvSpPr txBox="1"/>
          <p:nvPr/>
        </p:nvSpPr>
        <p:spPr>
          <a:xfrm>
            <a:off x="5438931" y="7575457"/>
            <a:ext cx="7545871" cy="461665"/>
          </a:xfrm>
          <a:prstGeom prst="rect">
            <a:avLst/>
          </a:prstGeom>
          <a:noFill/>
        </p:spPr>
        <p:txBody>
          <a:bodyPr wrap="square" rtlCol="0">
            <a:spAutoFit/>
          </a:bodyPr>
          <a:lstStyle/>
          <a:p>
            <a:pPr algn="ctr"/>
            <a:r>
              <a:rPr lang="en-US" sz="2400" b="1" dirty="0"/>
              <a:t>Eng. Ahmed Samir Ahmed</a:t>
            </a:r>
          </a:p>
        </p:txBody>
      </p:sp>
    </p:spTree>
    <p:extLst>
      <p:ext uri="{BB962C8B-B14F-4D97-AF65-F5344CB8AC3E}">
        <p14:creationId xmlns:p14="http://schemas.microsoft.com/office/powerpoint/2010/main" val="11136624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59000" b="-59000"/>
          </a:stretch>
        </a:blipFill>
        <a:effectLst/>
      </p:bgPr>
    </p:bg>
    <p:spTree>
      <p:nvGrpSpPr>
        <p:cNvPr id="1" name="">
          <a:extLst>
            <a:ext uri="{FF2B5EF4-FFF2-40B4-BE49-F238E27FC236}">
              <a16:creationId xmlns:a16="http://schemas.microsoft.com/office/drawing/2014/main" id="{D7AA3D43-85E2-A3ED-46B1-CDCAC5DFCCD0}"/>
            </a:ext>
          </a:extLst>
        </p:cNvPr>
        <p:cNvGrpSpPr/>
        <p:nvPr/>
      </p:nvGrpSpPr>
      <p:grpSpPr>
        <a:xfrm>
          <a:off x="0" y="0"/>
          <a:ext cx="0" cy="0"/>
          <a:chOff x="0" y="0"/>
          <a:chExt cx="0" cy="0"/>
        </a:xfrm>
      </p:grpSpPr>
      <p:pic>
        <p:nvPicPr>
          <p:cNvPr id="17" name="!!BackGround">
            <a:extLst>
              <a:ext uri="{FF2B5EF4-FFF2-40B4-BE49-F238E27FC236}">
                <a16:creationId xmlns:a16="http://schemas.microsoft.com/office/drawing/2014/main" id="{282372DB-08FC-B689-B6BF-2C339DA72C72}"/>
              </a:ext>
            </a:extLst>
          </p:cNvPr>
          <p:cNvPicPr>
            <a:picLocks noChangeAspect="1"/>
          </p:cNvPicPr>
          <p:nvPr/>
        </p:nvPicPr>
        <p:blipFill>
          <a:blip r:embed="rId3">
            <a:alphaModFix amt="40000"/>
          </a:blip>
          <a:srcRect t="1532"/>
          <a:stretch>
            <a:fillRect/>
          </a:stretch>
        </p:blipFill>
        <p:spPr>
          <a:xfrm>
            <a:off x="-1828800" y="-515722"/>
            <a:ext cx="14020800" cy="7907732"/>
          </a:xfrm>
          <a:prstGeom prst="rect">
            <a:avLst/>
          </a:prstGeom>
        </p:spPr>
      </p:pic>
      <p:pic>
        <p:nvPicPr>
          <p:cNvPr id="2" name="Picture 1">
            <a:extLst>
              <a:ext uri="{FF2B5EF4-FFF2-40B4-BE49-F238E27FC236}">
                <a16:creationId xmlns:a16="http://schemas.microsoft.com/office/drawing/2014/main" id="{6834404A-57FC-F376-DA23-BDD3AFD6FC5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8849" y="-168705"/>
            <a:ext cx="3532671" cy="1996563"/>
          </a:xfrm>
          <a:prstGeom prst="rect">
            <a:avLst/>
          </a:prstGeom>
          <a:noFill/>
          <a:ln>
            <a:noFill/>
          </a:ln>
        </p:spPr>
      </p:pic>
      <p:pic>
        <p:nvPicPr>
          <p:cNvPr id="3" name="Picture 2" descr="A logo of a globe with a graduation cap&#10;&#10;AI-generated content may be incorrect.">
            <a:extLst>
              <a:ext uri="{FF2B5EF4-FFF2-40B4-BE49-F238E27FC236}">
                <a16:creationId xmlns:a16="http://schemas.microsoft.com/office/drawing/2014/main" id="{1F36A3C2-F125-32DE-8270-0C314EC828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600" y="115770"/>
            <a:ext cx="1796026" cy="1651185"/>
          </a:xfrm>
          <a:prstGeom prst="rect">
            <a:avLst/>
          </a:prstGeom>
        </p:spPr>
      </p:pic>
      <p:sp>
        <p:nvSpPr>
          <p:cNvPr id="4" name="TextBox 3">
            <a:extLst>
              <a:ext uri="{FF2B5EF4-FFF2-40B4-BE49-F238E27FC236}">
                <a16:creationId xmlns:a16="http://schemas.microsoft.com/office/drawing/2014/main" id="{75C0C250-FB58-6910-8C7F-E54097D8237B}"/>
              </a:ext>
            </a:extLst>
          </p:cNvPr>
          <p:cNvSpPr txBox="1"/>
          <p:nvPr/>
        </p:nvSpPr>
        <p:spPr>
          <a:xfrm>
            <a:off x="3525600" y="484164"/>
            <a:ext cx="4965700" cy="584775"/>
          </a:xfrm>
          <a:prstGeom prst="rect">
            <a:avLst/>
          </a:prstGeom>
          <a:noFill/>
        </p:spPr>
        <p:txBody>
          <a:bodyPr wrap="square" rtlCol="0">
            <a:spAutoFit/>
          </a:bodyPr>
          <a:lstStyle/>
          <a:p>
            <a:pPr algn="ctr"/>
            <a:r>
              <a:rPr lang="en-US" sz="3200" b="1" dirty="0"/>
              <a:t>Manufacturing Downtime</a:t>
            </a:r>
          </a:p>
        </p:txBody>
      </p:sp>
      <p:sp>
        <p:nvSpPr>
          <p:cNvPr id="5" name="TextBox 4">
            <a:extLst>
              <a:ext uri="{FF2B5EF4-FFF2-40B4-BE49-F238E27FC236}">
                <a16:creationId xmlns:a16="http://schemas.microsoft.com/office/drawing/2014/main" id="{74BFB065-78C8-1F1D-F0E5-4AE8D5EFA200}"/>
              </a:ext>
            </a:extLst>
          </p:cNvPr>
          <p:cNvSpPr txBox="1"/>
          <p:nvPr/>
        </p:nvSpPr>
        <p:spPr>
          <a:xfrm>
            <a:off x="3613149" y="1536140"/>
            <a:ext cx="4965700" cy="338554"/>
          </a:xfrm>
          <a:prstGeom prst="rect">
            <a:avLst/>
          </a:prstGeom>
          <a:noFill/>
        </p:spPr>
        <p:txBody>
          <a:bodyPr wrap="square" rtlCol="0">
            <a:spAutoFit/>
          </a:bodyPr>
          <a:lstStyle/>
          <a:p>
            <a:pPr algn="ctr"/>
            <a:r>
              <a:rPr lang="en-US" sz="1600" b="1" dirty="0"/>
              <a:t>CAI3-DAT1-G2</a:t>
            </a:r>
            <a:endParaRPr lang="en-US" sz="2000" dirty="0"/>
          </a:p>
        </p:txBody>
      </p:sp>
      <p:sp>
        <p:nvSpPr>
          <p:cNvPr id="6" name="TextBox 5">
            <a:extLst>
              <a:ext uri="{FF2B5EF4-FFF2-40B4-BE49-F238E27FC236}">
                <a16:creationId xmlns:a16="http://schemas.microsoft.com/office/drawing/2014/main" id="{00C70264-064D-894F-702C-348E63D44292}"/>
              </a:ext>
            </a:extLst>
          </p:cNvPr>
          <p:cNvSpPr txBox="1"/>
          <p:nvPr/>
        </p:nvSpPr>
        <p:spPr>
          <a:xfrm>
            <a:off x="3613149" y="1091303"/>
            <a:ext cx="4965700" cy="400110"/>
          </a:xfrm>
          <a:prstGeom prst="rect">
            <a:avLst/>
          </a:prstGeom>
          <a:noFill/>
        </p:spPr>
        <p:txBody>
          <a:bodyPr wrap="square" rtlCol="0">
            <a:spAutoFit/>
          </a:bodyPr>
          <a:lstStyle/>
          <a:p>
            <a:pPr algn="ctr"/>
            <a:r>
              <a:rPr lang="en-US" b="1" dirty="0"/>
              <a:t>Data Analyst </a:t>
            </a:r>
            <a:r>
              <a:rPr lang="en-US" sz="2000" b="1" dirty="0"/>
              <a:t>Specialist</a:t>
            </a:r>
            <a:endParaRPr lang="en-US" dirty="0"/>
          </a:p>
        </p:txBody>
      </p:sp>
      <p:sp>
        <p:nvSpPr>
          <p:cNvPr id="7" name="TextBox 6">
            <a:extLst>
              <a:ext uri="{FF2B5EF4-FFF2-40B4-BE49-F238E27FC236}">
                <a16:creationId xmlns:a16="http://schemas.microsoft.com/office/drawing/2014/main" id="{543E18F8-4A60-8626-8089-C24CF47441F8}"/>
              </a:ext>
            </a:extLst>
          </p:cNvPr>
          <p:cNvSpPr txBox="1"/>
          <p:nvPr/>
        </p:nvSpPr>
        <p:spPr>
          <a:xfrm>
            <a:off x="1045156" y="4145468"/>
            <a:ext cx="2683523" cy="461665"/>
          </a:xfrm>
          <a:prstGeom prst="rect">
            <a:avLst/>
          </a:prstGeom>
          <a:noFill/>
        </p:spPr>
        <p:txBody>
          <a:bodyPr wrap="square" rtlCol="0">
            <a:spAutoFit/>
          </a:bodyPr>
          <a:lstStyle/>
          <a:p>
            <a:pPr algn="ctr"/>
            <a:r>
              <a:rPr lang="en-US" sz="2400" b="1" dirty="0"/>
              <a:t>Ahmed Taher</a:t>
            </a:r>
            <a:endParaRPr lang="en-US" sz="2400" dirty="0"/>
          </a:p>
        </p:txBody>
      </p:sp>
      <p:sp>
        <p:nvSpPr>
          <p:cNvPr id="11" name="TextBox 10">
            <a:extLst>
              <a:ext uri="{FF2B5EF4-FFF2-40B4-BE49-F238E27FC236}">
                <a16:creationId xmlns:a16="http://schemas.microsoft.com/office/drawing/2014/main" id="{D2252425-42AE-D792-70B2-43512B59202F}"/>
              </a:ext>
            </a:extLst>
          </p:cNvPr>
          <p:cNvSpPr txBox="1"/>
          <p:nvPr/>
        </p:nvSpPr>
        <p:spPr>
          <a:xfrm>
            <a:off x="3371079" y="4145467"/>
            <a:ext cx="2700393" cy="461665"/>
          </a:xfrm>
          <a:prstGeom prst="rect">
            <a:avLst/>
          </a:prstGeom>
          <a:noFill/>
        </p:spPr>
        <p:txBody>
          <a:bodyPr wrap="square" rtlCol="0">
            <a:spAutoFit/>
          </a:bodyPr>
          <a:lstStyle/>
          <a:p>
            <a:pPr algn="ctr"/>
            <a:r>
              <a:rPr lang="en-US" sz="2400" b="1" dirty="0"/>
              <a:t>Aya Ramadan</a:t>
            </a:r>
          </a:p>
        </p:txBody>
      </p:sp>
      <p:sp>
        <p:nvSpPr>
          <p:cNvPr id="13" name="TextBox 12">
            <a:extLst>
              <a:ext uri="{FF2B5EF4-FFF2-40B4-BE49-F238E27FC236}">
                <a16:creationId xmlns:a16="http://schemas.microsoft.com/office/drawing/2014/main" id="{0DC49A85-CB9D-4DE6-060F-DE0022823DFA}"/>
              </a:ext>
            </a:extLst>
          </p:cNvPr>
          <p:cNvSpPr txBox="1"/>
          <p:nvPr/>
        </p:nvSpPr>
        <p:spPr>
          <a:xfrm>
            <a:off x="5438931" y="5873642"/>
            <a:ext cx="7545871" cy="461665"/>
          </a:xfrm>
          <a:prstGeom prst="rect">
            <a:avLst/>
          </a:prstGeom>
          <a:noFill/>
        </p:spPr>
        <p:txBody>
          <a:bodyPr wrap="square" rtlCol="0">
            <a:spAutoFit/>
          </a:bodyPr>
          <a:lstStyle/>
          <a:p>
            <a:pPr algn="ctr"/>
            <a:r>
              <a:rPr lang="en-US" sz="2400" b="1" dirty="0"/>
              <a:t>Eng. Ahmed Samir Ahmed</a:t>
            </a:r>
          </a:p>
        </p:txBody>
      </p:sp>
      <p:sp>
        <p:nvSpPr>
          <p:cNvPr id="23" name="Oval 22">
            <a:extLst>
              <a:ext uri="{FF2B5EF4-FFF2-40B4-BE49-F238E27FC236}">
                <a16:creationId xmlns:a16="http://schemas.microsoft.com/office/drawing/2014/main" id="{10B4B85E-65DC-3DD6-D27A-2474F92C622C}"/>
              </a:ext>
            </a:extLst>
          </p:cNvPr>
          <p:cNvSpPr/>
          <p:nvPr/>
        </p:nvSpPr>
        <p:spPr>
          <a:xfrm>
            <a:off x="1695941" y="2763513"/>
            <a:ext cx="1381955" cy="1381955"/>
          </a:xfrm>
          <a:prstGeom prst="ellipse">
            <a:avLst/>
          </a:prstGeom>
          <a:blipFill dpi="0" rotWithShape="1">
            <a:blip r:embed="rId6"/>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A0AFE826-6419-994A-7C68-AA23F3B5864C}"/>
              </a:ext>
            </a:extLst>
          </p:cNvPr>
          <p:cNvSpPr/>
          <p:nvPr/>
        </p:nvSpPr>
        <p:spPr>
          <a:xfrm>
            <a:off x="4030299" y="2763513"/>
            <a:ext cx="1381955" cy="13819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E2199F7F-7959-C24A-9FA6-1D4E9862BEFB}"/>
              </a:ext>
            </a:extLst>
          </p:cNvPr>
          <p:cNvSpPr txBox="1"/>
          <p:nvPr/>
        </p:nvSpPr>
        <p:spPr>
          <a:xfrm>
            <a:off x="1045156" y="5989087"/>
            <a:ext cx="2683523" cy="461665"/>
          </a:xfrm>
          <a:prstGeom prst="rect">
            <a:avLst/>
          </a:prstGeom>
          <a:noFill/>
        </p:spPr>
        <p:txBody>
          <a:bodyPr wrap="square" rtlCol="0">
            <a:spAutoFit/>
          </a:bodyPr>
          <a:lstStyle/>
          <a:p>
            <a:pPr algn="ctr"/>
            <a:r>
              <a:rPr lang="en-US" sz="2400" b="1" dirty="0"/>
              <a:t>Michael Emil</a:t>
            </a:r>
          </a:p>
        </p:txBody>
      </p:sp>
      <p:sp>
        <p:nvSpPr>
          <p:cNvPr id="35" name="TextBox 34">
            <a:extLst>
              <a:ext uri="{FF2B5EF4-FFF2-40B4-BE49-F238E27FC236}">
                <a16:creationId xmlns:a16="http://schemas.microsoft.com/office/drawing/2014/main" id="{C16362A1-AE3F-1972-F389-6CC0D71DC7F8}"/>
              </a:ext>
            </a:extLst>
          </p:cNvPr>
          <p:cNvSpPr txBox="1"/>
          <p:nvPr/>
        </p:nvSpPr>
        <p:spPr>
          <a:xfrm>
            <a:off x="3371079" y="6012836"/>
            <a:ext cx="2700393" cy="830997"/>
          </a:xfrm>
          <a:prstGeom prst="rect">
            <a:avLst/>
          </a:prstGeom>
          <a:noFill/>
        </p:spPr>
        <p:txBody>
          <a:bodyPr wrap="square" rtlCol="0">
            <a:spAutoFit/>
          </a:bodyPr>
          <a:lstStyle/>
          <a:p>
            <a:pPr algn="ctr"/>
            <a:r>
              <a:rPr lang="en-US" sz="2400" b="1" dirty="0"/>
              <a:t>Abdelrahman Mohammed</a:t>
            </a:r>
          </a:p>
        </p:txBody>
      </p:sp>
      <p:sp>
        <p:nvSpPr>
          <p:cNvPr id="9" name="TextBox 8">
            <a:extLst>
              <a:ext uri="{FF2B5EF4-FFF2-40B4-BE49-F238E27FC236}">
                <a16:creationId xmlns:a16="http://schemas.microsoft.com/office/drawing/2014/main" id="{83008D8B-5F1E-C1F5-A474-9A199128AFE8}"/>
              </a:ext>
            </a:extLst>
          </p:cNvPr>
          <p:cNvSpPr txBox="1"/>
          <p:nvPr/>
        </p:nvSpPr>
        <p:spPr>
          <a:xfrm>
            <a:off x="2533390" y="2285303"/>
            <a:ext cx="1924697" cy="369332"/>
          </a:xfrm>
          <a:prstGeom prst="rect">
            <a:avLst/>
          </a:prstGeom>
          <a:noFill/>
        </p:spPr>
        <p:txBody>
          <a:bodyPr wrap="square" rtlCol="0">
            <a:spAutoFit/>
          </a:bodyPr>
          <a:lstStyle/>
          <a:p>
            <a:pPr algn="ctr"/>
            <a:r>
              <a:rPr lang="en-US" b="1" dirty="0"/>
              <a:t>Presented by</a:t>
            </a:r>
            <a:endParaRPr lang="en-US" dirty="0"/>
          </a:p>
        </p:txBody>
      </p:sp>
      <p:sp>
        <p:nvSpPr>
          <p:cNvPr id="12" name="TextBox 11">
            <a:extLst>
              <a:ext uri="{FF2B5EF4-FFF2-40B4-BE49-F238E27FC236}">
                <a16:creationId xmlns:a16="http://schemas.microsoft.com/office/drawing/2014/main" id="{F9325010-2506-F863-474C-39DFCF8A6DD3}"/>
              </a:ext>
            </a:extLst>
          </p:cNvPr>
          <p:cNvSpPr txBox="1"/>
          <p:nvPr/>
        </p:nvSpPr>
        <p:spPr>
          <a:xfrm>
            <a:off x="8249517" y="2285303"/>
            <a:ext cx="1924697" cy="369332"/>
          </a:xfrm>
          <a:prstGeom prst="rect">
            <a:avLst/>
          </a:prstGeom>
          <a:noFill/>
        </p:spPr>
        <p:txBody>
          <a:bodyPr wrap="square" rtlCol="0">
            <a:spAutoFit/>
          </a:bodyPr>
          <a:lstStyle/>
          <a:p>
            <a:pPr algn="ctr"/>
            <a:r>
              <a:rPr lang="en-US" b="1" dirty="0"/>
              <a:t>Supervised by</a:t>
            </a:r>
            <a:endParaRPr lang="en-US" dirty="0"/>
          </a:p>
        </p:txBody>
      </p:sp>
      <p:pic>
        <p:nvPicPr>
          <p:cNvPr id="25" name="Picture 24">
            <a:extLst>
              <a:ext uri="{FF2B5EF4-FFF2-40B4-BE49-F238E27FC236}">
                <a16:creationId xmlns:a16="http://schemas.microsoft.com/office/drawing/2014/main" id="{B575C8AB-7505-73F3-B1B1-D521116C4EBD}"/>
              </a:ext>
            </a:extLst>
          </p:cNvPr>
          <p:cNvPicPr>
            <a:picLocks noChangeAspect="1"/>
          </p:cNvPicPr>
          <p:nvPr/>
        </p:nvPicPr>
        <p:blipFill>
          <a:blip r:embed="rId7"/>
          <a:stretch>
            <a:fillRect/>
          </a:stretch>
        </p:blipFill>
        <p:spPr>
          <a:xfrm>
            <a:off x="7942968" y="3122255"/>
            <a:ext cx="2517866" cy="2517866"/>
          </a:xfrm>
          <a:prstGeom prst="rect">
            <a:avLst/>
          </a:prstGeom>
          <a:scene3d>
            <a:camera prst="perspectiveFront">
              <a:rot lat="0" lon="10800000" rev="0"/>
            </a:camera>
            <a:lightRig rig="threePt" dir="t"/>
          </a:scene3d>
        </p:spPr>
      </p:pic>
      <p:sp>
        <p:nvSpPr>
          <p:cNvPr id="22" name="Oval 21">
            <a:extLst>
              <a:ext uri="{FF2B5EF4-FFF2-40B4-BE49-F238E27FC236}">
                <a16:creationId xmlns:a16="http://schemas.microsoft.com/office/drawing/2014/main" id="{8AB357EA-4242-B76B-F900-C0112A2788E0}"/>
              </a:ext>
            </a:extLst>
          </p:cNvPr>
          <p:cNvSpPr/>
          <p:nvPr/>
        </p:nvSpPr>
        <p:spPr>
          <a:xfrm>
            <a:off x="7954565" y="3122255"/>
            <a:ext cx="2514600" cy="2514600"/>
          </a:xfrm>
          <a:prstGeom prst="ellipse">
            <a:avLst/>
          </a:prstGeom>
          <a:blipFill dpi="0" rotWithShape="1">
            <a:blip r:embed="rId8"/>
            <a:srcRect/>
            <a:stretch>
              <a:fillRect/>
            </a:stretch>
          </a:blipFill>
          <a:scene3d>
            <a:camera prst="perspectiveFront">
              <a:rot lat="0" lon="2154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2704EF6-34BB-300E-0556-91E57E4F6BB0}"/>
              </a:ext>
            </a:extLst>
          </p:cNvPr>
          <p:cNvSpPr/>
          <p:nvPr/>
        </p:nvSpPr>
        <p:spPr>
          <a:xfrm>
            <a:off x="1695941" y="4607132"/>
            <a:ext cx="1381955" cy="1381955"/>
          </a:xfrm>
          <a:prstGeom prst="ellipse">
            <a:avLst/>
          </a:prstGeom>
          <a:blipFill>
            <a:blip r:embed="rId9"/>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BF77BED-8658-D702-8085-012D0EE5C256}"/>
              </a:ext>
            </a:extLst>
          </p:cNvPr>
          <p:cNvSpPr/>
          <p:nvPr/>
        </p:nvSpPr>
        <p:spPr>
          <a:xfrm>
            <a:off x="4030299" y="4630882"/>
            <a:ext cx="1381955" cy="1381955"/>
          </a:xfrm>
          <a:prstGeom prst="ellipse">
            <a:avLst/>
          </a:prstGeom>
          <a:blipFill>
            <a:blip r:embed="rId10"/>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116656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9000" b="-59000"/>
          </a:stretch>
        </a:blipFill>
        <a:effectLst/>
      </p:bgPr>
    </p:bg>
    <p:spTree>
      <p:nvGrpSpPr>
        <p:cNvPr id="1" name="">
          <a:extLst>
            <a:ext uri="{FF2B5EF4-FFF2-40B4-BE49-F238E27FC236}">
              <a16:creationId xmlns:a16="http://schemas.microsoft.com/office/drawing/2014/main" id="{2BD3BFD4-BE0A-136B-88C3-BFA33A7920CB}"/>
            </a:ext>
          </a:extLst>
        </p:cNvPr>
        <p:cNvGrpSpPr/>
        <p:nvPr/>
      </p:nvGrpSpPr>
      <p:grpSpPr>
        <a:xfrm>
          <a:off x="0" y="0"/>
          <a:ext cx="0" cy="0"/>
          <a:chOff x="0" y="0"/>
          <a:chExt cx="0" cy="0"/>
        </a:xfrm>
      </p:grpSpPr>
      <p:pic>
        <p:nvPicPr>
          <p:cNvPr id="4" name="!!BackGround">
            <a:extLst>
              <a:ext uri="{FF2B5EF4-FFF2-40B4-BE49-F238E27FC236}">
                <a16:creationId xmlns:a16="http://schemas.microsoft.com/office/drawing/2014/main" id="{2A4A4238-0504-D23D-BE73-FB036F6C20F5}"/>
              </a:ext>
            </a:extLst>
          </p:cNvPr>
          <p:cNvPicPr>
            <a:picLocks noChangeAspect="1"/>
          </p:cNvPicPr>
          <p:nvPr/>
        </p:nvPicPr>
        <p:blipFill>
          <a:blip r:embed="rId4">
            <a:alphaModFix/>
          </a:blip>
          <a:srcRect t="1532"/>
          <a:stretch>
            <a:fillRect/>
          </a:stretch>
        </p:blipFill>
        <p:spPr>
          <a:xfrm>
            <a:off x="-1828800" y="-515722"/>
            <a:ext cx="14020800" cy="7907732"/>
          </a:xfrm>
          <a:prstGeom prst="rect">
            <a:avLst/>
          </a:prstGeom>
        </p:spPr>
      </p:pic>
      <p:graphicFrame>
        <p:nvGraphicFramePr>
          <p:cNvPr id="10" name="Table 9">
            <a:extLst>
              <a:ext uri="{FF2B5EF4-FFF2-40B4-BE49-F238E27FC236}">
                <a16:creationId xmlns:a16="http://schemas.microsoft.com/office/drawing/2014/main" id="{ED625447-4F02-909F-C271-F0F281E4D72A}"/>
              </a:ext>
            </a:extLst>
          </p:cNvPr>
          <p:cNvGraphicFramePr>
            <a:graphicFrameLocks noGrp="1"/>
          </p:cNvGraphicFramePr>
          <p:nvPr>
            <p:extLst>
              <p:ext uri="{D42A27DB-BD31-4B8C-83A1-F6EECF244321}">
                <p14:modId xmlns:p14="http://schemas.microsoft.com/office/powerpoint/2010/main" val="3624038743"/>
              </p:ext>
            </p:extLst>
          </p:nvPr>
        </p:nvGraphicFramePr>
        <p:xfrm>
          <a:off x="-2819403" y="0"/>
          <a:ext cx="2819403" cy="6858000"/>
        </p:xfrm>
        <a:graphic>
          <a:graphicData uri="http://schemas.openxmlformats.org/drawingml/2006/table">
            <a:tbl>
              <a:tblPr firstRow="1" bandRow="1">
                <a:tableStyleId>{5C22544A-7EE6-4342-B048-85BDC9FD1C3A}</a:tableStyleId>
              </a:tblPr>
              <a:tblGrid>
                <a:gridCol w="313267">
                  <a:extLst>
                    <a:ext uri="{9D8B030D-6E8A-4147-A177-3AD203B41FA5}">
                      <a16:colId xmlns:a16="http://schemas.microsoft.com/office/drawing/2014/main" val="2519426978"/>
                    </a:ext>
                  </a:extLst>
                </a:gridCol>
                <a:gridCol w="313267">
                  <a:extLst>
                    <a:ext uri="{9D8B030D-6E8A-4147-A177-3AD203B41FA5}">
                      <a16:colId xmlns:a16="http://schemas.microsoft.com/office/drawing/2014/main" val="2654214106"/>
                    </a:ext>
                  </a:extLst>
                </a:gridCol>
                <a:gridCol w="313267">
                  <a:extLst>
                    <a:ext uri="{9D8B030D-6E8A-4147-A177-3AD203B41FA5}">
                      <a16:colId xmlns:a16="http://schemas.microsoft.com/office/drawing/2014/main" val="4017432569"/>
                    </a:ext>
                  </a:extLst>
                </a:gridCol>
                <a:gridCol w="313267">
                  <a:extLst>
                    <a:ext uri="{9D8B030D-6E8A-4147-A177-3AD203B41FA5}">
                      <a16:colId xmlns:a16="http://schemas.microsoft.com/office/drawing/2014/main" val="490655211"/>
                    </a:ext>
                  </a:extLst>
                </a:gridCol>
                <a:gridCol w="313267">
                  <a:extLst>
                    <a:ext uri="{9D8B030D-6E8A-4147-A177-3AD203B41FA5}">
                      <a16:colId xmlns:a16="http://schemas.microsoft.com/office/drawing/2014/main" val="937404553"/>
                    </a:ext>
                  </a:extLst>
                </a:gridCol>
                <a:gridCol w="313267">
                  <a:extLst>
                    <a:ext uri="{9D8B030D-6E8A-4147-A177-3AD203B41FA5}">
                      <a16:colId xmlns:a16="http://schemas.microsoft.com/office/drawing/2014/main" val="1333819258"/>
                    </a:ext>
                  </a:extLst>
                </a:gridCol>
                <a:gridCol w="313267">
                  <a:extLst>
                    <a:ext uri="{9D8B030D-6E8A-4147-A177-3AD203B41FA5}">
                      <a16:colId xmlns:a16="http://schemas.microsoft.com/office/drawing/2014/main" val="161208907"/>
                    </a:ext>
                  </a:extLst>
                </a:gridCol>
                <a:gridCol w="313267">
                  <a:extLst>
                    <a:ext uri="{9D8B030D-6E8A-4147-A177-3AD203B41FA5}">
                      <a16:colId xmlns:a16="http://schemas.microsoft.com/office/drawing/2014/main" val="3858095531"/>
                    </a:ext>
                  </a:extLst>
                </a:gridCol>
                <a:gridCol w="313267">
                  <a:extLst>
                    <a:ext uri="{9D8B030D-6E8A-4147-A177-3AD203B41FA5}">
                      <a16:colId xmlns:a16="http://schemas.microsoft.com/office/drawing/2014/main" val="290232393"/>
                    </a:ext>
                  </a:extLst>
                </a:gridCol>
              </a:tblGrid>
              <a:tr h="685800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8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7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6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5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4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3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2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1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683273024"/>
                  </a:ext>
                </a:extLst>
              </a:tr>
            </a:tbl>
          </a:graphicData>
        </a:graphic>
      </p:graphicFrame>
    </p:spTree>
    <p:extLst>
      <p:ext uri="{BB962C8B-B14F-4D97-AF65-F5344CB8AC3E}">
        <p14:creationId xmlns:p14="http://schemas.microsoft.com/office/powerpoint/2010/main" val="4174515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9000" b="-59000"/>
          </a:stretch>
        </a:blipFill>
        <a:effectLst/>
      </p:bgPr>
    </p:bg>
    <p:spTree>
      <p:nvGrpSpPr>
        <p:cNvPr id="1" name="">
          <a:extLst>
            <a:ext uri="{FF2B5EF4-FFF2-40B4-BE49-F238E27FC236}">
              <a16:creationId xmlns:a16="http://schemas.microsoft.com/office/drawing/2014/main" id="{C014A5E0-6F14-3E6A-47D9-045FF56CE192}"/>
            </a:ext>
          </a:extLst>
        </p:cNvPr>
        <p:cNvGrpSpPr/>
        <p:nvPr/>
      </p:nvGrpSpPr>
      <p:grpSpPr>
        <a:xfrm>
          <a:off x="0" y="0"/>
          <a:ext cx="0" cy="0"/>
          <a:chOff x="0" y="0"/>
          <a:chExt cx="0" cy="0"/>
        </a:xfrm>
      </p:grpSpPr>
      <p:pic>
        <p:nvPicPr>
          <p:cNvPr id="4" name="!!BackGround">
            <a:extLst>
              <a:ext uri="{FF2B5EF4-FFF2-40B4-BE49-F238E27FC236}">
                <a16:creationId xmlns:a16="http://schemas.microsoft.com/office/drawing/2014/main" id="{1AB41241-F521-D4F1-7729-524AAAC86A9E}"/>
              </a:ext>
            </a:extLst>
          </p:cNvPr>
          <p:cNvPicPr>
            <a:picLocks noChangeAspect="1"/>
          </p:cNvPicPr>
          <p:nvPr/>
        </p:nvPicPr>
        <p:blipFill>
          <a:blip r:embed="rId4">
            <a:alphaModFix/>
          </a:blip>
          <a:srcRect t="1532"/>
          <a:stretch>
            <a:fillRect/>
          </a:stretch>
        </p:blipFill>
        <p:spPr>
          <a:xfrm>
            <a:off x="0" y="0"/>
            <a:ext cx="12192000" cy="6876288"/>
          </a:xfrm>
          <a:prstGeom prst="rect">
            <a:avLst/>
          </a:prstGeom>
        </p:spPr>
      </p:pic>
      <p:graphicFrame>
        <p:nvGraphicFramePr>
          <p:cNvPr id="2" name="Table 1">
            <a:extLst>
              <a:ext uri="{FF2B5EF4-FFF2-40B4-BE49-F238E27FC236}">
                <a16:creationId xmlns:a16="http://schemas.microsoft.com/office/drawing/2014/main" id="{00A6805F-BA2E-15E3-E26B-421A7834B7E7}"/>
              </a:ext>
            </a:extLst>
          </p:cNvPr>
          <p:cNvGraphicFramePr>
            <a:graphicFrameLocks noGrp="1"/>
          </p:cNvGraphicFramePr>
          <p:nvPr>
            <p:extLst>
              <p:ext uri="{D42A27DB-BD31-4B8C-83A1-F6EECF244321}">
                <p14:modId xmlns:p14="http://schemas.microsoft.com/office/powerpoint/2010/main" val="2795673125"/>
              </p:ext>
            </p:extLst>
          </p:nvPr>
        </p:nvGraphicFramePr>
        <p:xfrm>
          <a:off x="0" y="0"/>
          <a:ext cx="12192003" cy="6858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519426978"/>
                    </a:ext>
                  </a:extLst>
                </a:gridCol>
                <a:gridCol w="1354667">
                  <a:extLst>
                    <a:ext uri="{9D8B030D-6E8A-4147-A177-3AD203B41FA5}">
                      <a16:colId xmlns:a16="http://schemas.microsoft.com/office/drawing/2014/main" val="2654214106"/>
                    </a:ext>
                  </a:extLst>
                </a:gridCol>
                <a:gridCol w="1354667">
                  <a:extLst>
                    <a:ext uri="{9D8B030D-6E8A-4147-A177-3AD203B41FA5}">
                      <a16:colId xmlns:a16="http://schemas.microsoft.com/office/drawing/2014/main" val="4017432569"/>
                    </a:ext>
                  </a:extLst>
                </a:gridCol>
                <a:gridCol w="1354667">
                  <a:extLst>
                    <a:ext uri="{9D8B030D-6E8A-4147-A177-3AD203B41FA5}">
                      <a16:colId xmlns:a16="http://schemas.microsoft.com/office/drawing/2014/main" val="490655211"/>
                    </a:ext>
                  </a:extLst>
                </a:gridCol>
                <a:gridCol w="1354667">
                  <a:extLst>
                    <a:ext uri="{9D8B030D-6E8A-4147-A177-3AD203B41FA5}">
                      <a16:colId xmlns:a16="http://schemas.microsoft.com/office/drawing/2014/main" val="937404553"/>
                    </a:ext>
                  </a:extLst>
                </a:gridCol>
                <a:gridCol w="1354667">
                  <a:extLst>
                    <a:ext uri="{9D8B030D-6E8A-4147-A177-3AD203B41FA5}">
                      <a16:colId xmlns:a16="http://schemas.microsoft.com/office/drawing/2014/main" val="1333819258"/>
                    </a:ext>
                  </a:extLst>
                </a:gridCol>
                <a:gridCol w="1354667">
                  <a:extLst>
                    <a:ext uri="{9D8B030D-6E8A-4147-A177-3AD203B41FA5}">
                      <a16:colId xmlns:a16="http://schemas.microsoft.com/office/drawing/2014/main" val="161208907"/>
                    </a:ext>
                  </a:extLst>
                </a:gridCol>
                <a:gridCol w="1354667">
                  <a:extLst>
                    <a:ext uri="{9D8B030D-6E8A-4147-A177-3AD203B41FA5}">
                      <a16:colId xmlns:a16="http://schemas.microsoft.com/office/drawing/2014/main" val="3858095531"/>
                    </a:ext>
                  </a:extLst>
                </a:gridCol>
                <a:gridCol w="1354667">
                  <a:extLst>
                    <a:ext uri="{9D8B030D-6E8A-4147-A177-3AD203B41FA5}">
                      <a16:colId xmlns:a16="http://schemas.microsoft.com/office/drawing/2014/main" val="290232393"/>
                    </a:ext>
                  </a:extLst>
                </a:gridCol>
              </a:tblGrid>
              <a:tr h="685800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8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7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6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5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4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3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2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1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683273024"/>
                  </a:ext>
                </a:extLst>
              </a:tr>
            </a:tbl>
          </a:graphicData>
        </a:graphic>
      </p:graphicFrame>
      <p:pic>
        <p:nvPicPr>
          <p:cNvPr id="3" name="Picture 2">
            <a:extLst>
              <a:ext uri="{FF2B5EF4-FFF2-40B4-BE49-F238E27FC236}">
                <a16:creationId xmlns:a16="http://schemas.microsoft.com/office/drawing/2014/main" id="{076994D8-C73C-6AF1-0776-DC8C87771C8D}"/>
              </a:ext>
            </a:extLst>
          </p:cNvPr>
          <p:cNvPicPr>
            <a:picLocks noChangeAspect="1"/>
          </p:cNvPicPr>
          <p:nvPr/>
        </p:nvPicPr>
        <p:blipFill>
          <a:blip r:embed="rId5"/>
          <a:stretch>
            <a:fillRect/>
          </a:stretch>
        </p:blipFill>
        <p:spPr>
          <a:xfrm>
            <a:off x="425824" y="397194"/>
            <a:ext cx="4090771" cy="1182727"/>
          </a:xfrm>
          <a:prstGeom prst="rect">
            <a:avLst/>
          </a:prstGeom>
        </p:spPr>
      </p:pic>
      <p:pic>
        <p:nvPicPr>
          <p:cNvPr id="5" name="Picture 4">
            <a:extLst>
              <a:ext uri="{FF2B5EF4-FFF2-40B4-BE49-F238E27FC236}">
                <a16:creationId xmlns:a16="http://schemas.microsoft.com/office/drawing/2014/main" id="{40B46FEA-9076-A7FF-ABA1-D33B8C5EA02E}"/>
              </a:ext>
            </a:extLst>
          </p:cNvPr>
          <p:cNvPicPr>
            <a:picLocks noChangeAspect="1"/>
          </p:cNvPicPr>
          <p:nvPr/>
        </p:nvPicPr>
        <p:blipFill>
          <a:blip r:embed="rId6"/>
          <a:stretch>
            <a:fillRect/>
          </a:stretch>
        </p:blipFill>
        <p:spPr>
          <a:xfrm>
            <a:off x="425823" y="1426494"/>
            <a:ext cx="11077392" cy="1072989"/>
          </a:xfrm>
          <a:prstGeom prst="rect">
            <a:avLst/>
          </a:prstGeom>
        </p:spPr>
      </p:pic>
      <p:pic>
        <p:nvPicPr>
          <p:cNvPr id="6" name="Picture 5">
            <a:extLst>
              <a:ext uri="{FF2B5EF4-FFF2-40B4-BE49-F238E27FC236}">
                <a16:creationId xmlns:a16="http://schemas.microsoft.com/office/drawing/2014/main" id="{E489CADA-A982-D36C-A07A-03DDED81AD98}"/>
              </a:ext>
            </a:extLst>
          </p:cNvPr>
          <p:cNvPicPr>
            <a:picLocks noChangeAspect="1"/>
          </p:cNvPicPr>
          <p:nvPr/>
        </p:nvPicPr>
        <p:blipFill>
          <a:blip r:embed="rId7"/>
          <a:stretch>
            <a:fillRect/>
          </a:stretch>
        </p:blipFill>
        <p:spPr>
          <a:xfrm>
            <a:off x="419602" y="2346056"/>
            <a:ext cx="11772396" cy="1182727"/>
          </a:xfrm>
          <a:prstGeom prst="rect">
            <a:avLst/>
          </a:prstGeom>
        </p:spPr>
      </p:pic>
      <p:pic>
        <p:nvPicPr>
          <p:cNvPr id="7" name="Picture 6">
            <a:extLst>
              <a:ext uri="{FF2B5EF4-FFF2-40B4-BE49-F238E27FC236}">
                <a16:creationId xmlns:a16="http://schemas.microsoft.com/office/drawing/2014/main" id="{CE346AA9-5661-1D42-D72A-5A581B26B46F}"/>
              </a:ext>
            </a:extLst>
          </p:cNvPr>
          <p:cNvPicPr>
            <a:picLocks noChangeAspect="1"/>
          </p:cNvPicPr>
          <p:nvPr/>
        </p:nvPicPr>
        <p:blipFill>
          <a:blip r:embed="rId8"/>
          <a:stretch>
            <a:fillRect/>
          </a:stretch>
        </p:blipFill>
        <p:spPr>
          <a:xfrm>
            <a:off x="447857" y="3375356"/>
            <a:ext cx="11077392" cy="1072989"/>
          </a:xfrm>
          <a:prstGeom prst="rect">
            <a:avLst/>
          </a:prstGeom>
        </p:spPr>
      </p:pic>
      <p:pic>
        <p:nvPicPr>
          <p:cNvPr id="8" name="Picture 7">
            <a:extLst>
              <a:ext uri="{FF2B5EF4-FFF2-40B4-BE49-F238E27FC236}">
                <a16:creationId xmlns:a16="http://schemas.microsoft.com/office/drawing/2014/main" id="{5AC7989C-280D-E614-790E-09BFAA527A70}"/>
              </a:ext>
            </a:extLst>
          </p:cNvPr>
          <p:cNvPicPr>
            <a:picLocks noChangeAspect="1"/>
          </p:cNvPicPr>
          <p:nvPr/>
        </p:nvPicPr>
        <p:blipFill>
          <a:blip r:embed="rId9"/>
          <a:stretch>
            <a:fillRect/>
          </a:stretch>
        </p:blipFill>
        <p:spPr>
          <a:xfrm>
            <a:off x="425823" y="4294918"/>
            <a:ext cx="11077392" cy="1072989"/>
          </a:xfrm>
          <a:prstGeom prst="rect">
            <a:avLst/>
          </a:prstGeom>
        </p:spPr>
      </p:pic>
      <p:pic>
        <p:nvPicPr>
          <p:cNvPr id="9" name="Picture 8">
            <a:extLst>
              <a:ext uri="{FF2B5EF4-FFF2-40B4-BE49-F238E27FC236}">
                <a16:creationId xmlns:a16="http://schemas.microsoft.com/office/drawing/2014/main" id="{647FB664-EC79-210D-AAFA-CD816E5039CA}"/>
              </a:ext>
            </a:extLst>
          </p:cNvPr>
          <p:cNvPicPr>
            <a:picLocks noChangeAspect="1"/>
          </p:cNvPicPr>
          <p:nvPr/>
        </p:nvPicPr>
        <p:blipFill>
          <a:blip r:embed="rId10"/>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3678575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DC1ABD1C-4AC6-48DB-66AC-5890F586A4E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09E03EE2-1351-B1C2-7076-574C32A852E7}"/>
              </a:ext>
            </a:extLst>
          </p:cNvPr>
          <p:cNvPicPr>
            <a:picLocks noChangeAspect="1"/>
          </p:cNvPicPr>
          <p:nvPr/>
        </p:nvPicPr>
        <p:blipFill>
          <a:blip r:embed="rId3">
            <a:alphaModFix amt="35000"/>
          </a:blip>
          <a:stretch>
            <a:fillRect/>
          </a:stretch>
        </p:blipFill>
        <p:spPr>
          <a:xfrm>
            <a:off x="-1005319" y="0"/>
            <a:ext cx="14202638" cy="7924802"/>
          </a:xfrm>
          <a:prstGeom prst="rect">
            <a:avLst/>
          </a:prstGeom>
        </p:spPr>
      </p:pic>
      <p:pic>
        <p:nvPicPr>
          <p:cNvPr id="38" name="Picture 37">
            <a:extLst>
              <a:ext uri="{FF2B5EF4-FFF2-40B4-BE49-F238E27FC236}">
                <a16:creationId xmlns:a16="http://schemas.microsoft.com/office/drawing/2014/main" id="{41306CEB-EAC3-8F62-D87C-60D11C3D293F}"/>
              </a:ext>
            </a:extLst>
          </p:cNvPr>
          <p:cNvPicPr>
            <a:picLocks noChangeAspect="1"/>
          </p:cNvPicPr>
          <p:nvPr/>
        </p:nvPicPr>
        <p:blipFill>
          <a:blip r:embed="rId4"/>
          <a:stretch>
            <a:fillRect/>
          </a:stretch>
        </p:blipFill>
        <p:spPr>
          <a:xfrm>
            <a:off x="-55506852" y="-16370493"/>
            <a:ext cx="165603389" cy="47879385"/>
          </a:xfrm>
          <a:prstGeom prst="rect">
            <a:avLst/>
          </a:prstGeom>
        </p:spPr>
      </p:pic>
      <p:pic>
        <p:nvPicPr>
          <p:cNvPr id="40" name="Picture 39">
            <a:extLst>
              <a:ext uri="{FF2B5EF4-FFF2-40B4-BE49-F238E27FC236}">
                <a16:creationId xmlns:a16="http://schemas.microsoft.com/office/drawing/2014/main" id="{8037B164-7DDA-172A-48E8-9F0D3481E5C6}"/>
              </a:ext>
            </a:extLst>
          </p:cNvPr>
          <p:cNvPicPr>
            <a:picLocks noChangeAspect="1"/>
          </p:cNvPicPr>
          <p:nvPr/>
        </p:nvPicPr>
        <p:blipFill>
          <a:blip r:embed="rId5"/>
          <a:stretch>
            <a:fillRect/>
          </a:stretch>
        </p:blipFill>
        <p:spPr>
          <a:xfrm>
            <a:off x="425823" y="21644894"/>
            <a:ext cx="11077392" cy="1072989"/>
          </a:xfrm>
          <a:prstGeom prst="rect">
            <a:avLst/>
          </a:prstGeom>
        </p:spPr>
      </p:pic>
      <p:pic>
        <p:nvPicPr>
          <p:cNvPr id="42" name="Picture 41">
            <a:extLst>
              <a:ext uri="{FF2B5EF4-FFF2-40B4-BE49-F238E27FC236}">
                <a16:creationId xmlns:a16="http://schemas.microsoft.com/office/drawing/2014/main" id="{27593684-CBFB-CD0A-24EF-72E6FD80F792}"/>
              </a:ext>
            </a:extLst>
          </p:cNvPr>
          <p:cNvPicPr>
            <a:picLocks noChangeAspect="1"/>
          </p:cNvPicPr>
          <p:nvPr/>
        </p:nvPicPr>
        <p:blipFill>
          <a:blip r:embed="rId6"/>
          <a:stretch>
            <a:fillRect/>
          </a:stretch>
        </p:blipFill>
        <p:spPr>
          <a:xfrm>
            <a:off x="419602" y="22564456"/>
            <a:ext cx="11772396" cy="1182727"/>
          </a:xfrm>
          <a:prstGeom prst="rect">
            <a:avLst/>
          </a:prstGeom>
        </p:spPr>
      </p:pic>
      <p:pic>
        <p:nvPicPr>
          <p:cNvPr id="44" name="Picture 43">
            <a:extLst>
              <a:ext uri="{FF2B5EF4-FFF2-40B4-BE49-F238E27FC236}">
                <a16:creationId xmlns:a16="http://schemas.microsoft.com/office/drawing/2014/main" id="{C729FCB8-09BE-83AB-A94E-2DADA09D8888}"/>
              </a:ext>
            </a:extLst>
          </p:cNvPr>
          <p:cNvPicPr>
            <a:picLocks noChangeAspect="1"/>
          </p:cNvPicPr>
          <p:nvPr/>
        </p:nvPicPr>
        <p:blipFill>
          <a:blip r:embed="rId7"/>
          <a:stretch>
            <a:fillRect/>
          </a:stretch>
        </p:blipFill>
        <p:spPr>
          <a:xfrm>
            <a:off x="447857" y="23593756"/>
            <a:ext cx="11077392" cy="1072989"/>
          </a:xfrm>
          <a:prstGeom prst="rect">
            <a:avLst/>
          </a:prstGeom>
        </p:spPr>
      </p:pic>
      <p:pic>
        <p:nvPicPr>
          <p:cNvPr id="46" name="Picture 45">
            <a:extLst>
              <a:ext uri="{FF2B5EF4-FFF2-40B4-BE49-F238E27FC236}">
                <a16:creationId xmlns:a16="http://schemas.microsoft.com/office/drawing/2014/main" id="{5DFFE46D-5636-5C40-6EF1-2DD5EC668CA1}"/>
              </a:ext>
            </a:extLst>
          </p:cNvPr>
          <p:cNvPicPr>
            <a:picLocks noChangeAspect="1"/>
          </p:cNvPicPr>
          <p:nvPr/>
        </p:nvPicPr>
        <p:blipFill>
          <a:blip r:embed="rId8"/>
          <a:stretch>
            <a:fillRect/>
          </a:stretch>
        </p:blipFill>
        <p:spPr>
          <a:xfrm>
            <a:off x="425823" y="24513318"/>
            <a:ext cx="11077392" cy="1072989"/>
          </a:xfrm>
          <a:prstGeom prst="rect">
            <a:avLst/>
          </a:prstGeom>
        </p:spPr>
      </p:pic>
      <p:pic>
        <p:nvPicPr>
          <p:cNvPr id="48" name="Picture 47">
            <a:extLst>
              <a:ext uri="{FF2B5EF4-FFF2-40B4-BE49-F238E27FC236}">
                <a16:creationId xmlns:a16="http://schemas.microsoft.com/office/drawing/2014/main" id="{12BABC5A-1FB9-4B9C-1F05-2FB3D99C0DAE}"/>
              </a:ext>
            </a:extLst>
          </p:cNvPr>
          <p:cNvPicPr>
            <a:picLocks noChangeAspect="1"/>
          </p:cNvPicPr>
          <p:nvPr/>
        </p:nvPicPr>
        <p:blipFill>
          <a:blip r:embed="rId9"/>
          <a:stretch>
            <a:fillRect/>
          </a:stretch>
        </p:blipFill>
        <p:spPr>
          <a:xfrm>
            <a:off x="403789" y="25432881"/>
            <a:ext cx="11077392" cy="1072989"/>
          </a:xfrm>
          <a:prstGeom prst="rect">
            <a:avLst/>
          </a:prstGeom>
        </p:spPr>
      </p:pic>
      <p:pic>
        <p:nvPicPr>
          <p:cNvPr id="4" name="power bi back">
            <a:extLst>
              <a:ext uri="{FF2B5EF4-FFF2-40B4-BE49-F238E27FC236}">
                <a16:creationId xmlns:a16="http://schemas.microsoft.com/office/drawing/2014/main" id="{FE14898F-033E-C90A-73DC-E22E1E6F440D}"/>
              </a:ext>
            </a:extLst>
          </p:cNvPr>
          <p:cNvPicPr>
            <a:picLocks noChangeAspect="1"/>
          </p:cNvPicPr>
          <p:nvPr/>
        </p:nvPicPr>
        <p:blipFill>
          <a:blip r:embed="rId10"/>
          <a:stretch>
            <a:fillRect/>
          </a:stretch>
        </p:blipFill>
        <p:spPr>
          <a:xfrm rot="848874">
            <a:off x="4974239" y="-5461398"/>
            <a:ext cx="2243522" cy="3340898"/>
          </a:xfrm>
          <a:prstGeom prst="rect">
            <a:avLst/>
          </a:prstGeom>
          <a:scene3d>
            <a:camera prst="perspectiveFront">
              <a:rot lat="0" lon="0" rev="0"/>
            </a:camera>
            <a:lightRig rig="threePt" dir="t"/>
          </a:scene3d>
        </p:spPr>
      </p:pic>
      <p:pic>
        <p:nvPicPr>
          <p:cNvPr id="5" name="power bi">
            <a:extLst>
              <a:ext uri="{FF2B5EF4-FFF2-40B4-BE49-F238E27FC236}">
                <a16:creationId xmlns:a16="http://schemas.microsoft.com/office/drawing/2014/main" id="{912C9C55-D208-BFCA-3C44-7D321716BA8C}"/>
              </a:ext>
            </a:extLst>
          </p:cNvPr>
          <p:cNvPicPr>
            <a:picLocks noChangeAspect="1"/>
          </p:cNvPicPr>
          <p:nvPr/>
        </p:nvPicPr>
        <p:blipFill>
          <a:blip r:embed="rId11"/>
          <a:stretch>
            <a:fillRect/>
          </a:stretch>
        </p:blipFill>
        <p:spPr>
          <a:xfrm rot="848874">
            <a:off x="4977287" y="-5461398"/>
            <a:ext cx="2237426" cy="3340898"/>
          </a:xfrm>
          <a:prstGeom prst="rect">
            <a:avLst/>
          </a:prstGeom>
          <a:scene3d>
            <a:camera prst="perspectiveFront"/>
            <a:lightRig rig="threePt" dir="t"/>
          </a:scene3d>
        </p:spPr>
      </p:pic>
      <p:pic>
        <p:nvPicPr>
          <p:cNvPr id="7" name="Tableau back">
            <a:extLst>
              <a:ext uri="{FF2B5EF4-FFF2-40B4-BE49-F238E27FC236}">
                <a16:creationId xmlns:a16="http://schemas.microsoft.com/office/drawing/2014/main" id="{785950FF-3E75-DCCC-B09D-936F171A6350}"/>
              </a:ext>
            </a:extLst>
          </p:cNvPr>
          <p:cNvPicPr>
            <a:picLocks noChangeAspect="1"/>
          </p:cNvPicPr>
          <p:nvPr/>
        </p:nvPicPr>
        <p:blipFill>
          <a:blip r:embed="rId12"/>
          <a:stretch>
            <a:fillRect/>
          </a:stretch>
        </p:blipFill>
        <p:spPr>
          <a:xfrm rot="21293486">
            <a:off x="4980336" y="-5458349"/>
            <a:ext cx="2231329" cy="3334801"/>
          </a:xfrm>
          <a:prstGeom prst="rect">
            <a:avLst/>
          </a:prstGeom>
          <a:scene3d>
            <a:camera prst="perspectiveFront">
              <a:rot lat="0" lon="0" rev="0"/>
            </a:camera>
            <a:lightRig rig="threePt" dir="t"/>
          </a:scene3d>
        </p:spPr>
      </p:pic>
      <p:pic>
        <p:nvPicPr>
          <p:cNvPr id="8" name="Tableau">
            <a:extLst>
              <a:ext uri="{FF2B5EF4-FFF2-40B4-BE49-F238E27FC236}">
                <a16:creationId xmlns:a16="http://schemas.microsoft.com/office/drawing/2014/main" id="{D9DB68ED-0A38-A419-E751-FA5A61D10455}"/>
              </a:ext>
            </a:extLst>
          </p:cNvPr>
          <p:cNvPicPr>
            <a:picLocks noChangeAspect="1"/>
          </p:cNvPicPr>
          <p:nvPr/>
        </p:nvPicPr>
        <p:blipFill>
          <a:blip r:embed="rId13"/>
          <a:stretch>
            <a:fillRect/>
          </a:stretch>
        </p:blipFill>
        <p:spPr>
          <a:xfrm rot="21293486">
            <a:off x="4980336" y="-5458349"/>
            <a:ext cx="2231329" cy="3334801"/>
          </a:xfrm>
          <a:prstGeom prst="rect">
            <a:avLst/>
          </a:prstGeom>
          <a:scene3d>
            <a:camera prst="perspectiveFront"/>
            <a:lightRig rig="threePt" dir="t"/>
          </a:scene3d>
        </p:spPr>
      </p:pic>
      <p:pic>
        <p:nvPicPr>
          <p:cNvPr id="9" name="Python back">
            <a:extLst>
              <a:ext uri="{FF2B5EF4-FFF2-40B4-BE49-F238E27FC236}">
                <a16:creationId xmlns:a16="http://schemas.microsoft.com/office/drawing/2014/main" id="{8402CF27-E3AC-F4C1-6904-64E279D875B1}"/>
              </a:ext>
            </a:extLst>
          </p:cNvPr>
          <p:cNvPicPr>
            <a:picLocks noChangeAspect="1"/>
          </p:cNvPicPr>
          <p:nvPr/>
        </p:nvPicPr>
        <p:blipFill>
          <a:blip r:embed="rId14"/>
          <a:stretch>
            <a:fillRect/>
          </a:stretch>
        </p:blipFill>
        <p:spPr>
          <a:xfrm rot="203679">
            <a:off x="4980336" y="-5458349"/>
            <a:ext cx="2231329" cy="3334801"/>
          </a:xfrm>
          <a:prstGeom prst="rect">
            <a:avLst/>
          </a:prstGeom>
          <a:scene3d>
            <a:camera prst="perspectiveFront">
              <a:rot lat="0" lon="0" rev="0"/>
            </a:camera>
            <a:lightRig rig="threePt" dir="t"/>
          </a:scene3d>
        </p:spPr>
      </p:pic>
      <p:pic>
        <p:nvPicPr>
          <p:cNvPr id="10" name="Python">
            <a:extLst>
              <a:ext uri="{FF2B5EF4-FFF2-40B4-BE49-F238E27FC236}">
                <a16:creationId xmlns:a16="http://schemas.microsoft.com/office/drawing/2014/main" id="{0C318BEF-D426-E61D-4542-4BC5EBE751A0}"/>
              </a:ext>
            </a:extLst>
          </p:cNvPr>
          <p:cNvPicPr>
            <a:picLocks noChangeAspect="1"/>
          </p:cNvPicPr>
          <p:nvPr/>
        </p:nvPicPr>
        <p:blipFill>
          <a:blip r:embed="rId15"/>
          <a:stretch>
            <a:fillRect/>
          </a:stretch>
        </p:blipFill>
        <p:spPr>
          <a:xfrm rot="203679">
            <a:off x="4980336" y="-5458349"/>
            <a:ext cx="2231329" cy="3334801"/>
          </a:xfrm>
          <a:prstGeom prst="rect">
            <a:avLst/>
          </a:prstGeom>
          <a:scene3d>
            <a:camera prst="perspectiveFront"/>
            <a:lightRig rig="threePt" dir="t"/>
          </a:scene3d>
        </p:spPr>
      </p:pic>
      <p:pic>
        <p:nvPicPr>
          <p:cNvPr id="11" name="SQL BACK">
            <a:extLst>
              <a:ext uri="{FF2B5EF4-FFF2-40B4-BE49-F238E27FC236}">
                <a16:creationId xmlns:a16="http://schemas.microsoft.com/office/drawing/2014/main" id="{BA90CC18-EC73-87A9-C444-649FD011757C}"/>
              </a:ext>
            </a:extLst>
          </p:cNvPr>
          <p:cNvPicPr>
            <a:picLocks noChangeAspect="1"/>
          </p:cNvPicPr>
          <p:nvPr/>
        </p:nvPicPr>
        <p:blipFill>
          <a:blip r:embed="rId16"/>
          <a:stretch>
            <a:fillRect/>
          </a:stretch>
        </p:blipFill>
        <p:spPr>
          <a:xfrm rot="21169168">
            <a:off x="4977287" y="-5461398"/>
            <a:ext cx="2237426" cy="3340898"/>
          </a:xfrm>
          <a:prstGeom prst="rect">
            <a:avLst/>
          </a:prstGeom>
          <a:scene3d>
            <a:camera prst="perspectiveFront">
              <a:rot lat="0" lon="0" rev="0"/>
            </a:camera>
            <a:lightRig rig="threePt" dir="t"/>
          </a:scene3d>
        </p:spPr>
      </p:pic>
      <p:pic>
        <p:nvPicPr>
          <p:cNvPr id="13" name="SQL">
            <a:extLst>
              <a:ext uri="{FF2B5EF4-FFF2-40B4-BE49-F238E27FC236}">
                <a16:creationId xmlns:a16="http://schemas.microsoft.com/office/drawing/2014/main" id="{AB623A1C-A1FB-F837-7B79-3211E6FD2EEF}"/>
              </a:ext>
            </a:extLst>
          </p:cNvPr>
          <p:cNvPicPr>
            <a:picLocks noChangeAspect="1"/>
          </p:cNvPicPr>
          <p:nvPr/>
        </p:nvPicPr>
        <p:blipFill>
          <a:blip r:embed="rId17"/>
          <a:stretch>
            <a:fillRect/>
          </a:stretch>
        </p:blipFill>
        <p:spPr>
          <a:xfrm rot="21169168">
            <a:off x="4980336" y="-5461398"/>
            <a:ext cx="2231329" cy="3340898"/>
          </a:xfrm>
          <a:prstGeom prst="rect">
            <a:avLst/>
          </a:prstGeom>
          <a:scene3d>
            <a:camera prst="perspectiveFront"/>
            <a:lightRig rig="threePt" dir="t"/>
          </a:scene3d>
        </p:spPr>
      </p:pic>
      <p:pic>
        <p:nvPicPr>
          <p:cNvPr id="14" name="excel back">
            <a:extLst>
              <a:ext uri="{FF2B5EF4-FFF2-40B4-BE49-F238E27FC236}">
                <a16:creationId xmlns:a16="http://schemas.microsoft.com/office/drawing/2014/main" id="{2BC5D150-2F2D-EEEC-8288-45E36A44998B}"/>
              </a:ext>
            </a:extLst>
          </p:cNvPr>
          <p:cNvPicPr>
            <a:picLocks noChangeAspect="1"/>
          </p:cNvPicPr>
          <p:nvPr/>
        </p:nvPicPr>
        <p:blipFill>
          <a:blip r:embed="rId18"/>
          <a:stretch>
            <a:fillRect/>
          </a:stretch>
        </p:blipFill>
        <p:spPr>
          <a:xfrm rot="335204">
            <a:off x="4980336" y="-5458349"/>
            <a:ext cx="2231329" cy="3334801"/>
          </a:xfrm>
          <a:prstGeom prst="rect">
            <a:avLst/>
          </a:prstGeom>
          <a:scene3d>
            <a:camera prst="perspectiveFront">
              <a:rot lat="0" lon="0" rev="0"/>
            </a:camera>
            <a:lightRig rig="threePt" dir="t"/>
          </a:scene3d>
        </p:spPr>
      </p:pic>
      <p:pic>
        <p:nvPicPr>
          <p:cNvPr id="15" name="excel">
            <a:extLst>
              <a:ext uri="{FF2B5EF4-FFF2-40B4-BE49-F238E27FC236}">
                <a16:creationId xmlns:a16="http://schemas.microsoft.com/office/drawing/2014/main" id="{27B18EB8-3172-2349-EDE4-AFDC49E73540}"/>
              </a:ext>
            </a:extLst>
          </p:cNvPr>
          <p:cNvPicPr>
            <a:picLocks noChangeAspect="1"/>
          </p:cNvPicPr>
          <p:nvPr/>
        </p:nvPicPr>
        <p:blipFill>
          <a:blip r:embed="rId19"/>
          <a:stretch>
            <a:fillRect/>
          </a:stretch>
        </p:blipFill>
        <p:spPr>
          <a:xfrm rot="335204">
            <a:off x="4980336" y="-5458349"/>
            <a:ext cx="2231329" cy="3334801"/>
          </a:xfrm>
          <a:prstGeom prst="rect">
            <a:avLst/>
          </a:prstGeom>
          <a:scene3d>
            <a:camera prst="perspectiveFront"/>
            <a:lightRig rig="threePt" dir="t"/>
          </a:scene3d>
        </p:spPr>
      </p:pic>
      <p:sp>
        <p:nvSpPr>
          <p:cNvPr id="16" name="TextBox 15">
            <a:extLst>
              <a:ext uri="{FF2B5EF4-FFF2-40B4-BE49-F238E27FC236}">
                <a16:creationId xmlns:a16="http://schemas.microsoft.com/office/drawing/2014/main" id="{A24618AA-E68D-F265-A8C3-36D957E7DD3E}"/>
              </a:ext>
            </a:extLst>
          </p:cNvPr>
          <p:cNvSpPr txBox="1"/>
          <p:nvPr/>
        </p:nvSpPr>
        <p:spPr>
          <a:xfrm>
            <a:off x="2462212" y="8169729"/>
            <a:ext cx="7267576" cy="707886"/>
          </a:xfrm>
          <a:prstGeom prst="rect">
            <a:avLst/>
          </a:prstGeom>
          <a:noFill/>
        </p:spPr>
        <p:txBody>
          <a:bodyPr wrap="square" rtlCol="0">
            <a:spAutoFit/>
          </a:bodyPr>
          <a:lstStyle/>
          <a:p>
            <a:r>
              <a:rPr lang="en-US" sz="4000" b="1" dirty="0">
                <a:latin typeface="Algerian" panose="04020705040A02060702" pitchFamily="82" charset="0"/>
              </a:rPr>
              <a:t>USED TOOLS OF THIS PROJECT</a:t>
            </a:r>
          </a:p>
        </p:txBody>
      </p:sp>
      <p:pic>
        <p:nvPicPr>
          <p:cNvPr id="6" name="Picture 5">
            <a:extLst>
              <a:ext uri="{FF2B5EF4-FFF2-40B4-BE49-F238E27FC236}">
                <a16:creationId xmlns:a16="http://schemas.microsoft.com/office/drawing/2014/main" id="{B07908BF-F51A-1533-4C6E-4C21EF52347C}"/>
              </a:ext>
            </a:extLst>
          </p:cNvPr>
          <p:cNvPicPr>
            <a:picLocks noChangeAspect="1"/>
          </p:cNvPicPr>
          <p:nvPr/>
        </p:nvPicPr>
        <p:blipFill>
          <a:blip r:embed="rId20">
            <a:alphaModFix amt="50000"/>
            <a:extLst>
              <a:ext uri="{BEBA8EAE-BF5A-486C-A8C5-ECC9F3942E4B}">
                <a14:imgProps xmlns:a14="http://schemas.microsoft.com/office/drawing/2010/main">
                  <a14:imgLayer r:embed="rId21">
                    <a14:imgEffect>
                      <a14:backgroundRemoval t="9914" b="89978" l="9821" r="90000">
                        <a14:foregroundMark x1="9821" y1="42026" x2="9821" y2="42026"/>
                        <a14:foregroundMark x1="56339" y1="32974" x2="56339" y2="32974"/>
                      </a14:backgroundRemoval>
                    </a14:imgEffect>
                    <a14:imgEffect>
                      <a14:colorTemperature colorTemp="5300"/>
                    </a14:imgEffect>
                  </a14:imgLayer>
                </a14:imgProps>
              </a:ext>
              <a:ext uri="{28A0092B-C50C-407E-A947-70E740481C1C}">
                <a14:useLocalDpi xmlns:a14="http://schemas.microsoft.com/office/drawing/2010/main" val="0"/>
              </a:ext>
            </a:extLst>
          </a:blip>
          <a:stretch>
            <a:fillRect/>
          </a:stretch>
        </p:blipFill>
        <p:spPr>
          <a:xfrm>
            <a:off x="447858" y="-1250889"/>
            <a:ext cx="11296284" cy="9359778"/>
          </a:xfrm>
          <a:prstGeom prst="rect">
            <a:avLst/>
          </a:prstGeom>
        </p:spPr>
      </p:pic>
      <p:sp>
        <p:nvSpPr>
          <p:cNvPr id="2" name="TextBox 1">
            <a:extLst>
              <a:ext uri="{FF2B5EF4-FFF2-40B4-BE49-F238E27FC236}">
                <a16:creationId xmlns:a16="http://schemas.microsoft.com/office/drawing/2014/main" id="{5A6C5F4E-4563-8B73-EA01-F8B8886DC997}"/>
              </a:ext>
            </a:extLst>
          </p:cNvPr>
          <p:cNvSpPr txBox="1"/>
          <p:nvPr/>
        </p:nvSpPr>
        <p:spPr>
          <a:xfrm>
            <a:off x="701675" y="2644170"/>
            <a:ext cx="10788650" cy="1569660"/>
          </a:xfrm>
          <a:prstGeom prst="rect">
            <a:avLst/>
          </a:prstGeom>
          <a:noFill/>
        </p:spPr>
        <p:txBody>
          <a:bodyPr wrap="square" rtlCol="0">
            <a:spAutoFit/>
          </a:bodyPr>
          <a:lstStyle/>
          <a:p>
            <a:pPr algn="ctr"/>
            <a:r>
              <a:rPr lang="en-US" sz="9600" b="1" dirty="0">
                <a:latin typeface="Avenir Next LT Pro" panose="020B0504020202020204" pitchFamily="34" charset="0"/>
              </a:rPr>
              <a:t>INTRODUCTION</a:t>
            </a:r>
          </a:p>
        </p:txBody>
      </p:sp>
    </p:spTree>
    <p:extLst>
      <p:ext uri="{BB962C8B-B14F-4D97-AF65-F5344CB8AC3E}">
        <p14:creationId xmlns:p14="http://schemas.microsoft.com/office/powerpoint/2010/main" val="15065193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53" presetClass="exit" presetSubtype="32" fill="hold" grpId="1" nodeType="withEffect">
                                  <p:stCondLst>
                                    <p:cond delay="2000"/>
                                  </p:stCondLst>
                                  <p:childTnLst>
                                    <p:anim calcmode="lin" valueType="num">
                                      <p:cBhvr>
                                        <p:cTn id="9" dur="500"/>
                                        <p:tgtEl>
                                          <p:spTgt spid="2"/>
                                        </p:tgtEl>
                                        <p:attrNameLst>
                                          <p:attrName>ppt_w</p:attrName>
                                        </p:attrNameLst>
                                      </p:cBhvr>
                                      <p:tavLst>
                                        <p:tav tm="0">
                                          <p:val>
                                            <p:strVal val="ppt_w"/>
                                          </p:val>
                                        </p:tav>
                                        <p:tav tm="100000">
                                          <p:val>
                                            <p:fltVal val="0"/>
                                          </p:val>
                                        </p:tav>
                                      </p:tavLst>
                                    </p:anim>
                                    <p:anim calcmode="lin" valueType="num">
                                      <p:cBhvr>
                                        <p:cTn id="10" dur="500"/>
                                        <p:tgtEl>
                                          <p:spTgt spid="2"/>
                                        </p:tgtEl>
                                        <p:attrNameLst>
                                          <p:attrName>ppt_h</p:attrName>
                                        </p:attrNameLst>
                                      </p:cBhvr>
                                      <p:tavLst>
                                        <p:tav tm="0">
                                          <p:val>
                                            <p:strVal val="ppt_h"/>
                                          </p:val>
                                        </p:tav>
                                        <p:tav tm="100000">
                                          <p:val>
                                            <p:fltVal val="0"/>
                                          </p:val>
                                        </p:tav>
                                      </p:tavLst>
                                    </p:anim>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53" presetClass="exit" presetSubtype="32" fill="hold" nodeType="withEffect">
                                  <p:stCondLst>
                                    <p:cond delay="2000"/>
                                  </p:stCondLst>
                                  <p:childTnLst>
                                    <p:anim calcmode="lin" valueType="num">
                                      <p:cBhvr>
                                        <p:cTn id="17" dur="500"/>
                                        <p:tgtEl>
                                          <p:spTgt spid="6"/>
                                        </p:tgtEl>
                                        <p:attrNameLst>
                                          <p:attrName>ppt_w</p:attrName>
                                        </p:attrNameLst>
                                      </p:cBhvr>
                                      <p:tavLst>
                                        <p:tav tm="0">
                                          <p:val>
                                            <p:strVal val="ppt_w"/>
                                          </p:val>
                                        </p:tav>
                                        <p:tav tm="100000">
                                          <p:val>
                                            <p:fltVal val="0"/>
                                          </p:val>
                                        </p:tav>
                                      </p:tavLst>
                                    </p:anim>
                                    <p:anim calcmode="lin" valueType="num">
                                      <p:cBhvr>
                                        <p:cTn id="18" dur="500"/>
                                        <p:tgtEl>
                                          <p:spTgt spid="6"/>
                                        </p:tgtEl>
                                        <p:attrNameLst>
                                          <p:attrName>ppt_h</p:attrName>
                                        </p:attrNameLst>
                                      </p:cBhvr>
                                      <p:tavLst>
                                        <p:tav tm="0">
                                          <p:val>
                                            <p:strVal val="ppt_h"/>
                                          </p:val>
                                        </p:tav>
                                        <p:tav tm="100000">
                                          <p:val>
                                            <p:fltVal val="0"/>
                                          </p:val>
                                        </p:tav>
                                      </p:tavLst>
                                    </p:anim>
                                    <p:animEffect transition="out" filter="fad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837E371D-A28F-2994-F9B0-65715BC407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64594E-1BBC-3E06-1184-B2DF2BF6135D}"/>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FD656AB1-85CF-5EC1-28D2-921B91A9B5A8}"/>
              </a:ext>
            </a:extLst>
          </p:cNvPr>
          <p:cNvPicPr>
            <a:picLocks noChangeAspect="1"/>
          </p:cNvPicPr>
          <p:nvPr/>
        </p:nvPicPr>
        <p:blipFill>
          <a:blip r:embed="rId4"/>
          <a:stretch>
            <a:fillRect/>
          </a:stretch>
        </p:blipFill>
        <p:spPr>
          <a:xfrm rot="848874">
            <a:off x="4974239" y="5774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F3EE8B48-8303-4EB8-FB98-F39911E03750}"/>
              </a:ext>
            </a:extLst>
          </p:cNvPr>
          <p:cNvPicPr>
            <a:picLocks noChangeAspect="1"/>
          </p:cNvPicPr>
          <p:nvPr/>
        </p:nvPicPr>
        <p:blipFill>
          <a:blip r:embed="rId5"/>
          <a:stretch>
            <a:fillRect/>
          </a:stretch>
        </p:blipFill>
        <p:spPr>
          <a:xfrm rot="848874">
            <a:off x="4977287" y="5774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85251F08-01E6-64FC-0280-52D1B0B53A00}"/>
              </a:ext>
            </a:extLst>
          </p:cNvPr>
          <p:cNvPicPr>
            <a:picLocks noChangeAspect="1"/>
          </p:cNvPicPr>
          <p:nvPr/>
        </p:nvPicPr>
        <p:blipFill>
          <a:blip r:embed="rId6"/>
          <a:stretch>
            <a:fillRect/>
          </a:stretch>
        </p:blipFill>
        <p:spPr>
          <a:xfrm rot="21293486">
            <a:off x="4980336" y="5805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7603A596-162B-209B-4F68-555A80F40EA7}"/>
              </a:ext>
            </a:extLst>
          </p:cNvPr>
          <p:cNvPicPr>
            <a:picLocks noChangeAspect="1"/>
          </p:cNvPicPr>
          <p:nvPr/>
        </p:nvPicPr>
        <p:blipFill>
          <a:blip r:embed="rId7"/>
          <a:stretch>
            <a:fillRect/>
          </a:stretch>
        </p:blipFill>
        <p:spPr>
          <a:xfrm rot="21293486">
            <a:off x="4980336" y="580500"/>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EFBBCEF2-D9E9-35FF-07B0-AAF1D6B464BD}"/>
              </a:ext>
            </a:extLst>
          </p:cNvPr>
          <p:cNvPicPr>
            <a:picLocks noChangeAspect="1"/>
          </p:cNvPicPr>
          <p:nvPr/>
        </p:nvPicPr>
        <p:blipFill>
          <a:blip r:embed="rId8"/>
          <a:stretch>
            <a:fillRect/>
          </a:stretch>
        </p:blipFill>
        <p:spPr>
          <a:xfrm rot="21169168">
            <a:off x="4977287" y="577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F2B0E943-EF95-F62B-57A6-0270E4F35ADC}"/>
              </a:ext>
            </a:extLst>
          </p:cNvPr>
          <p:cNvPicPr>
            <a:picLocks noChangeAspect="1"/>
          </p:cNvPicPr>
          <p:nvPr/>
        </p:nvPicPr>
        <p:blipFill>
          <a:blip r:embed="rId9"/>
          <a:stretch>
            <a:fillRect/>
          </a:stretch>
        </p:blipFill>
        <p:spPr>
          <a:xfrm rot="21169168">
            <a:off x="4980336" y="577451"/>
            <a:ext cx="2231329" cy="3340898"/>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E2104338-6068-DE2B-8152-7EF08A8D0168}"/>
              </a:ext>
            </a:extLst>
          </p:cNvPr>
          <p:cNvPicPr>
            <a:picLocks noChangeAspect="1"/>
          </p:cNvPicPr>
          <p:nvPr/>
        </p:nvPicPr>
        <p:blipFill>
          <a:blip r:embed="rId10"/>
          <a:stretch>
            <a:fillRect/>
          </a:stretch>
        </p:blipFill>
        <p:spPr>
          <a:xfrm rot="203679">
            <a:off x="4980336" y="5805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79683411-E563-8B67-D991-1D82D545E45D}"/>
              </a:ext>
            </a:extLst>
          </p:cNvPr>
          <p:cNvPicPr>
            <a:picLocks noChangeAspect="1"/>
          </p:cNvPicPr>
          <p:nvPr/>
        </p:nvPicPr>
        <p:blipFill>
          <a:blip r:embed="rId11"/>
          <a:stretch>
            <a:fillRect/>
          </a:stretch>
        </p:blipFill>
        <p:spPr>
          <a:xfrm rot="203679">
            <a:off x="4980336" y="580500"/>
            <a:ext cx="2231329" cy="3334801"/>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C0792DC4-DC5D-5594-F70E-136E8F0299BE}"/>
              </a:ext>
            </a:extLst>
          </p:cNvPr>
          <p:cNvPicPr>
            <a:picLocks noChangeAspect="1"/>
          </p:cNvPicPr>
          <p:nvPr/>
        </p:nvPicPr>
        <p:blipFill>
          <a:blip r:embed="rId12"/>
          <a:stretch>
            <a:fillRect/>
          </a:stretch>
        </p:blipFill>
        <p:spPr>
          <a:xfrm rot="335204">
            <a:off x="4980336" y="580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DF3960B3-D4A4-3993-6D10-B066F5100447}"/>
              </a:ext>
            </a:extLst>
          </p:cNvPr>
          <p:cNvPicPr>
            <a:picLocks noChangeAspect="1"/>
          </p:cNvPicPr>
          <p:nvPr/>
        </p:nvPicPr>
        <p:blipFill>
          <a:blip r:embed="rId13"/>
          <a:stretch>
            <a:fillRect/>
          </a:stretch>
        </p:blipFill>
        <p:spPr>
          <a:xfrm rot="335204">
            <a:off x="4980336" y="580500"/>
            <a:ext cx="2231329" cy="3334801"/>
          </a:xfrm>
          <a:prstGeom prst="rect">
            <a:avLst/>
          </a:prstGeom>
          <a:scene3d>
            <a:camera prst="perspectiveFront"/>
            <a:lightRig rig="threePt" dir="t"/>
          </a:scene3d>
        </p:spPr>
      </p:pic>
      <p:sp>
        <p:nvSpPr>
          <p:cNvPr id="2" name="TextBox 1">
            <a:extLst>
              <a:ext uri="{FF2B5EF4-FFF2-40B4-BE49-F238E27FC236}">
                <a16:creationId xmlns:a16="http://schemas.microsoft.com/office/drawing/2014/main" id="{4E547FB3-0DDC-4112-23C1-4B5519CE7014}"/>
              </a:ext>
            </a:extLst>
          </p:cNvPr>
          <p:cNvSpPr txBox="1"/>
          <p:nvPr/>
        </p:nvSpPr>
        <p:spPr>
          <a:xfrm>
            <a:off x="2462212" y="5178879"/>
            <a:ext cx="7267576" cy="707886"/>
          </a:xfrm>
          <a:prstGeom prst="rect">
            <a:avLst/>
          </a:prstGeom>
          <a:noFill/>
        </p:spPr>
        <p:txBody>
          <a:bodyPr wrap="square" rtlCol="0">
            <a:spAutoFit/>
          </a:bodyPr>
          <a:lstStyle/>
          <a:p>
            <a:r>
              <a:rPr lang="en-US" sz="4000" b="1" dirty="0">
                <a:latin typeface="Algerian" panose="04020705040A02060702" pitchFamily="82" charset="0"/>
              </a:rPr>
              <a:t>USED TOOLS OF THIS PROJECT</a:t>
            </a:r>
          </a:p>
        </p:txBody>
      </p:sp>
    </p:spTree>
    <p:extLst>
      <p:ext uri="{BB962C8B-B14F-4D97-AF65-F5344CB8AC3E}">
        <p14:creationId xmlns:p14="http://schemas.microsoft.com/office/powerpoint/2010/main" val="24382801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012C43D6-D998-EE42-E7BA-6FD6B4DD50A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9A11BE-675D-49E6-AFDC-5E94DD2B339B}"/>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0171DCC1-F672-2B46-13F2-45E45D79DF86}"/>
              </a:ext>
            </a:extLst>
          </p:cNvPr>
          <p:cNvPicPr>
            <a:picLocks noChangeAspect="1"/>
          </p:cNvPicPr>
          <p:nvPr/>
        </p:nvPicPr>
        <p:blipFill>
          <a:blip r:embed="rId4"/>
          <a:stretch>
            <a:fillRect/>
          </a:stretch>
        </p:blipFill>
        <p:spPr>
          <a:xfrm>
            <a:off x="9778968" y="1041710"/>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FDA24F50-E62B-E2C2-5A48-9436FA138D8D}"/>
              </a:ext>
            </a:extLst>
          </p:cNvPr>
          <p:cNvPicPr>
            <a:picLocks noChangeAspect="1"/>
          </p:cNvPicPr>
          <p:nvPr/>
        </p:nvPicPr>
        <p:blipFill>
          <a:blip r:embed="rId5"/>
          <a:stretch>
            <a:fillRect/>
          </a:stretch>
        </p:blipFill>
        <p:spPr>
          <a:xfrm>
            <a:off x="9782016" y="1041710"/>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C113CC53-E026-B0BC-4DF4-E79A60A06318}"/>
              </a:ext>
            </a:extLst>
          </p:cNvPr>
          <p:cNvPicPr>
            <a:picLocks noChangeAspect="1"/>
          </p:cNvPicPr>
          <p:nvPr/>
        </p:nvPicPr>
        <p:blipFill>
          <a:blip r:embed="rId6"/>
          <a:stretch>
            <a:fillRect/>
          </a:stretch>
        </p:blipFill>
        <p:spPr>
          <a:xfrm>
            <a:off x="7378128" y="1047807"/>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D5912232-9C8D-697C-3963-426ED583720B}"/>
              </a:ext>
            </a:extLst>
          </p:cNvPr>
          <p:cNvPicPr>
            <a:picLocks noChangeAspect="1"/>
          </p:cNvPicPr>
          <p:nvPr/>
        </p:nvPicPr>
        <p:blipFill>
          <a:blip r:embed="rId7"/>
          <a:stretch>
            <a:fillRect/>
          </a:stretch>
        </p:blipFill>
        <p:spPr>
          <a:xfrm>
            <a:off x="7378128" y="1047807"/>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6AA27D64-4711-50DF-7B1A-4225A1AF1AD2}"/>
              </a:ext>
            </a:extLst>
          </p:cNvPr>
          <p:cNvPicPr>
            <a:picLocks noChangeAspect="1"/>
          </p:cNvPicPr>
          <p:nvPr/>
        </p:nvPicPr>
        <p:blipFill>
          <a:blip r:embed="rId8"/>
          <a:stretch>
            <a:fillRect/>
          </a:stretch>
        </p:blipFill>
        <p:spPr>
          <a:xfrm>
            <a:off x="1803027" y="330967"/>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154DD887-38BA-02CA-4D6A-E549F032C3F8}"/>
              </a:ext>
            </a:extLst>
          </p:cNvPr>
          <p:cNvPicPr>
            <a:picLocks noChangeAspect="1"/>
          </p:cNvPicPr>
          <p:nvPr/>
        </p:nvPicPr>
        <p:blipFill>
          <a:blip r:embed="rId9"/>
          <a:stretch>
            <a:fillRect/>
          </a:stretch>
        </p:blipFill>
        <p:spPr>
          <a:xfrm>
            <a:off x="1806076" y="330967"/>
            <a:ext cx="2231329" cy="3340898"/>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202C92E7-72CB-A5CB-86D5-AFCF05B3496F}"/>
              </a:ext>
            </a:extLst>
          </p:cNvPr>
          <p:cNvPicPr>
            <a:picLocks noChangeAspect="1"/>
          </p:cNvPicPr>
          <p:nvPr/>
        </p:nvPicPr>
        <p:blipFill>
          <a:blip r:embed="rId10"/>
          <a:stretch>
            <a:fillRect/>
          </a:stretch>
        </p:blipFill>
        <p:spPr>
          <a:xfrm>
            <a:off x="3510234" y="1047807"/>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E8619ABF-7586-6B45-36FD-6B080D0769CC}"/>
              </a:ext>
            </a:extLst>
          </p:cNvPr>
          <p:cNvPicPr>
            <a:picLocks noChangeAspect="1"/>
          </p:cNvPicPr>
          <p:nvPr/>
        </p:nvPicPr>
        <p:blipFill>
          <a:blip r:embed="rId11"/>
          <a:stretch>
            <a:fillRect/>
          </a:stretch>
        </p:blipFill>
        <p:spPr>
          <a:xfrm>
            <a:off x="3510234" y="1047807"/>
            <a:ext cx="2231329" cy="3334801"/>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E673B9F6-F5D5-F55C-B234-86951C151B26}"/>
              </a:ext>
            </a:extLst>
          </p:cNvPr>
          <p:cNvPicPr>
            <a:picLocks noChangeAspect="1"/>
          </p:cNvPicPr>
          <p:nvPr/>
        </p:nvPicPr>
        <p:blipFill>
          <a:blip r:embed="rId12"/>
          <a:stretch>
            <a:fillRect/>
          </a:stretch>
        </p:blipFill>
        <p:spPr>
          <a:xfrm>
            <a:off x="169511" y="1047807"/>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5D012EE3-8BF9-A46F-4C41-E67759099205}"/>
              </a:ext>
            </a:extLst>
          </p:cNvPr>
          <p:cNvPicPr>
            <a:picLocks noChangeAspect="1"/>
          </p:cNvPicPr>
          <p:nvPr/>
        </p:nvPicPr>
        <p:blipFill>
          <a:blip r:embed="rId13"/>
          <a:stretch>
            <a:fillRect/>
          </a:stretch>
        </p:blipFill>
        <p:spPr>
          <a:xfrm>
            <a:off x="169511" y="1047807"/>
            <a:ext cx="2231329" cy="3334801"/>
          </a:xfrm>
          <a:prstGeom prst="rect">
            <a:avLst/>
          </a:prstGeom>
          <a:scene3d>
            <a:camera prst="perspectiveFront"/>
            <a:lightRig rig="threePt" dir="t"/>
          </a:scene3d>
        </p:spPr>
      </p:pic>
      <p:grpSp>
        <p:nvGrpSpPr>
          <p:cNvPr id="21" name="Group 20">
            <a:extLst>
              <a:ext uri="{FF2B5EF4-FFF2-40B4-BE49-F238E27FC236}">
                <a16:creationId xmlns:a16="http://schemas.microsoft.com/office/drawing/2014/main" id="{F8340CE3-EEC3-1308-6EDD-DA83A25B959B}"/>
              </a:ext>
            </a:extLst>
          </p:cNvPr>
          <p:cNvGrpSpPr/>
          <p:nvPr/>
        </p:nvGrpSpPr>
        <p:grpSpPr>
          <a:xfrm>
            <a:off x="8493792" y="5142961"/>
            <a:ext cx="2563394" cy="664130"/>
            <a:chOff x="8493792" y="5142961"/>
            <a:chExt cx="2563394" cy="664130"/>
          </a:xfrm>
        </p:grpSpPr>
        <p:sp>
          <p:nvSpPr>
            <p:cNvPr id="3" name="TextBox 2">
              <a:extLst>
                <a:ext uri="{FF2B5EF4-FFF2-40B4-BE49-F238E27FC236}">
                  <a16:creationId xmlns:a16="http://schemas.microsoft.com/office/drawing/2014/main" id="{4730A310-D29A-6676-B0AE-D8555D13BBC9}"/>
                </a:ext>
              </a:extLst>
            </p:cNvPr>
            <p:cNvSpPr txBox="1"/>
            <p:nvPr/>
          </p:nvSpPr>
          <p:spPr>
            <a:xfrm>
              <a:off x="8493792" y="5185740"/>
              <a:ext cx="2231329" cy="584775"/>
            </a:xfrm>
            <a:prstGeom prst="rect">
              <a:avLst/>
            </a:prstGeom>
            <a:noFill/>
          </p:spPr>
          <p:txBody>
            <a:bodyPr wrap="square" rtlCol="0">
              <a:spAutoFit/>
            </a:bodyPr>
            <a:lstStyle/>
            <a:p>
              <a:r>
                <a:rPr lang="en-US" sz="3200" b="1" dirty="0">
                  <a:latin typeface="Algerian" panose="04020705040A02060702" pitchFamily="82" charset="0"/>
                </a:rPr>
                <a:t>VISUALS</a:t>
              </a:r>
            </a:p>
          </p:txBody>
        </p:sp>
        <p:pic>
          <p:nvPicPr>
            <p:cNvPr id="16" name="Picture 15" descr="A pie chart with a few different colored sections&#10;&#10;AI-generated content may be incorrect.">
              <a:extLst>
                <a:ext uri="{FF2B5EF4-FFF2-40B4-BE49-F238E27FC236}">
                  <a16:creationId xmlns:a16="http://schemas.microsoft.com/office/drawing/2014/main" id="{A6B353A7-495A-8D56-6064-5808333B62B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393056" y="5142961"/>
              <a:ext cx="664130" cy="664130"/>
            </a:xfrm>
            <a:prstGeom prst="rect">
              <a:avLst/>
            </a:prstGeom>
          </p:spPr>
        </p:pic>
      </p:grpSp>
      <p:grpSp>
        <p:nvGrpSpPr>
          <p:cNvPr id="20" name="Group 19">
            <a:extLst>
              <a:ext uri="{FF2B5EF4-FFF2-40B4-BE49-F238E27FC236}">
                <a16:creationId xmlns:a16="http://schemas.microsoft.com/office/drawing/2014/main" id="{B575C696-A5C7-4165-BDBE-CD1462C43650}"/>
              </a:ext>
            </a:extLst>
          </p:cNvPr>
          <p:cNvGrpSpPr/>
          <p:nvPr/>
        </p:nvGrpSpPr>
        <p:grpSpPr>
          <a:xfrm>
            <a:off x="785744" y="4794530"/>
            <a:ext cx="3605482" cy="1569660"/>
            <a:chOff x="785744" y="4794530"/>
            <a:chExt cx="3605482" cy="1569660"/>
          </a:xfrm>
        </p:grpSpPr>
        <p:sp>
          <p:nvSpPr>
            <p:cNvPr id="6" name="TextBox 5">
              <a:extLst>
                <a:ext uri="{FF2B5EF4-FFF2-40B4-BE49-F238E27FC236}">
                  <a16:creationId xmlns:a16="http://schemas.microsoft.com/office/drawing/2014/main" id="{FC9C78A9-009D-43E3-0354-92EF2D85D940}"/>
                </a:ext>
              </a:extLst>
            </p:cNvPr>
            <p:cNvSpPr txBox="1"/>
            <p:nvPr/>
          </p:nvSpPr>
          <p:spPr>
            <a:xfrm>
              <a:off x="785744" y="4794530"/>
              <a:ext cx="3450354" cy="1569660"/>
            </a:xfrm>
            <a:prstGeom prst="rect">
              <a:avLst/>
            </a:prstGeom>
            <a:noFill/>
          </p:spPr>
          <p:txBody>
            <a:bodyPr wrap="square" rtlCol="0">
              <a:spAutoFit/>
            </a:bodyPr>
            <a:lstStyle/>
            <a:p>
              <a:pPr algn="ctr"/>
              <a:r>
                <a:rPr lang="en-US" sz="3200" b="1" dirty="0">
                  <a:latin typeface="Algerian" panose="04020705040A02060702" pitchFamily="82" charset="0"/>
                </a:rPr>
                <a:t>CLEANING </a:t>
              </a:r>
              <a:br>
                <a:rPr lang="en-US" sz="3200" b="1" dirty="0">
                  <a:latin typeface="Algerian" panose="04020705040A02060702" pitchFamily="82" charset="0"/>
                </a:rPr>
              </a:br>
              <a:r>
                <a:rPr lang="en-US" sz="3200" b="1" dirty="0">
                  <a:latin typeface="Algerian" panose="04020705040A02060702" pitchFamily="82" charset="0"/>
                </a:rPr>
                <a:t>AND </a:t>
              </a:r>
              <a:br>
                <a:rPr lang="en-US" sz="3200" b="1" dirty="0">
                  <a:latin typeface="Algerian" panose="04020705040A02060702" pitchFamily="82" charset="0"/>
                </a:rPr>
              </a:br>
              <a:r>
                <a:rPr lang="en-US" sz="3200" b="1" dirty="0">
                  <a:latin typeface="Algerian" panose="04020705040A02060702" pitchFamily="82" charset="0"/>
                </a:rPr>
                <a:t>ANALYSIS</a:t>
              </a:r>
            </a:p>
          </p:txBody>
        </p:sp>
        <p:pic>
          <p:nvPicPr>
            <p:cNvPr id="19" name="Picture 18" descr="A black background with a black square&#10;&#10;AI-generated content may be incorrect.">
              <a:extLst>
                <a:ext uri="{FF2B5EF4-FFF2-40B4-BE49-F238E27FC236}">
                  <a16:creationId xmlns:a16="http://schemas.microsoft.com/office/drawing/2014/main" id="{4B443081-8B39-D41E-2C69-C3CE129CE82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83583" y="5142961"/>
              <a:ext cx="707643" cy="707643"/>
            </a:xfrm>
            <a:prstGeom prst="rect">
              <a:avLst/>
            </a:prstGeom>
          </p:spPr>
        </p:pic>
      </p:grpSp>
      <p:sp>
        <p:nvSpPr>
          <p:cNvPr id="43" name="Circle: Hollow 42">
            <a:extLst>
              <a:ext uri="{FF2B5EF4-FFF2-40B4-BE49-F238E27FC236}">
                <a16:creationId xmlns:a16="http://schemas.microsoft.com/office/drawing/2014/main" id="{61FA4BA4-CDA1-21D9-0A46-1D3AC7C201B4}"/>
              </a:ext>
            </a:extLst>
          </p:cNvPr>
          <p:cNvSpPr/>
          <p:nvPr/>
        </p:nvSpPr>
        <p:spPr>
          <a:xfrm>
            <a:off x="12249122"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Rectangle: Rounded Corners 43">
            <a:extLst>
              <a:ext uri="{FF2B5EF4-FFF2-40B4-BE49-F238E27FC236}">
                <a16:creationId xmlns:a16="http://schemas.microsoft.com/office/drawing/2014/main" id="{E43A1D44-44D7-FC8D-6507-C839261BD495}"/>
              </a:ext>
            </a:extLst>
          </p:cNvPr>
          <p:cNvSpPr/>
          <p:nvPr/>
        </p:nvSpPr>
        <p:spPr>
          <a:xfrm>
            <a:off x="185830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Rounded Corners 44">
            <a:extLst>
              <a:ext uri="{FF2B5EF4-FFF2-40B4-BE49-F238E27FC236}">
                <a16:creationId xmlns:a16="http://schemas.microsoft.com/office/drawing/2014/main" id="{462CF553-7E69-AB52-4322-51005090340F}"/>
              </a:ext>
            </a:extLst>
          </p:cNvPr>
          <p:cNvSpPr/>
          <p:nvPr/>
        </p:nvSpPr>
        <p:spPr>
          <a:xfrm>
            <a:off x="187050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6" name="Graphic 45" descr="Handshake outline">
            <a:extLst>
              <a:ext uri="{FF2B5EF4-FFF2-40B4-BE49-F238E27FC236}">
                <a16:creationId xmlns:a16="http://schemas.microsoft.com/office/drawing/2014/main" id="{880787EE-FDD4-4647-A8E4-63A16BE2A46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02604" y="1007396"/>
            <a:ext cx="914400" cy="914400"/>
          </a:xfrm>
          <a:prstGeom prst="rect">
            <a:avLst/>
          </a:prstGeom>
        </p:spPr>
      </p:pic>
      <p:pic>
        <p:nvPicPr>
          <p:cNvPr id="47" name="Graphic 46" descr="Table outline">
            <a:extLst>
              <a:ext uri="{FF2B5EF4-FFF2-40B4-BE49-F238E27FC236}">
                <a16:creationId xmlns:a16="http://schemas.microsoft.com/office/drawing/2014/main" id="{9CC66025-B2A9-F8AC-4679-A672B55BFFD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659816" y="4936204"/>
            <a:ext cx="914400" cy="914400"/>
          </a:xfrm>
          <a:prstGeom prst="rect">
            <a:avLst/>
          </a:prstGeom>
        </p:spPr>
      </p:pic>
      <p:pic>
        <p:nvPicPr>
          <p:cNvPr id="48" name="Graphic 47" descr="List with solid fill">
            <a:extLst>
              <a:ext uri="{FF2B5EF4-FFF2-40B4-BE49-F238E27FC236}">
                <a16:creationId xmlns:a16="http://schemas.microsoft.com/office/drawing/2014/main" id="{692601BC-988C-C078-D2E4-270260A4FF4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6634157" y="2316999"/>
            <a:ext cx="914400" cy="914400"/>
          </a:xfrm>
          <a:prstGeom prst="rect">
            <a:avLst/>
          </a:prstGeom>
        </p:spPr>
      </p:pic>
      <p:pic>
        <p:nvPicPr>
          <p:cNvPr id="49" name="Graphic 48" descr="Database outline">
            <a:extLst>
              <a:ext uri="{FF2B5EF4-FFF2-40B4-BE49-F238E27FC236}">
                <a16:creationId xmlns:a16="http://schemas.microsoft.com/office/drawing/2014/main" id="{C3AB0AD5-1868-44E7-93EA-DA75185A419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634157" y="3626602"/>
            <a:ext cx="914400" cy="914400"/>
          </a:xfrm>
          <a:prstGeom prst="rect">
            <a:avLst/>
          </a:prstGeom>
        </p:spPr>
      </p:pic>
      <p:sp>
        <p:nvSpPr>
          <p:cNvPr id="17" name="Oval 16">
            <a:extLst>
              <a:ext uri="{FF2B5EF4-FFF2-40B4-BE49-F238E27FC236}">
                <a16:creationId xmlns:a16="http://schemas.microsoft.com/office/drawing/2014/main" id="{30EBD144-800F-2070-39D2-B81E83711843}"/>
              </a:ext>
            </a:extLst>
          </p:cNvPr>
          <p:cNvSpPr/>
          <p:nvPr/>
        </p:nvSpPr>
        <p:spPr>
          <a:xfrm rot="1010255">
            <a:off x="13750746"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Steering Wheel outline">
            <a:extLst>
              <a:ext uri="{FF2B5EF4-FFF2-40B4-BE49-F238E27FC236}">
                <a16:creationId xmlns:a16="http://schemas.microsoft.com/office/drawing/2014/main" id="{8EF340FA-0ECE-5A02-CBA7-A08C5A3CA53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rot="18805068">
            <a:off x="14116119" y="2408260"/>
            <a:ext cx="2041482" cy="2041482"/>
          </a:xfrm>
          <a:prstGeom prst="rect">
            <a:avLst/>
          </a:prstGeom>
        </p:spPr>
      </p:pic>
      <p:sp>
        <p:nvSpPr>
          <p:cNvPr id="22" name="TextBox 21">
            <a:extLst>
              <a:ext uri="{FF2B5EF4-FFF2-40B4-BE49-F238E27FC236}">
                <a16:creationId xmlns:a16="http://schemas.microsoft.com/office/drawing/2014/main" id="{D6B4B86F-B694-976C-72BF-068116CD18F5}"/>
              </a:ext>
            </a:extLst>
          </p:cNvPr>
          <p:cNvSpPr txBox="1"/>
          <p:nvPr/>
        </p:nvSpPr>
        <p:spPr>
          <a:xfrm>
            <a:off x="2462212" y="8093529"/>
            <a:ext cx="7267576" cy="707886"/>
          </a:xfrm>
          <a:prstGeom prst="rect">
            <a:avLst/>
          </a:prstGeom>
          <a:noFill/>
        </p:spPr>
        <p:txBody>
          <a:bodyPr wrap="square" rtlCol="0">
            <a:spAutoFit/>
          </a:bodyPr>
          <a:lstStyle/>
          <a:p>
            <a:r>
              <a:rPr lang="en-US" sz="4000" b="1" dirty="0">
                <a:latin typeface="Algerian" panose="04020705040A02060702" pitchFamily="82" charset="0"/>
              </a:rPr>
              <a:t>USED TOOLS OF THIS PROJECT</a:t>
            </a:r>
          </a:p>
        </p:txBody>
      </p:sp>
    </p:spTree>
    <p:extLst>
      <p:ext uri="{BB962C8B-B14F-4D97-AF65-F5344CB8AC3E}">
        <p14:creationId xmlns:p14="http://schemas.microsoft.com/office/powerpoint/2010/main" val="23822718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DF9C7681-3707-8FF0-0474-7CD3AC29D567}"/>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D4DEEC8E-52F8-59D7-C695-95075964CFA0}"/>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5E35A451-6896-A792-0082-40E03C03D158}"/>
              </a:ext>
            </a:extLst>
          </p:cNvPr>
          <p:cNvPicPr>
            <a:picLocks noChangeAspect="1"/>
          </p:cNvPicPr>
          <p:nvPr/>
        </p:nvPicPr>
        <p:blipFill>
          <a:blip r:embed="rId4"/>
          <a:stretch>
            <a:fillRect/>
          </a:stretch>
        </p:blipFill>
        <p:spPr>
          <a:xfrm>
            <a:off x="9778968" y="17585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89BC1E1A-AEAD-1DBB-6341-0197EF5CE816}"/>
              </a:ext>
            </a:extLst>
          </p:cNvPr>
          <p:cNvPicPr>
            <a:picLocks noChangeAspect="1"/>
          </p:cNvPicPr>
          <p:nvPr/>
        </p:nvPicPr>
        <p:blipFill>
          <a:blip r:embed="rId5"/>
          <a:stretch>
            <a:fillRect/>
          </a:stretch>
        </p:blipFill>
        <p:spPr>
          <a:xfrm>
            <a:off x="9782016" y="17585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0D9E65F7-1F77-AFD3-4DB7-22A234390562}"/>
              </a:ext>
            </a:extLst>
          </p:cNvPr>
          <p:cNvPicPr>
            <a:picLocks noChangeAspect="1"/>
          </p:cNvPicPr>
          <p:nvPr/>
        </p:nvPicPr>
        <p:blipFill>
          <a:blip r:embed="rId6"/>
          <a:stretch>
            <a:fillRect/>
          </a:stretch>
        </p:blipFill>
        <p:spPr>
          <a:xfrm>
            <a:off x="7378128" y="17616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D708CD3C-D2A5-5D95-75D0-BEA14FFB4DE0}"/>
              </a:ext>
            </a:extLst>
          </p:cNvPr>
          <p:cNvPicPr>
            <a:picLocks noChangeAspect="1"/>
          </p:cNvPicPr>
          <p:nvPr/>
        </p:nvPicPr>
        <p:blipFill>
          <a:blip r:embed="rId7"/>
          <a:stretch>
            <a:fillRect/>
          </a:stretch>
        </p:blipFill>
        <p:spPr>
          <a:xfrm>
            <a:off x="7378128" y="1761600"/>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CA14D167-9631-B74C-24F9-2FE5DF608355}"/>
              </a:ext>
            </a:extLst>
          </p:cNvPr>
          <p:cNvPicPr>
            <a:picLocks noChangeAspect="1"/>
          </p:cNvPicPr>
          <p:nvPr/>
        </p:nvPicPr>
        <p:blipFill>
          <a:blip r:embed="rId8"/>
          <a:stretch>
            <a:fillRect/>
          </a:stretch>
        </p:blipFill>
        <p:spPr>
          <a:xfrm>
            <a:off x="2570351" y="17585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784C6634-0223-34C2-462D-83B1C74ACBA0}"/>
              </a:ext>
            </a:extLst>
          </p:cNvPr>
          <p:cNvPicPr>
            <a:picLocks noChangeAspect="1"/>
          </p:cNvPicPr>
          <p:nvPr/>
        </p:nvPicPr>
        <p:blipFill>
          <a:blip r:embed="rId9"/>
          <a:stretch>
            <a:fillRect/>
          </a:stretch>
        </p:blipFill>
        <p:spPr>
          <a:xfrm>
            <a:off x="2573400" y="1758551"/>
            <a:ext cx="2231329" cy="3340898"/>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FE213409-49C7-752A-B83C-E15295C47AE3}"/>
              </a:ext>
            </a:extLst>
          </p:cNvPr>
          <p:cNvPicPr>
            <a:picLocks noChangeAspect="1"/>
          </p:cNvPicPr>
          <p:nvPr/>
        </p:nvPicPr>
        <p:blipFill>
          <a:blip r:embed="rId10"/>
          <a:stretch>
            <a:fillRect/>
          </a:stretch>
        </p:blipFill>
        <p:spPr>
          <a:xfrm>
            <a:off x="4977288" y="17616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9400AE00-17EC-C163-9B83-DC3B8999A492}"/>
              </a:ext>
            </a:extLst>
          </p:cNvPr>
          <p:cNvPicPr>
            <a:picLocks noChangeAspect="1"/>
          </p:cNvPicPr>
          <p:nvPr/>
        </p:nvPicPr>
        <p:blipFill>
          <a:blip r:embed="rId11"/>
          <a:stretch>
            <a:fillRect/>
          </a:stretch>
        </p:blipFill>
        <p:spPr>
          <a:xfrm>
            <a:off x="4977288" y="1761600"/>
            <a:ext cx="2231329" cy="3334801"/>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376CA443-29CD-BD38-EE5B-7F92459EB32C}"/>
              </a:ext>
            </a:extLst>
          </p:cNvPr>
          <p:cNvPicPr>
            <a:picLocks noChangeAspect="1"/>
          </p:cNvPicPr>
          <p:nvPr/>
        </p:nvPicPr>
        <p:blipFill>
          <a:blip r:embed="rId12"/>
          <a:stretch>
            <a:fillRect/>
          </a:stretch>
        </p:blipFill>
        <p:spPr>
          <a:xfrm>
            <a:off x="169511" y="17616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D2A933B3-A03A-D57F-31D5-7841882CAF4E}"/>
              </a:ext>
            </a:extLst>
          </p:cNvPr>
          <p:cNvPicPr>
            <a:picLocks noChangeAspect="1"/>
          </p:cNvPicPr>
          <p:nvPr/>
        </p:nvPicPr>
        <p:blipFill>
          <a:blip r:embed="rId13"/>
          <a:stretch>
            <a:fillRect/>
          </a:stretch>
        </p:blipFill>
        <p:spPr>
          <a:xfrm>
            <a:off x="169511" y="1761600"/>
            <a:ext cx="2231329" cy="3334801"/>
          </a:xfrm>
          <a:prstGeom prst="rect">
            <a:avLst/>
          </a:prstGeom>
          <a:scene3d>
            <a:camera prst="perspectiveFront"/>
            <a:lightRig rig="threePt" dir="t"/>
          </a:scene3d>
        </p:spPr>
      </p:pic>
      <p:sp>
        <p:nvSpPr>
          <p:cNvPr id="2" name="TextBox 1">
            <a:extLst>
              <a:ext uri="{FF2B5EF4-FFF2-40B4-BE49-F238E27FC236}">
                <a16:creationId xmlns:a16="http://schemas.microsoft.com/office/drawing/2014/main" id="{DC1FAD9C-2CAF-175F-82A2-FDC5F875A6FB}"/>
              </a:ext>
            </a:extLst>
          </p:cNvPr>
          <p:cNvSpPr txBox="1"/>
          <p:nvPr/>
        </p:nvSpPr>
        <p:spPr>
          <a:xfrm>
            <a:off x="2462212" y="7922079"/>
            <a:ext cx="7267576" cy="707886"/>
          </a:xfrm>
          <a:prstGeom prst="rect">
            <a:avLst/>
          </a:prstGeom>
          <a:noFill/>
        </p:spPr>
        <p:txBody>
          <a:bodyPr wrap="square" rtlCol="0">
            <a:spAutoFit/>
          </a:bodyPr>
          <a:lstStyle/>
          <a:p>
            <a:r>
              <a:rPr lang="en-US" sz="4000" b="1" dirty="0">
                <a:latin typeface="Algerian" panose="04020705040A02060702" pitchFamily="82" charset="0"/>
              </a:rPr>
              <a:t>USED TOOLS OF THIS PROJECT</a:t>
            </a:r>
          </a:p>
        </p:txBody>
      </p:sp>
      <p:grpSp>
        <p:nvGrpSpPr>
          <p:cNvPr id="3" name="Group 2">
            <a:extLst>
              <a:ext uri="{FF2B5EF4-FFF2-40B4-BE49-F238E27FC236}">
                <a16:creationId xmlns:a16="http://schemas.microsoft.com/office/drawing/2014/main" id="{E61EDA8F-6EE8-9C42-9EDE-DFA84E1619AE}"/>
              </a:ext>
            </a:extLst>
          </p:cNvPr>
          <p:cNvGrpSpPr/>
          <p:nvPr/>
        </p:nvGrpSpPr>
        <p:grpSpPr>
          <a:xfrm>
            <a:off x="12019442" y="7507436"/>
            <a:ext cx="2563394" cy="664130"/>
            <a:chOff x="8493792" y="5142961"/>
            <a:chExt cx="2563394" cy="664130"/>
          </a:xfrm>
        </p:grpSpPr>
        <p:sp>
          <p:nvSpPr>
            <p:cNvPr id="6" name="TextBox 5">
              <a:extLst>
                <a:ext uri="{FF2B5EF4-FFF2-40B4-BE49-F238E27FC236}">
                  <a16:creationId xmlns:a16="http://schemas.microsoft.com/office/drawing/2014/main" id="{4D55FF0C-0F2E-FB75-BA40-EE52823BF609}"/>
                </a:ext>
              </a:extLst>
            </p:cNvPr>
            <p:cNvSpPr txBox="1"/>
            <p:nvPr/>
          </p:nvSpPr>
          <p:spPr>
            <a:xfrm>
              <a:off x="8493792" y="5185740"/>
              <a:ext cx="2231329" cy="584775"/>
            </a:xfrm>
            <a:prstGeom prst="rect">
              <a:avLst/>
            </a:prstGeom>
            <a:noFill/>
          </p:spPr>
          <p:txBody>
            <a:bodyPr wrap="square" rtlCol="0">
              <a:spAutoFit/>
            </a:bodyPr>
            <a:lstStyle/>
            <a:p>
              <a:r>
                <a:rPr lang="en-US" sz="3200" b="1" dirty="0">
                  <a:latin typeface="Algerian" panose="04020705040A02060702" pitchFamily="82" charset="0"/>
                </a:rPr>
                <a:t>VISUALS</a:t>
              </a:r>
            </a:p>
          </p:txBody>
        </p:sp>
        <p:pic>
          <p:nvPicPr>
            <p:cNvPr id="15" name="Picture 14" descr="A pie chart with a few different colored sections&#10;&#10;AI-generated content may be incorrect.">
              <a:extLst>
                <a:ext uri="{FF2B5EF4-FFF2-40B4-BE49-F238E27FC236}">
                  <a16:creationId xmlns:a16="http://schemas.microsoft.com/office/drawing/2014/main" id="{BF01511B-1EB8-5726-2B28-714C9952A4C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393056" y="5142961"/>
              <a:ext cx="664130" cy="664130"/>
            </a:xfrm>
            <a:prstGeom prst="rect">
              <a:avLst/>
            </a:prstGeom>
          </p:spPr>
        </p:pic>
      </p:grpSp>
      <p:grpSp>
        <p:nvGrpSpPr>
          <p:cNvPr id="16" name="Group 15">
            <a:extLst>
              <a:ext uri="{FF2B5EF4-FFF2-40B4-BE49-F238E27FC236}">
                <a16:creationId xmlns:a16="http://schemas.microsoft.com/office/drawing/2014/main" id="{26F67FB6-6965-1918-5877-5B87134F0484}"/>
              </a:ext>
            </a:extLst>
          </p:cNvPr>
          <p:cNvGrpSpPr/>
          <p:nvPr/>
        </p:nvGrpSpPr>
        <p:grpSpPr>
          <a:xfrm>
            <a:off x="-3290956" y="7137249"/>
            <a:ext cx="3605482" cy="1569660"/>
            <a:chOff x="785744" y="4794530"/>
            <a:chExt cx="3605482" cy="1569660"/>
          </a:xfrm>
        </p:grpSpPr>
        <p:sp>
          <p:nvSpPr>
            <p:cNvPr id="17" name="TextBox 16">
              <a:extLst>
                <a:ext uri="{FF2B5EF4-FFF2-40B4-BE49-F238E27FC236}">
                  <a16:creationId xmlns:a16="http://schemas.microsoft.com/office/drawing/2014/main" id="{A93552CF-A762-8D8F-3466-392751B1DE8D}"/>
                </a:ext>
              </a:extLst>
            </p:cNvPr>
            <p:cNvSpPr txBox="1"/>
            <p:nvPr/>
          </p:nvSpPr>
          <p:spPr>
            <a:xfrm>
              <a:off x="785744" y="4794530"/>
              <a:ext cx="3450354" cy="1569660"/>
            </a:xfrm>
            <a:prstGeom prst="rect">
              <a:avLst/>
            </a:prstGeom>
            <a:noFill/>
          </p:spPr>
          <p:txBody>
            <a:bodyPr wrap="square" rtlCol="0">
              <a:spAutoFit/>
            </a:bodyPr>
            <a:lstStyle/>
            <a:p>
              <a:pPr algn="ctr"/>
              <a:r>
                <a:rPr lang="en-US" sz="3200" b="1" dirty="0">
                  <a:latin typeface="Algerian" panose="04020705040A02060702" pitchFamily="82" charset="0"/>
                </a:rPr>
                <a:t>CLEANING </a:t>
              </a:r>
              <a:br>
                <a:rPr lang="en-US" sz="3200" b="1" dirty="0">
                  <a:latin typeface="Algerian" panose="04020705040A02060702" pitchFamily="82" charset="0"/>
                </a:rPr>
              </a:br>
              <a:r>
                <a:rPr lang="en-US" sz="3200" b="1" dirty="0">
                  <a:latin typeface="Algerian" panose="04020705040A02060702" pitchFamily="82" charset="0"/>
                </a:rPr>
                <a:t>AND </a:t>
              </a:r>
              <a:br>
                <a:rPr lang="en-US" sz="3200" b="1" dirty="0">
                  <a:latin typeface="Algerian" panose="04020705040A02060702" pitchFamily="82" charset="0"/>
                </a:rPr>
              </a:br>
              <a:r>
                <a:rPr lang="en-US" sz="3200" b="1" dirty="0">
                  <a:latin typeface="Algerian" panose="04020705040A02060702" pitchFamily="82" charset="0"/>
                </a:rPr>
                <a:t>ANALYSIS</a:t>
              </a:r>
            </a:p>
          </p:txBody>
        </p:sp>
        <p:pic>
          <p:nvPicPr>
            <p:cNvPr id="18" name="Picture 17" descr="A black background with a black square&#10;&#10;AI-generated content may be incorrect.">
              <a:extLst>
                <a:ext uri="{FF2B5EF4-FFF2-40B4-BE49-F238E27FC236}">
                  <a16:creationId xmlns:a16="http://schemas.microsoft.com/office/drawing/2014/main" id="{A0650181-A054-F22C-8F91-B22780F685C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83583" y="5142961"/>
              <a:ext cx="707643" cy="707643"/>
            </a:xfrm>
            <a:prstGeom prst="rect">
              <a:avLst/>
            </a:prstGeom>
          </p:spPr>
        </p:pic>
      </p:grpSp>
    </p:spTree>
    <p:extLst>
      <p:ext uri="{BB962C8B-B14F-4D97-AF65-F5344CB8AC3E}">
        <p14:creationId xmlns:p14="http://schemas.microsoft.com/office/powerpoint/2010/main" val="31733337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B479E4C4-E82C-FA50-B02B-734CEB6ACAF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CA3F32A-1E67-C0FF-0325-1450D7E0B0BB}"/>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DCD873B4-6DE4-1A47-7B2B-E74B5E665BA2}"/>
              </a:ext>
            </a:extLst>
          </p:cNvPr>
          <p:cNvPicPr>
            <a:picLocks noChangeAspect="1"/>
          </p:cNvPicPr>
          <p:nvPr/>
        </p:nvPicPr>
        <p:blipFill>
          <a:blip r:embed="rId4"/>
          <a:stretch>
            <a:fillRect/>
          </a:stretch>
        </p:blipFill>
        <p:spPr>
          <a:xfrm>
            <a:off x="9778968" y="17585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D0D07DE0-6299-8778-838F-84CA697EA4EC}"/>
              </a:ext>
            </a:extLst>
          </p:cNvPr>
          <p:cNvPicPr>
            <a:picLocks noChangeAspect="1"/>
          </p:cNvPicPr>
          <p:nvPr/>
        </p:nvPicPr>
        <p:blipFill>
          <a:blip r:embed="rId5"/>
          <a:stretch>
            <a:fillRect/>
          </a:stretch>
        </p:blipFill>
        <p:spPr>
          <a:xfrm>
            <a:off x="9782016" y="17585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37F9DFBF-000F-CD64-6942-EF78C6F1649C}"/>
              </a:ext>
            </a:extLst>
          </p:cNvPr>
          <p:cNvPicPr>
            <a:picLocks noChangeAspect="1"/>
          </p:cNvPicPr>
          <p:nvPr/>
        </p:nvPicPr>
        <p:blipFill>
          <a:blip r:embed="rId6"/>
          <a:stretch>
            <a:fillRect/>
          </a:stretch>
        </p:blipFill>
        <p:spPr>
          <a:xfrm>
            <a:off x="7378128" y="17616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A75932BB-3C71-FA51-35B7-C195060A159F}"/>
              </a:ext>
            </a:extLst>
          </p:cNvPr>
          <p:cNvPicPr>
            <a:picLocks noChangeAspect="1"/>
          </p:cNvPicPr>
          <p:nvPr/>
        </p:nvPicPr>
        <p:blipFill>
          <a:blip r:embed="rId7"/>
          <a:stretch>
            <a:fillRect/>
          </a:stretch>
        </p:blipFill>
        <p:spPr>
          <a:xfrm>
            <a:off x="7378128" y="1761600"/>
            <a:ext cx="2231329" cy="3334801"/>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A4B5E378-3103-F972-44E4-59BE298686F7}"/>
              </a:ext>
            </a:extLst>
          </p:cNvPr>
          <p:cNvPicPr>
            <a:picLocks noChangeAspect="1"/>
          </p:cNvPicPr>
          <p:nvPr/>
        </p:nvPicPr>
        <p:blipFill>
          <a:blip r:embed="rId8"/>
          <a:stretch>
            <a:fillRect/>
          </a:stretch>
        </p:blipFill>
        <p:spPr>
          <a:xfrm>
            <a:off x="4977288" y="17616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13F66191-F321-2714-5709-246F78CC0986}"/>
              </a:ext>
            </a:extLst>
          </p:cNvPr>
          <p:cNvPicPr>
            <a:picLocks noChangeAspect="1"/>
          </p:cNvPicPr>
          <p:nvPr/>
        </p:nvPicPr>
        <p:blipFill>
          <a:blip r:embed="rId9"/>
          <a:stretch>
            <a:fillRect/>
          </a:stretch>
        </p:blipFill>
        <p:spPr>
          <a:xfrm>
            <a:off x="4977288" y="1761600"/>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F8381AB2-AB47-E5C1-F4BA-11C677C21897}"/>
              </a:ext>
            </a:extLst>
          </p:cNvPr>
          <p:cNvPicPr>
            <a:picLocks noChangeAspect="1"/>
          </p:cNvPicPr>
          <p:nvPr/>
        </p:nvPicPr>
        <p:blipFill>
          <a:blip r:embed="rId10"/>
          <a:stretch>
            <a:fillRect/>
          </a:stretch>
        </p:blipFill>
        <p:spPr>
          <a:xfrm>
            <a:off x="2570351" y="17585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89156A15-C284-1968-7F86-948523597E80}"/>
              </a:ext>
            </a:extLst>
          </p:cNvPr>
          <p:cNvPicPr>
            <a:picLocks noChangeAspect="1"/>
          </p:cNvPicPr>
          <p:nvPr/>
        </p:nvPicPr>
        <p:blipFill>
          <a:blip r:embed="rId11"/>
          <a:stretch>
            <a:fillRect/>
          </a:stretch>
        </p:blipFill>
        <p:spPr>
          <a:xfrm>
            <a:off x="2573400" y="1758551"/>
            <a:ext cx="2231329" cy="3340898"/>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5DBF9E31-C395-D646-EDA0-538043410E7E}"/>
              </a:ext>
            </a:extLst>
          </p:cNvPr>
          <p:cNvPicPr>
            <a:picLocks noChangeAspect="1"/>
          </p:cNvPicPr>
          <p:nvPr/>
        </p:nvPicPr>
        <p:blipFill>
          <a:blip r:embed="rId12"/>
          <a:stretch>
            <a:fillRect/>
          </a:stretch>
        </p:blipFill>
        <p:spPr>
          <a:xfrm>
            <a:off x="169511"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DD81E572-1A76-E3E0-957F-577EA57083AF}"/>
              </a:ext>
            </a:extLst>
          </p:cNvPr>
          <p:cNvPicPr>
            <a:picLocks noChangeAspect="1"/>
          </p:cNvPicPr>
          <p:nvPr/>
        </p:nvPicPr>
        <p:blipFill>
          <a:blip r:embed="rId13"/>
          <a:stretch>
            <a:fillRect/>
          </a:stretch>
        </p:blipFill>
        <p:spPr>
          <a:xfrm>
            <a:off x="169511" y="3267075"/>
            <a:ext cx="2231329" cy="3334801"/>
          </a:xfrm>
          <a:prstGeom prst="rect">
            <a:avLst/>
          </a:prstGeom>
          <a:scene3d>
            <a:camera prst="perspectiveFront"/>
            <a:lightRig rig="threePt" dir="t"/>
          </a:scene3d>
        </p:spPr>
      </p:pic>
    </p:spTree>
    <p:extLst>
      <p:ext uri="{BB962C8B-B14F-4D97-AF65-F5344CB8AC3E}">
        <p14:creationId xmlns:p14="http://schemas.microsoft.com/office/powerpoint/2010/main" val="9421708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03CFEBD2-BAF0-F577-7549-6B1851B438A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2F5A60-78B0-A017-8D91-9139F3681446}"/>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0542EF50-AF3D-D4E3-67A4-C495A7205366}"/>
              </a:ext>
            </a:extLst>
          </p:cNvPr>
          <p:cNvPicPr>
            <a:picLocks noChangeAspect="1"/>
          </p:cNvPicPr>
          <p:nvPr/>
        </p:nvPicPr>
        <p:blipFill>
          <a:blip r:embed="rId4"/>
          <a:stretch>
            <a:fillRect/>
          </a:stretch>
        </p:blipFill>
        <p:spPr>
          <a:xfrm>
            <a:off x="9778968" y="17585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FEEB70C9-D924-288B-DBF1-46151198E1AA}"/>
              </a:ext>
            </a:extLst>
          </p:cNvPr>
          <p:cNvPicPr>
            <a:picLocks noChangeAspect="1"/>
          </p:cNvPicPr>
          <p:nvPr/>
        </p:nvPicPr>
        <p:blipFill>
          <a:blip r:embed="rId5"/>
          <a:stretch>
            <a:fillRect/>
          </a:stretch>
        </p:blipFill>
        <p:spPr>
          <a:xfrm>
            <a:off x="9782016" y="17585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634BDCC3-44A3-4771-2DB7-7BCB6F0184E7}"/>
              </a:ext>
            </a:extLst>
          </p:cNvPr>
          <p:cNvPicPr>
            <a:picLocks noChangeAspect="1"/>
          </p:cNvPicPr>
          <p:nvPr/>
        </p:nvPicPr>
        <p:blipFill>
          <a:blip r:embed="rId6"/>
          <a:stretch>
            <a:fillRect/>
          </a:stretch>
        </p:blipFill>
        <p:spPr>
          <a:xfrm>
            <a:off x="7378128" y="17616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1BAF839A-C80F-33C9-AA52-B9D9394060DB}"/>
              </a:ext>
            </a:extLst>
          </p:cNvPr>
          <p:cNvPicPr>
            <a:picLocks noChangeAspect="1"/>
          </p:cNvPicPr>
          <p:nvPr/>
        </p:nvPicPr>
        <p:blipFill>
          <a:blip r:embed="rId7"/>
          <a:stretch>
            <a:fillRect/>
          </a:stretch>
        </p:blipFill>
        <p:spPr>
          <a:xfrm>
            <a:off x="7378128" y="1761600"/>
            <a:ext cx="2231329" cy="3334801"/>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0BF98796-6AA8-EAEA-6B41-78CE927C5238}"/>
              </a:ext>
            </a:extLst>
          </p:cNvPr>
          <p:cNvPicPr>
            <a:picLocks noChangeAspect="1"/>
          </p:cNvPicPr>
          <p:nvPr/>
        </p:nvPicPr>
        <p:blipFill>
          <a:blip r:embed="rId8"/>
          <a:stretch>
            <a:fillRect/>
          </a:stretch>
        </p:blipFill>
        <p:spPr>
          <a:xfrm>
            <a:off x="4977288" y="17616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670BBCA8-1410-6340-8108-BEAA3F50B769}"/>
              </a:ext>
            </a:extLst>
          </p:cNvPr>
          <p:cNvPicPr>
            <a:picLocks noChangeAspect="1"/>
          </p:cNvPicPr>
          <p:nvPr/>
        </p:nvPicPr>
        <p:blipFill>
          <a:blip r:embed="rId9"/>
          <a:stretch>
            <a:fillRect/>
          </a:stretch>
        </p:blipFill>
        <p:spPr>
          <a:xfrm>
            <a:off x="4977288" y="1761600"/>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7FD4E6C2-8FB4-E38B-31B9-FA96BC722AE4}"/>
              </a:ext>
            </a:extLst>
          </p:cNvPr>
          <p:cNvPicPr>
            <a:picLocks noChangeAspect="1"/>
          </p:cNvPicPr>
          <p:nvPr/>
        </p:nvPicPr>
        <p:blipFill>
          <a:blip r:embed="rId10"/>
          <a:stretch>
            <a:fillRect/>
          </a:stretch>
        </p:blipFill>
        <p:spPr>
          <a:xfrm>
            <a:off x="2570351" y="196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60C87992-8505-7D6B-9BE1-E0BD6E2A3C40}"/>
              </a:ext>
            </a:extLst>
          </p:cNvPr>
          <p:cNvPicPr>
            <a:picLocks noChangeAspect="1"/>
          </p:cNvPicPr>
          <p:nvPr/>
        </p:nvPicPr>
        <p:blipFill>
          <a:blip r:embed="rId11"/>
          <a:stretch>
            <a:fillRect/>
          </a:stretch>
        </p:blipFill>
        <p:spPr>
          <a:xfrm>
            <a:off x="2573400" y="3260978"/>
            <a:ext cx="2231329" cy="3340898"/>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6A1283FF-ECFF-155E-4FB0-F805C0339C54}"/>
              </a:ext>
            </a:extLst>
          </p:cNvPr>
          <p:cNvPicPr>
            <a:picLocks noChangeAspect="1"/>
          </p:cNvPicPr>
          <p:nvPr/>
        </p:nvPicPr>
        <p:blipFill>
          <a:blip r:embed="rId12"/>
          <a:stretch>
            <a:fillRect/>
          </a:stretch>
        </p:blipFill>
        <p:spPr>
          <a:xfrm>
            <a:off x="169511"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08FEC398-2A16-6E16-2416-8B5DB8FE79D0}"/>
              </a:ext>
            </a:extLst>
          </p:cNvPr>
          <p:cNvPicPr>
            <a:picLocks noChangeAspect="1"/>
          </p:cNvPicPr>
          <p:nvPr/>
        </p:nvPicPr>
        <p:blipFill>
          <a:blip r:embed="rId13"/>
          <a:stretch>
            <a:fillRect/>
          </a:stretch>
        </p:blipFill>
        <p:spPr>
          <a:xfrm>
            <a:off x="169511" y="3267075"/>
            <a:ext cx="2231329" cy="3334801"/>
          </a:xfrm>
          <a:prstGeom prst="rect">
            <a:avLst/>
          </a:prstGeom>
          <a:scene3d>
            <a:camera prst="perspectiveFront"/>
            <a:lightRig rig="threePt" dir="t"/>
          </a:scene3d>
        </p:spPr>
      </p:pic>
    </p:spTree>
    <p:extLst>
      <p:ext uri="{BB962C8B-B14F-4D97-AF65-F5344CB8AC3E}">
        <p14:creationId xmlns:p14="http://schemas.microsoft.com/office/powerpoint/2010/main" val="29292882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22968188-A4C9-5A07-5908-1540F966312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43BAFF-E910-74AF-446B-7C8E9D7E09D8}"/>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888C0724-F05D-F5B7-45AE-609A05877323}"/>
              </a:ext>
            </a:extLst>
          </p:cNvPr>
          <p:cNvPicPr>
            <a:picLocks noChangeAspect="1"/>
          </p:cNvPicPr>
          <p:nvPr/>
        </p:nvPicPr>
        <p:blipFill>
          <a:blip r:embed="rId4"/>
          <a:stretch>
            <a:fillRect/>
          </a:stretch>
        </p:blipFill>
        <p:spPr>
          <a:xfrm>
            <a:off x="9778968" y="17585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FA989060-BA77-7922-65BC-41EF8748ACAD}"/>
              </a:ext>
            </a:extLst>
          </p:cNvPr>
          <p:cNvPicPr>
            <a:picLocks noChangeAspect="1"/>
          </p:cNvPicPr>
          <p:nvPr/>
        </p:nvPicPr>
        <p:blipFill>
          <a:blip r:embed="rId5"/>
          <a:stretch>
            <a:fillRect/>
          </a:stretch>
        </p:blipFill>
        <p:spPr>
          <a:xfrm>
            <a:off x="9782016" y="17585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09EE8AFE-4FA7-BDD7-B208-A6D93EEEDD30}"/>
              </a:ext>
            </a:extLst>
          </p:cNvPr>
          <p:cNvPicPr>
            <a:picLocks noChangeAspect="1"/>
          </p:cNvPicPr>
          <p:nvPr/>
        </p:nvPicPr>
        <p:blipFill>
          <a:blip r:embed="rId6"/>
          <a:stretch>
            <a:fillRect/>
          </a:stretch>
        </p:blipFill>
        <p:spPr>
          <a:xfrm>
            <a:off x="7378128" y="17616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3C627F80-5F8E-BAB9-C8FA-4DAC6F153D15}"/>
              </a:ext>
            </a:extLst>
          </p:cNvPr>
          <p:cNvPicPr>
            <a:picLocks noChangeAspect="1"/>
          </p:cNvPicPr>
          <p:nvPr/>
        </p:nvPicPr>
        <p:blipFill>
          <a:blip r:embed="rId7"/>
          <a:stretch>
            <a:fillRect/>
          </a:stretch>
        </p:blipFill>
        <p:spPr>
          <a:xfrm>
            <a:off x="7378128" y="1761600"/>
            <a:ext cx="2231329" cy="3334801"/>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A0CFDE84-4A64-7CC3-B600-14E387DEE4DA}"/>
              </a:ext>
            </a:extLst>
          </p:cNvPr>
          <p:cNvPicPr>
            <a:picLocks noChangeAspect="1"/>
          </p:cNvPicPr>
          <p:nvPr/>
        </p:nvPicPr>
        <p:blipFill>
          <a:blip r:embed="rId8"/>
          <a:stretch>
            <a:fillRect/>
          </a:stretch>
        </p:blipFill>
        <p:spPr>
          <a:xfrm>
            <a:off x="4977288" y="1995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A5EED3CE-EC43-6E0E-45E9-96D90565103C}"/>
              </a:ext>
            </a:extLst>
          </p:cNvPr>
          <p:cNvPicPr>
            <a:picLocks noChangeAspect="1"/>
          </p:cNvPicPr>
          <p:nvPr/>
        </p:nvPicPr>
        <p:blipFill>
          <a:blip r:embed="rId9"/>
          <a:stretch>
            <a:fillRect/>
          </a:stretch>
        </p:blipFill>
        <p:spPr>
          <a:xfrm>
            <a:off x="4977288" y="3267075"/>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44A885FF-10C3-488E-AAAF-8624B49098F4}"/>
              </a:ext>
            </a:extLst>
          </p:cNvPr>
          <p:cNvPicPr>
            <a:picLocks noChangeAspect="1"/>
          </p:cNvPicPr>
          <p:nvPr/>
        </p:nvPicPr>
        <p:blipFill>
          <a:blip r:embed="rId10"/>
          <a:stretch>
            <a:fillRect/>
          </a:stretch>
        </p:blipFill>
        <p:spPr>
          <a:xfrm>
            <a:off x="2570351" y="196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4881FF79-56D0-8801-CF54-E29A098558AA}"/>
              </a:ext>
            </a:extLst>
          </p:cNvPr>
          <p:cNvPicPr>
            <a:picLocks noChangeAspect="1"/>
          </p:cNvPicPr>
          <p:nvPr/>
        </p:nvPicPr>
        <p:blipFill>
          <a:blip r:embed="rId11"/>
          <a:stretch>
            <a:fillRect/>
          </a:stretch>
        </p:blipFill>
        <p:spPr>
          <a:xfrm>
            <a:off x="2573400" y="3260978"/>
            <a:ext cx="2231329" cy="3340898"/>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B4330318-C0E2-2FDF-DA8D-BC96634AFB9B}"/>
              </a:ext>
            </a:extLst>
          </p:cNvPr>
          <p:cNvPicPr>
            <a:picLocks noChangeAspect="1"/>
          </p:cNvPicPr>
          <p:nvPr/>
        </p:nvPicPr>
        <p:blipFill>
          <a:blip r:embed="rId12"/>
          <a:stretch>
            <a:fillRect/>
          </a:stretch>
        </p:blipFill>
        <p:spPr>
          <a:xfrm>
            <a:off x="169511"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8659792B-1A38-037A-DCA8-7E09BC5445A6}"/>
              </a:ext>
            </a:extLst>
          </p:cNvPr>
          <p:cNvPicPr>
            <a:picLocks noChangeAspect="1"/>
          </p:cNvPicPr>
          <p:nvPr/>
        </p:nvPicPr>
        <p:blipFill>
          <a:blip r:embed="rId13"/>
          <a:stretch>
            <a:fillRect/>
          </a:stretch>
        </p:blipFill>
        <p:spPr>
          <a:xfrm>
            <a:off x="169511" y="3267075"/>
            <a:ext cx="2231329" cy="3334801"/>
          </a:xfrm>
          <a:prstGeom prst="rect">
            <a:avLst/>
          </a:prstGeom>
          <a:scene3d>
            <a:camera prst="perspectiveFront"/>
            <a:lightRig rig="threePt" dir="t"/>
          </a:scene3d>
        </p:spPr>
      </p:pic>
    </p:spTree>
    <p:extLst>
      <p:ext uri="{BB962C8B-B14F-4D97-AF65-F5344CB8AC3E}">
        <p14:creationId xmlns:p14="http://schemas.microsoft.com/office/powerpoint/2010/main" val="27295396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658EE95D-D966-0366-0432-BA7A4EAB51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CB9A32-D200-F0D4-370F-6D97BB437571}"/>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401461A6-6851-7C09-4984-5DC3A649BBB7}"/>
              </a:ext>
            </a:extLst>
          </p:cNvPr>
          <p:cNvPicPr>
            <a:picLocks noChangeAspect="1"/>
          </p:cNvPicPr>
          <p:nvPr/>
        </p:nvPicPr>
        <p:blipFill>
          <a:blip r:embed="rId4"/>
          <a:stretch>
            <a:fillRect/>
          </a:stretch>
        </p:blipFill>
        <p:spPr>
          <a:xfrm>
            <a:off x="9778968" y="17585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4D157AC8-5A27-0A02-309E-E93C2F61AD77}"/>
              </a:ext>
            </a:extLst>
          </p:cNvPr>
          <p:cNvPicPr>
            <a:picLocks noChangeAspect="1"/>
          </p:cNvPicPr>
          <p:nvPr/>
        </p:nvPicPr>
        <p:blipFill>
          <a:blip r:embed="rId5"/>
          <a:stretch>
            <a:fillRect/>
          </a:stretch>
        </p:blipFill>
        <p:spPr>
          <a:xfrm>
            <a:off x="9782016" y="1758551"/>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C6498BB0-B546-29F3-8427-0ADA6BF14A7F}"/>
              </a:ext>
            </a:extLst>
          </p:cNvPr>
          <p:cNvPicPr>
            <a:picLocks noChangeAspect="1"/>
          </p:cNvPicPr>
          <p:nvPr/>
        </p:nvPicPr>
        <p:blipFill>
          <a:blip r:embed="rId6"/>
          <a:stretch>
            <a:fillRect/>
          </a:stretch>
        </p:blipFill>
        <p:spPr>
          <a:xfrm>
            <a:off x="7378128" y="1995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AD5D8C87-7743-EE04-6FF7-39CE2D05CFE6}"/>
              </a:ext>
            </a:extLst>
          </p:cNvPr>
          <p:cNvPicPr>
            <a:picLocks noChangeAspect="1"/>
          </p:cNvPicPr>
          <p:nvPr/>
        </p:nvPicPr>
        <p:blipFill>
          <a:blip r:embed="rId7"/>
          <a:stretch>
            <a:fillRect/>
          </a:stretch>
        </p:blipFill>
        <p:spPr>
          <a:xfrm>
            <a:off x="7378128" y="3267075"/>
            <a:ext cx="2231329" cy="3334801"/>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2E4D915C-971A-17B1-8F91-89777B4F42D7}"/>
              </a:ext>
            </a:extLst>
          </p:cNvPr>
          <p:cNvPicPr>
            <a:picLocks noChangeAspect="1"/>
          </p:cNvPicPr>
          <p:nvPr/>
        </p:nvPicPr>
        <p:blipFill>
          <a:blip r:embed="rId8"/>
          <a:stretch>
            <a:fillRect/>
          </a:stretch>
        </p:blipFill>
        <p:spPr>
          <a:xfrm>
            <a:off x="4977288" y="1995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57EFB204-91EE-080B-BD91-541D88A5FE1D}"/>
              </a:ext>
            </a:extLst>
          </p:cNvPr>
          <p:cNvPicPr>
            <a:picLocks noChangeAspect="1"/>
          </p:cNvPicPr>
          <p:nvPr/>
        </p:nvPicPr>
        <p:blipFill>
          <a:blip r:embed="rId9"/>
          <a:stretch>
            <a:fillRect/>
          </a:stretch>
        </p:blipFill>
        <p:spPr>
          <a:xfrm>
            <a:off x="4977288" y="3267075"/>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A391E134-0F98-A8BF-3826-FA3114003016}"/>
              </a:ext>
            </a:extLst>
          </p:cNvPr>
          <p:cNvPicPr>
            <a:picLocks noChangeAspect="1"/>
          </p:cNvPicPr>
          <p:nvPr/>
        </p:nvPicPr>
        <p:blipFill>
          <a:blip r:embed="rId10"/>
          <a:stretch>
            <a:fillRect/>
          </a:stretch>
        </p:blipFill>
        <p:spPr>
          <a:xfrm>
            <a:off x="2570351" y="196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483A9A67-ADC5-AC5A-C116-0DDD3991DFEE}"/>
              </a:ext>
            </a:extLst>
          </p:cNvPr>
          <p:cNvPicPr>
            <a:picLocks noChangeAspect="1"/>
          </p:cNvPicPr>
          <p:nvPr/>
        </p:nvPicPr>
        <p:blipFill>
          <a:blip r:embed="rId11"/>
          <a:stretch>
            <a:fillRect/>
          </a:stretch>
        </p:blipFill>
        <p:spPr>
          <a:xfrm>
            <a:off x="2573400" y="3260978"/>
            <a:ext cx="2231329" cy="3340898"/>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F7B59F08-1166-E168-E2E8-2F62B03DBB81}"/>
              </a:ext>
            </a:extLst>
          </p:cNvPr>
          <p:cNvPicPr>
            <a:picLocks noChangeAspect="1"/>
          </p:cNvPicPr>
          <p:nvPr/>
        </p:nvPicPr>
        <p:blipFill>
          <a:blip r:embed="rId12"/>
          <a:stretch>
            <a:fillRect/>
          </a:stretch>
        </p:blipFill>
        <p:spPr>
          <a:xfrm>
            <a:off x="169511"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F1DBE54F-C4A2-6FB5-15DA-5A4C354CFC99}"/>
              </a:ext>
            </a:extLst>
          </p:cNvPr>
          <p:cNvPicPr>
            <a:picLocks noChangeAspect="1"/>
          </p:cNvPicPr>
          <p:nvPr/>
        </p:nvPicPr>
        <p:blipFill>
          <a:blip r:embed="rId13"/>
          <a:stretch>
            <a:fillRect/>
          </a:stretch>
        </p:blipFill>
        <p:spPr>
          <a:xfrm>
            <a:off x="169511" y="3267075"/>
            <a:ext cx="2231329" cy="3334801"/>
          </a:xfrm>
          <a:prstGeom prst="rect">
            <a:avLst/>
          </a:prstGeom>
          <a:scene3d>
            <a:camera prst="perspectiveFront"/>
            <a:lightRig rig="threePt" dir="t"/>
          </a:scene3d>
        </p:spPr>
      </p:pic>
    </p:spTree>
    <p:extLst>
      <p:ext uri="{BB962C8B-B14F-4D97-AF65-F5344CB8AC3E}">
        <p14:creationId xmlns:p14="http://schemas.microsoft.com/office/powerpoint/2010/main" val="28162200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B25A7502-01BA-CD55-A960-66A053724C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713338E-465B-AC37-AE4F-915F8C571E77}"/>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A38FBD99-0C56-61EF-C969-E20F39F7957D}"/>
              </a:ext>
            </a:extLst>
          </p:cNvPr>
          <p:cNvPicPr>
            <a:picLocks noChangeAspect="1"/>
          </p:cNvPicPr>
          <p:nvPr/>
        </p:nvPicPr>
        <p:blipFill>
          <a:blip r:embed="rId4"/>
          <a:stretch>
            <a:fillRect/>
          </a:stretch>
        </p:blipFill>
        <p:spPr>
          <a:xfrm>
            <a:off x="9778968" y="1964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C8641FEB-3470-B23F-3F73-9FB2E7C126C8}"/>
              </a:ext>
            </a:extLst>
          </p:cNvPr>
          <p:cNvPicPr>
            <a:picLocks noChangeAspect="1"/>
          </p:cNvPicPr>
          <p:nvPr/>
        </p:nvPicPr>
        <p:blipFill>
          <a:blip r:embed="rId5"/>
          <a:stretch>
            <a:fillRect/>
          </a:stretch>
        </p:blipFill>
        <p:spPr>
          <a:xfrm>
            <a:off x="9782016" y="3260978"/>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BCC6F70C-D993-EC45-351B-3C470686A40E}"/>
              </a:ext>
            </a:extLst>
          </p:cNvPr>
          <p:cNvPicPr>
            <a:picLocks noChangeAspect="1"/>
          </p:cNvPicPr>
          <p:nvPr/>
        </p:nvPicPr>
        <p:blipFill>
          <a:blip r:embed="rId6"/>
          <a:stretch>
            <a:fillRect/>
          </a:stretch>
        </p:blipFill>
        <p:spPr>
          <a:xfrm>
            <a:off x="7378128" y="1995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1D03FB7A-D34A-81E1-690E-69CB202A6F59}"/>
              </a:ext>
            </a:extLst>
          </p:cNvPr>
          <p:cNvPicPr>
            <a:picLocks noChangeAspect="1"/>
          </p:cNvPicPr>
          <p:nvPr/>
        </p:nvPicPr>
        <p:blipFill>
          <a:blip r:embed="rId7"/>
          <a:stretch>
            <a:fillRect/>
          </a:stretch>
        </p:blipFill>
        <p:spPr>
          <a:xfrm>
            <a:off x="7378128" y="3267075"/>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4F45A9B1-E374-27D5-249E-665411F902ED}"/>
              </a:ext>
            </a:extLst>
          </p:cNvPr>
          <p:cNvPicPr>
            <a:picLocks noChangeAspect="1"/>
          </p:cNvPicPr>
          <p:nvPr/>
        </p:nvPicPr>
        <p:blipFill>
          <a:blip r:embed="rId8"/>
          <a:stretch>
            <a:fillRect/>
          </a:stretch>
        </p:blipFill>
        <p:spPr>
          <a:xfrm>
            <a:off x="2570351" y="196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0A642689-9643-8B8B-F8B8-055F515E8817}"/>
              </a:ext>
            </a:extLst>
          </p:cNvPr>
          <p:cNvPicPr>
            <a:picLocks noChangeAspect="1"/>
          </p:cNvPicPr>
          <p:nvPr/>
        </p:nvPicPr>
        <p:blipFill>
          <a:blip r:embed="rId9"/>
          <a:stretch>
            <a:fillRect/>
          </a:stretch>
        </p:blipFill>
        <p:spPr>
          <a:xfrm>
            <a:off x="2573400" y="3260978"/>
            <a:ext cx="2231329" cy="3340898"/>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C504A0F9-1BEF-A52F-A4B2-5632CD2F54E6}"/>
              </a:ext>
            </a:extLst>
          </p:cNvPr>
          <p:cNvPicPr>
            <a:picLocks noChangeAspect="1"/>
          </p:cNvPicPr>
          <p:nvPr/>
        </p:nvPicPr>
        <p:blipFill>
          <a:blip r:embed="rId10"/>
          <a:stretch>
            <a:fillRect/>
          </a:stretch>
        </p:blipFill>
        <p:spPr>
          <a:xfrm>
            <a:off x="4977288" y="1995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C37382EB-C422-0CE1-A86E-18606F61F9E0}"/>
              </a:ext>
            </a:extLst>
          </p:cNvPr>
          <p:cNvPicPr>
            <a:picLocks noChangeAspect="1"/>
          </p:cNvPicPr>
          <p:nvPr/>
        </p:nvPicPr>
        <p:blipFill>
          <a:blip r:embed="rId11"/>
          <a:stretch>
            <a:fillRect/>
          </a:stretch>
        </p:blipFill>
        <p:spPr>
          <a:xfrm>
            <a:off x="4977288" y="3267075"/>
            <a:ext cx="2231329" cy="3334801"/>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5FC5992E-CDA5-7CDB-E15B-F78674D378E5}"/>
              </a:ext>
            </a:extLst>
          </p:cNvPr>
          <p:cNvPicPr>
            <a:picLocks noChangeAspect="1"/>
          </p:cNvPicPr>
          <p:nvPr/>
        </p:nvPicPr>
        <p:blipFill>
          <a:blip r:embed="rId12"/>
          <a:stretch>
            <a:fillRect/>
          </a:stretch>
        </p:blipFill>
        <p:spPr>
          <a:xfrm>
            <a:off x="169511"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3636013C-51C6-A2F3-89BD-879AFE0C7B37}"/>
              </a:ext>
            </a:extLst>
          </p:cNvPr>
          <p:cNvPicPr>
            <a:picLocks noChangeAspect="1"/>
          </p:cNvPicPr>
          <p:nvPr/>
        </p:nvPicPr>
        <p:blipFill>
          <a:blip r:embed="rId13"/>
          <a:stretch>
            <a:fillRect/>
          </a:stretch>
        </p:blipFill>
        <p:spPr>
          <a:xfrm>
            <a:off x="169511" y="3267075"/>
            <a:ext cx="2231329" cy="3334801"/>
          </a:xfrm>
          <a:prstGeom prst="rect">
            <a:avLst/>
          </a:prstGeom>
          <a:scene3d>
            <a:camera prst="perspectiveFront"/>
            <a:lightRig rig="threePt" dir="t"/>
          </a:scene3d>
        </p:spPr>
      </p:pic>
      <p:sp>
        <p:nvSpPr>
          <p:cNvPr id="3" name="Rectangle: Rounded Corners 2">
            <a:extLst>
              <a:ext uri="{FF2B5EF4-FFF2-40B4-BE49-F238E27FC236}">
                <a16:creationId xmlns:a16="http://schemas.microsoft.com/office/drawing/2014/main" id="{1C7DC239-06FC-7576-686F-9B9289EACB60}"/>
              </a:ext>
            </a:extLst>
          </p:cNvPr>
          <p:cNvSpPr/>
          <p:nvPr/>
        </p:nvSpPr>
        <p:spPr>
          <a:xfrm>
            <a:off x="185830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844C80F4-D47B-78AB-84E1-7EDE6E9A4EF1}"/>
              </a:ext>
            </a:extLst>
          </p:cNvPr>
          <p:cNvSpPr/>
          <p:nvPr/>
        </p:nvSpPr>
        <p:spPr>
          <a:xfrm>
            <a:off x="187050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Circle: Hollow 14">
            <a:extLst>
              <a:ext uri="{FF2B5EF4-FFF2-40B4-BE49-F238E27FC236}">
                <a16:creationId xmlns:a16="http://schemas.microsoft.com/office/drawing/2014/main" id="{00673F2E-497C-0C32-60D3-80B5B8E8674B}"/>
              </a:ext>
            </a:extLst>
          </p:cNvPr>
          <p:cNvSpPr/>
          <p:nvPr/>
        </p:nvSpPr>
        <p:spPr>
          <a:xfrm>
            <a:off x="12249122"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6" name="Graphic 15" descr="Handshake outline">
            <a:extLst>
              <a:ext uri="{FF2B5EF4-FFF2-40B4-BE49-F238E27FC236}">
                <a16:creationId xmlns:a16="http://schemas.microsoft.com/office/drawing/2014/main" id="{6CB7C542-4876-C31B-03D6-5C42580B9C3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774327" y="1069398"/>
            <a:ext cx="914400" cy="914400"/>
          </a:xfrm>
          <a:prstGeom prst="rect">
            <a:avLst/>
          </a:prstGeom>
        </p:spPr>
      </p:pic>
      <p:pic>
        <p:nvPicPr>
          <p:cNvPr id="17" name="Graphic 16" descr="List with solid fill">
            <a:extLst>
              <a:ext uri="{FF2B5EF4-FFF2-40B4-BE49-F238E27FC236}">
                <a16:creationId xmlns:a16="http://schemas.microsoft.com/office/drawing/2014/main" id="{00E3AAD8-BCBE-6FA0-DE41-F7DF78EADC4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806488" y="2971800"/>
            <a:ext cx="914400" cy="914400"/>
          </a:xfrm>
          <a:prstGeom prst="rect">
            <a:avLst/>
          </a:prstGeom>
        </p:spPr>
      </p:pic>
      <p:pic>
        <p:nvPicPr>
          <p:cNvPr id="18" name="Graphic 17" descr="Database outline">
            <a:extLst>
              <a:ext uri="{FF2B5EF4-FFF2-40B4-BE49-F238E27FC236}">
                <a16:creationId xmlns:a16="http://schemas.microsoft.com/office/drawing/2014/main" id="{08B12261-756C-D890-6598-7E48E4BBEF0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692607" y="4821693"/>
            <a:ext cx="914400" cy="914400"/>
          </a:xfrm>
          <a:prstGeom prst="rect">
            <a:avLst/>
          </a:prstGeom>
        </p:spPr>
      </p:pic>
      <p:sp>
        <p:nvSpPr>
          <p:cNvPr id="19" name="Oval 18">
            <a:extLst>
              <a:ext uri="{FF2B5EF4-FFF2-40B4-BE49-F238E27FC236}">
                <a16:creationId xmlns:a16="http://schemas.microsoft.com/office/drawing/2014/main" id="{3039AF82-2D36-F284-3490-50EF0C8AB951}"/>
              </a:ext>
            </a:extLst>
          </p:cNvPr>
          <p:cNvSpPr/>
          <p:nvPr/>
        </p:nvSpPr>
        <p:spPr>
          <a:xfrm>
            <a:off x="13750746"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Steering Wheel outline">
            <a:extLst>
              <a:ext uri="{FF2B5EF4-FFF2-40B4-BE49-F238E27FC236}">
                <a16:creationId xmlns:a16="http://schemas.microsoft.com/office/drawing/2014/main" id="{07E8D5BE-8C95-04BD-6CA2-3C4C813C1A6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4116119" y="2408259"/>
            <a:ext cx="2041482" cy="2041482"/>
          </a:xfrm>
          <a:prstGeom prst="rect">
            <a:avLst/>
          </a:prstGeom>
        </p:spPr>
      </p:pic>
    </p:spTree>
    <p:extLst>
      <p:ext uri="{BB962C8B-B14F-4D97-AF65-F5344CB8AC3E}">
        <p14:creationId xmlns:p14="http://schemas.microsoft.com/office/powerpoint/2010/main" val="5998727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78BD07A2-DFAE-622B-B57B-BB8663F35D0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57591C4B-8E77-F281-FF21-915D0F6B325F}"/>
              </a:ext>
            </a:extLst>
          </p:cNvPr>
          <p:cNvPicPr>
            <a:picLocks noChangeAspect="1"/>
          </p:cNvPicPr>
          <p:nvPr/>
        </p:nvPicPr>
        <p:blipFill>
          <a:blip r:embed="rId3">
            <a:alphaModFix amt="35000"/>
          </a:blip>
          <a:stretch>
            <a:fillRect/>
          </a:stretch>
        </p:blipFill>
        <p:spPr>
          <a:xfrm>
            <a:off x="0" y="1"/>
            <a:ext cx="12192000" cy="6858000"/>
          </a:xfrm>
          <a:prstGeom prst="rect">
            <a:avLst/>
          </a:prstGeom>
        </p:spPr>
      </p:pic>
      <p:pic>
        <p:nvPicPr>
          <p:cNvPr id="13" name="power bi back">
            <a:extLst>
              <a:ext uri="{FF2B5EF4-FFF2-40B4-BE49-F238E27FC236}">
                <a16:creationId xmlns:a16="http://schemas.microsoft.com/office/drawing/2014/main" id="{659B02AD-47CE-7358-2191-F38AD4142B02}"/>
              </a:ext>
            </a:extLst>
          </p:cNvPr>
          <p:cNvPicPr>
            <a:picLocks noChangeAspect="1"/>
          </p:cNvPicPr>
          <p:nvPr/>
        </p:nvPicPr>
        <p:blipFill>
          <a:blip r:embed="rId4"/>
          <a:stretch>
            <a:fillRect/>
          </a:stretch>
        </p:blipFill>
        <p:spPr>
          <a:xfrm>
            <a:off x="-5346732" y="196451"/>
            <a:ext cx="2243522" cy="3340898"/>
          </a:xfrm>
          <a:prstGeom prst="rect">
            <a:avLst/>
          </a:prstGeom>
          <a:scene3d>
            <a:camera prst="perspectiveFront">
              <a:rot lat="0" lon="0" rev="0"/>
            </a:camera>
            <a:lightRig rig="threePt" dir="t"/>
          </a:scene3d>
        </p:spPr>
      </p:pic>
      <p:pic>
        <p:nvPicPr>
          <p:cNvPr id="14" name="power bi">
            <a:extLst>
              <a:ext uri="{FF2B5EF4-FFF2-40B4-BE49-F238E27FC236}">
                <a16:creationId xmlns:a16="http://schemas.microsoft.com/office/drawing/2014/main" id="{39CC7666-B8FF-9183-8E91-E1BA34758D67}"/>
              </a:ext>
            </a:extLst>
          </p:cNvPr>
          <p:cNvPicPr>
            <a:picLocks noChangeAspect="1"/>
          </p:cNvPicPr>
          <p:nvPr/>
        </p:nvPicPr>
        <p:blipFill>
          <a:blip r:embed="rId5"/>
          <a:stretch>
            <a:fillRect/>
          </a:stretch>
        </p:blipFill>
        <p:spPr>
          <a:xfrm>
            <a:off x="-5343684" y="3260978"/>
            <a:ext cx="2237426" cy="3340898"/>
          </a:xfrm>
          <a:prstGeom prst="rect">
            <a:avLst/>
          </a:prstGeom>
          <a:scene3d>
            <a:camera prst="perspectiveFront"/>
            <a:lightRig rig="threePt" dir="t"/>
          </a:scene3d>
        </p:spPr>
      </p:pic>
      <p:pic>
        <p:nvPicPr>
          <p:cNvPr id="12" name="Tableau back">
            <a:extLst>
              <a:ext uri="{FF2B5EF4-FFF2-40B4-BE49-F238E27FC236}">
                <a16:creationId xmlns:a16="http://schemas.microsoft.com/office/drawing/2014/main" id="{131D5B7B-E23E-1A49-5920-628BC8613B47}"/>
              </a:ext>
            </a:extLst>
          </p:cNvPr>
          <p:cNvPicPr>
            <a:picLocks noChangeAspect="1"/>
          </p:cNvPicPr>
          <p:nvPr/>
        </p:nvPicPr>
        <p:blipFill>
          <a:blip r:embed="rId6"/>
          <a:stretch>
            <a:fillRect/>
          </a:stretch>
        </p:blipFill>
        <p:spPr>
          <a:xfrm>
            <a:off x="-7747572" y="199500"/>
            <a:ext cx="2231329" cy="3334801"/>
          </a:xfrm>
          <a:prstGeom prst="rect">
            <a:avLst/>
          </a:prstGeom>
          <a:scene3d>
            <a:camera prst="perspectiveFront">
              <a:rot lat="0" lon="0" rev="0"/>
            </a:camera>
            <a:lightRig rig="threePt" dir="t"/>
          </a:scene3d>
        </p:spPr>
      </p:pic>
      <p:pic>
        <p:nvPicPr>
          <p:cNvPr id="11" name="Tableau">
            <a:extLst>
              <a:ext uri="{FF2B5EF4-FFF2-40B4-BE49-F238E27FC236}">
                <a16:creationId xmlns:a16="http://schemas.microsoft.com/office/drawing/2014/main" id="{D9DF51E2-1A8F-8EDF-7168-9A43F1AC0C05}"/>
              </a:ext>
            </a:extLst>
          </p:cNvPr>
          <p:cNvPicPr>
            <a:picLocks noChangeAspect="1"/>
          </p:cNvPicPr>
          <p:nvPr/>
        </p:nvPicPr>
        <p:blipFill>
          <a:blip r:embed="rId7"/>
          <a:stretch>
            <a:fillRect/>
          </a:stretch>
        </p:blipFill>
        <p:spPr>
          <a:xfrm>
            <a:off x="-7747572" y="3267075"/>
            <a:ext cx="2231329" cy="3334801"/>
          </a:xfrm>
          <a:prstGeom prst="rect">
            <a:avLst/>
          </a:prstGeom>
          <a:scene3d>
            <a:camera prst="perspectiveFront"/>
            <a:lightRig rig="threePt" dir="t"/>
          </a:scene3d>
        </p:spPr>
      </p:pic>
      <p:pic>
        <p:nvPicPr>
          <p:cNvPr id="8" name="SQL BACK">
            <a:extLst>
              <a:ext uri="{FF2B5EF4-FFF2-40B4-BE49-F238E27FC236}">
                <a16:creationId xmlns:a16="http://schemas.microsoft.com/office/drawing/2014/main" id="{11D89E0B-6175-9F34-3AE6-9BCE5DA24C27}"/>
              </a:ext>
            </a:extLst>
          </p:cNvPr>
          <p:cNvPicPr>
            <a:picLocks noChangeAspect="1"/>
          </p:cNvPicPr>
          <p:nvPr/>
        </p:nvPicPr>
        <p:blipFill>
          <a:blip r:embed="rId8"/>
          <a:stretch>
            <a:fillRect/>
          </a:stretch>
        </p:blipFill>
        <p:spPr>
          <a:xfrm>
            <a:off x="-12555349" y="196451"/>
            <a:ext cx="2237426" cy="3340898"/>
          </a:xfrm>
          <a:prstGeom prst="rect">
            <a:avLst/>
          </a:prstGeom>
          <a:scene3d>
            <a:camera prst="perspectiveFront">
              <a:rot lat="0" lon="0" rev="0"/>
            </a:camera>
            <a:lightRig rig="threePt" dir="t"/>
          </a:scene3d>
        </p:spPr>
      </p:pic>
      <p:pic>
        <p:nvPicPr>
          <p:cNvPr id="7" name="SQL">
            <a:extLst>
              <a:ext uri="{FF2B5EF4-FFF2-40B4-BE49-F238E27FC236}">
                <a16:creationId xmlns:a16="http://schemas.microsoft.com/office/drawing/2014/main" id="{87D465AD-A5B1-7010-6BE3-5CE0E747026F}"/>
              </a:ext>
            </a:extLst>
          </p:cNvPr>
          <p:cNvPicPr>
            <a:picLocks noChangeAspect="1"/>
          </p:cNvPicPr>
          <p:nvPr/>
        </p:nvPicPr>
        <p:blipFill>
          <a:blip r:embed="rId9"/>
          <a:stretch>
            <a:fillRect/>
          </a:stretch>
        </p:blipFill>
        <p:spPr>
          <a:xfrm>
            <a:off x="-12552300" y="3260978"/>
            <a:ext cx="2231329" cy="3340898"/>
          </a:xfrm>
          <a:prstGeom prst="rect">
            <a:avLst/>
          </a:prstGeom>
          <a:scene3d>
            <a:camera prst="perspectiveFront"/>
            <a:lightRig rig="threePt" dir="t"/>
          </a:scene3d>
        </p:spPr>
      </p:pic>
      <p:pic>
        <p:nvPicPr>
          <p:cNvPr id="10" name="Python back">
            <a:extLst>
              <a:ext uri="{FF2B5EF4-FFF2-40B4-BE49-F238E27FC236}">
                <a16:creationId xmlns:a16="http://schemas.microsoft.com/office/drawing/2014/main" id="{ED8D363B-6CA2-5BCC-0E36-93631799D85F}"/>
              </a:ext>
            </a:extLst>
          </p:cNvPr>
          <p:cNvPicPr>
            <a:picLocks noChangeAspect="1"/>
          </p:cNvPicPr>
          <p:nvPr/>
        </p:nvPicPr>
        <p:blipFill>
          <a:blip r:embed="rId10"/>
          <a:stretch>
            <a:fillRect/>
          </a:stretch>
        </p:blipFill>
        <p:spPr>
          <a:xfrm>
            <a:off x="-10148412" y="199500"/>
            <a:ext cx="2231329" cy="3334801"/>
          </a:xfrm>
          <a:prstGeom prst="rect">
            <a:avLst/>
          </a:prstGeom>
          <a:scene3d>
            <a:camera prst="perspectiveFront">
              <a:rot lat="0" lon="0" rev="0"/>
            </a:camera>
            <a:lightRig rig="threePt" dir="t"/>
          </a:scene3d>
        </p:spPr>
      </p:pic>
      <p:pic>
        <p:nvPicPr>
          <p:cNvPr id="9" name="Python">
            <a:extLst>
              <a:ext uri="{FF2B5EF4-FFF2-40B4-BE49-F238E27FC236}">
                <a16:creationId xmlns:a16="http://schemas.microsoft.com/office/drawing/2014/main" id="{03F04029-87EC-59D0-D78C-0BD0D07CAE4F}"/>
              </a:ext>
            </a:extLst>
          </p:cNvPr>
          <p:cNvPicPr>
            <a:picLocks noChangeAspect="1"/>
          </p:cNvPicPr>
          <p:nvPr/>
        </p:nvPicPr>
        <p:blipFill>
          <a:blip r:embed="rId11"/>
          <a:stretch>
            <a:fillRect/>
          </a:stretch>
        </p:blipFill>
        <p:spPr>
          <a:xfrm>
            <a:off x="-10148412" y="3267075"/>
            <a:ext cx="2231329" cy="3334801"/>
          </a:xfrm>
          <a:prstGeom prst="rect">
            <a:avLst/>
          </a:prstGeom>
          <a:scene3d>
            <a:camera prst="perspectiveFront"/>
            <a:lightRig rig="threePt" dir="t"/>
          </a:scene3d>
        </p:spPr>
      </p:pic>
      <p:pic>
        <p:nvPicPr>
          <p:cNvPr id="5" name="excel back">
            <a:extLst>
              <a:ext uri="{FF2B5EF4-FFF2-40B4-BE49-F238E27FC236}">
                <a16:creationId xmlns:a16="http://schemas.microsoft.com/office/drawing/2014/main" id="{1D696E5B-E297-7B12-31C4-C72F8535E734}"/>
              </a:ext>
            </a:extLst>
          </p:cNvPr>
          <p:cNvPicPr>
            <a:picLocks noChangeAspect="1"/>
          </p:cNvPicPr>
          <p:nvPr/>
        </p:nvPicPr>
        <p:blipFill>
          <a:blip r:embed="rId12"/>
          <a:stretch>
            <a:fillRect/>
          </a:stretch>
        </p:blipFill>
        <p:spPr>
          <a:xfrm>
            <a:off x="-14956189" y="199500"/>
            <a:ext cx="2231329" cy="3334801"/>
          </a:xfrm>
          <a:prstGeom prst="rect">
            <a:avLst/>
          </a:prstGeom>
          <a:scene3d>
            <a:camera prst="perspectiveFront">
              <a:rot lat="0" lon="0" rev="0"/>
            </a:camera>
            <a:lightRig rig="threePt" dir="t"/>
          </a:scene3d>
        </p:spPr>
      </p:pic>
      <p:pic>
        <p:nvPicPr>
          <p:cNvPr id="4" name="excel">
            <a:extLst>
              <a:ext uri="{FF2B5EF4-FFF2-40B4-BE49-F238E27FC236}">
                <a16:creationId xmlns:a16="http://schemas.microsoft.com/office/drawing/2014/main" id="{55E67B93-E918-C33C-78BC-4B6DF31F66B1}"/>
              </a:ext>
            </a:extLst>
          </p:cNvPr>
          <p:cNvPicPr>
            <a:picLocks noChangeAspect="1"/>
          </p:cNvPicPr>
          <p:nvPr/>
        </p:nvPicPr>
        <p:blipFill>
          <a:blip r:embed="rId13"/>
          <a:stretch>
            <a:fillRect/>
          </a:stretch>
        </p:blipFill>
        <p:spPr>
          <a:xfrm>
            <a:off x="-14956189" y="3267075"/>
            <a:ext cx="2231329" cy="3334801"/>
          </a:xfrm>
          <a:prstGeom prst="rect">
            <a:avLst/>
          </a:prstGeom>
          <a:scene3d>
            <a:camera prst="perspectiveFront"/>
            <a:lightRig rig="threePt" dir="t"/>
          </a:scene3d>
        </p:spPr>
      </p:pic>
      <p:sp>
        <p:nvSpPr>
          <p:cNvPr id="2" name="Circle: Hollow 1">
            <a:extLst>
              <a:ext uri="{FF2B5EF4-FFF2-40B4-BE49-F238E27FC236}">
                <a16:creationId xmlns:a16="http://schemas.microsoft.com/office/drawing/2014/main" id="{E1145ADE-DDE4-53CB-77DA-4EC001FEB759}"/>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AFA832F7-ADC8-A713-F45D-D462590B0381}"/>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8C7010B7-2389-9B9B-1CD1-BE314E25ED2A}"/>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1" name="Graphic 20" descr="Handshake outline">
            <a:extLst>
              <a:ext uri="{FF2B5EF4-FFF2-40B4-BE49-F238E27FC236}">
                <a16:creationId xmlns:a16="http://schemas.microsoft.com/office/drawing/2014/main" id="{D93E0537-B08C-0793-0D86-233065F8C40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48627" y="1069398"/>
            <a:ext cx="914400" cy="914400"/>
          </a:xfrm>
          <a:prstGeom prst="rect">
            <a:avLst/>
          </a:prstGeom>
        </p:spPr>
      </p:pic>
      <p:pic>
        <p:nvPicPr>
          <p:cNvPr id="23" name="Graphic 22" descr="List with solid fill">
            <a:extLst>
              <a:ext uri="{FF2B5EF4-FFF2-40B4-BE49-F238E27FC236}">
                <a16:creationId xmlns:a16="http://schemas.microsoft.com/office/drawing/2014/main" id="{86CB35F3-1137-6F3D-34F1-8D8A81FC1EE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80788" y="2971800"/>
            <a:ext cx="914400" cy="914400"/>
          </a:xfrm>
          <a:prstGeom prst="rect">
            <a:avLst/>
          </a:prstGeom>
        </p:spPr>
      </p:pic>
      <p:pic>
        <p:nvPicPr>
          <p:cNvPr id="24" name="Graphic 23" descr="Database outline">
            <a:extLst>
              <a:ext uri="{FF2B5EF4-FFF2-40B4-BE49-F238E27FC236}">
                <a16:creationId xmlns:a16="http://schemas.microsoft.com/office/drawing/2014/main" id="{C1DAB281-7156-8F4B-803E-54A1D2A40B5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66907" y="4821693"/>
            <a:ext cx="914400" cy="914400"/>
          </a:xfrm>
          <a:prstGeom prst="rect">
            <a:avLst/>
          </a:prstGeom>
        </p:spPr>
      </p:pic>
      <p:sp>
        <p:nvSpPr>
          <p:cNvPr id="25" name="Oval 24">
            <a:extLst>
              <a:ext uri="{FF2B5EF4-FFF2-40B4-BE49-F238E27FC236}">
                <a16:creationId xmlns:a16="http://schemas.microsoft.com/office/drawing/2014/main" id="{A867756B-EA6F-B264-3ED5-C227B76CA990}"/>
              </a:ext>
            </a:extLst>
          </p:cNvPr>
          <p:cNvSpPr/>
          <p:nvPr/>
        </p:nvSpPr>
        <p:spPr>
          <a:xfrm>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Steering Wheel outline">
            <a:extLst>
              <a:ext uri="{FF2B5EF4-FFF2-40B4-BE49-F238E27FC236}">
                <a16:creationId xmlns:a16="http://schemas.microsoft.com/office/drawing/2014/main" id="{348F099E-E196-B8B8-0DFB-AE0C6056842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09581" y="2408260"/>
            <a:ext cx="2041482" cy="2041482"/>
          </a:xfrm>
          <a:prstGeom prst="rect">
            <a:avLst/>
          </a:prstGeom>
        </p:spPr>
      </p:pic>
    </p:spTree>
    <p:extLst>
      <p:ext uri="{BB962C8B-B14F-4D97-AF65-F5344CB8AC3E}">
        <p14:creationId xmlns:p14="http://schemas.microsoft.com/office/powerpoint/2010/main" val="205959408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4D0AB153-7977-17B9-31C3-662D9F2ADF3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EB0BCFD-B8E4-6549-5CDF-C5633B97A356}"/>
              </a:ext>
            </a:extLst>
          </p:cNvPr>
          <p:cNvPicPr>
            <a:picLocks noChangeAspect="1"/>
          </p:cNvPicPr>
          <p:nvPr/>
        </p:nvPicPr>
        <p:blipFill>
          <a:blip r:embed="rId3">
            <a:alphaModFix amt="35000"/>
          </a:blip>
          <a:stretch>
            <a:fillRect/>
          </a:stretch>
        </p:blipFill>
        <p:spPr>
          <a:xfrm>
            <a:off x="0" y="1"/>
            <a:ext cx="12192000" cy="6858000"/>
          </a:xfrm>
          <a:prstGeom prst="rect">
            <a:avLst/>
          </a:prstGeom>
        </p:spPr>
      </p:pic>
      <p:sp>
        <p:nvSpPr>
          <p:cNvPr id="2" name="Circle: Hollow 1">
            <a:extLst>
              <a:ext uri="{FF2B5EF4-FFF2-40B4-BE49-F238E27FC236}">
                <a16:creationId xmlns:a16="http://schemas.microsoft.com/office/drawing/2014/main" id="{B8BE323B-2D7A-61F6-7E62-AA0A24C27C9B}"/>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32144F64-92AA-2F6D-5893-D0A8888EA41D}"/>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A68E5ABA-B6ED-9BAA-ACCC-F87FCFA894AB}"/>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3" name="Graphic 22" descr="List with solid fill">
            <a:extLst>
              <a:ext uri="{FF2B5EF4-FFF2-40B4-BE49-F238E27FC236}">
                <a16:creationId xmlns:a16="http://schemas.microsoft.com/office/drawing/2014/main" id="{082AE81A-042E-6E5D-6569-04994C5F04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80788" y="2971800"/>
            <a:ext cx="914400" cy="914400"/>
          </a:xfrm>
          <a:prstGeom prst="rect">
            <a:avLst/>
          </a:prstGeom>
        </p:spPr>
      </p:pic>
      <p:pic>
        <p:nvPicPr>
          <p:cNvPr id="24" name="Graphic 23" descr="Database outline">
            <a:extLst>
              <a:ext uri="{FF2B5EF4-FFF2-40B4-BE49-F238E27FC236}">
                <a16:creationId xmlns:a16="http://schemas.microsoft.com/office/drawing/2014/main" id="{7011F6FC-B62B-6333-14DF-1B4A7DEB79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6907" y="4821693"/>
            <a:ext cx="914400" cy="914400"/>
          </a:xfrm>
          <a:prstGeom prst="rect">
            <a:avLst/>
          </a:prstGeom>
        </p:spPr>
      </p:pic>
      <p:sp>
        <p:nvSpPr>
          <p:cNvPr id="25" name="Oval 24">
            <a:extLst>
              <a:ext uri="{FF2B5EF4-FFF2-40B4-BE49-F238E27FC236}">
                <a16:creationId xmlns:a16="http://schemas.microsoft.com/office/drawing/2014/main" id="{BA8F1F7E-5A54-DBEB-4992-CF464E30515D}"/>
              </a:ext>
            </a:extLst>
          </p:cNvPr>
          <p:cNvSpPr/>
          <p:nvPr/>
        </p:nvSpPr>
        <p:spPr>
          <a:xfrm rot="1010255">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276A4FB-E52E-7569-789C-6F42A5E3CDA4}"/>
              </a:ext>
            </a:extLst>
          </p:cNvPr>
          <p:cNvSpPr/>
          <p:nvPr/>
        </p:nvSpPr>
        <p:spPr>
          <a:xfrm>
            <a:off x="384973" y="396729"/>
            <a:ext cx="1639578" cy="1639578"/>
          </a:xfrm>
          <a:prstGeom prst="ellipse">
            <a:avLst/>
          </a:prstGeom>
          <a:solidFill>
            <a:srgbClr val="D9CBC2"/>
          </a:solidFill>
          <a:ln w="57150">
            <a:solidFill>
              <a:srgbClr val="1122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Handshake outline">
            <a:extLst>
              <a:ext uri="{FF2B5EF4-FFF2-40B4-BE49-F238E27FC236}">
                <a16:creationId xmlns:a16="http://schemas.microsoft.com/office/drawing/2014/main" id="{08272D3F-2C97-7717-F1DE-BFD118C243C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2353" y="684109"/>
            <a:ext cx="1064819" cy="1064819"/>
          </a:xfrm>
          <a:prstGeom prst="rect">
            <a:avLst/>
          </a:prstGeom>
        </p:spPr>
      </p:pic>
      <p:sp>
        <p:nvSpPr>
          <p:cNvPr id="15" name="TextBox 14">
            <a:extLst>
              <a:ext uri="{FF2B5EF4-FFF2-40B4-BE49-F238E27FC236}">
                <a16:creationId xmlns:a16="http://schemas.microsoft.com/office/drawing/2014/main" id="{0CA37044-0CFC-684C-9721-4C2185FF5380}"/>
              </a:ext>
            </a:extLst>
          </p:cNvPr>
          <p:cNvSpPr txBox="1"/>
          <p:nvPr/>
        </p:nvSpPr>
        <p:spPr>
          <a:xfrm>
            <a:off x="3728368" y="571339"/>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Introduction</a:t>
            </a:r>
          </a:p>
        </p:txBody>
      </p:sp>
      <p:sp>
        <p:nvSpPr>
          <p:cNvPr id="16" name="TextBox 15">
            <a:extLst>
              <a:ext uri="{FF2B5EF4-FFF2-40B4-BE49-F238E27FC236}">
                <a16:creationId xmlns:a16="http://schemas.microsoft.com/office/drawing/2014/main" id="{9B2083B2-0869-00F2-7522-A1412237D000}"/>
              </a:ext>
            </a:extLst>
          </p:cNvPr>
          <p:cNvSpPr txBox="1"/>
          <p:nvPr/>
        </p:nvSpPr>
        <p:spPr>
          <a:xfrm>
            <a:off x="3728368" y="1523083"/>
            <a:ext cx="8239125"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Berlin Sans FB Demi" panose="020E0802020502020306" pitchFamily="34" charset="0"/>
              </a:rPr>
              <a:t>Project Objective</a:t>
            </a:r>
          </a:p>
          <a:p>
            <a:r>
              <a:rPr lang="en-US" sz="2800" dirty="0">
                <a:latin typeface="Berlin Sans FB" panose="020E0602020502020306" pitchFamily="34" charset="0"/>
              </a:rPr>
              <a:t>Analyze downtime data to understand:</a:t>
            </a:r>
          </a:p>
          <a:p>
            <a:pPr marL="914400" lvl="1" indent="-457200">
              <a:buFont typeface="Wingdings" panose="05000000000000000000" pitchFamily="2" charset="2"/>
              <a:buChar char="Ø"/>
            </a:pPr>
            <a:r>
              <a:rPr lang="en-US" sz="2800" dirty="0">
                <a:cs typeface="Akhbar MT" pitchFamily="2" charset="-78"/>
              </a:rPr>
              <a:t>Occurrences of downtime</a:t>
            </a:r>
          </a:p>
          <a:p>
            <a:pPr marL="914400" lvl="1" indent="-457200">
              <a:buFont typeface="Wingdings" panose="05000000000000000000" pitchFamily="2" charset="2"/>
              <a:buChar char="Ø"/>
            </a:pPr>
            <a:r>
              <a:rPr lang="en-US" sz="2800" dirty="0">
                <a:cs typeface="Akhbar MT" pitchFamily="2" charset="-78"/>
              </a:rPr>
              <a:t>Downtime impact</a:t>
            </a:r>
          </a:p>
          <a:p>
            <a:pPr marL="914400" lvl="1" indent="-457200">
              <a:buFont typeface="Wingdings" panose="05000000000000000000" pitchFamily="2" charset="2"/>
              <a:buChar char="Ø"/>
            </a:pPr>
            <a:r>
              <a:rPr lang="en-US" sz="2800" dirty="0">
                <a:cs typeface="Akhbar MT" pitchFamily="2" charset="-78"/>
              </a:rPr>
              <a:t>Most effective downtime factor</a:t>
            </a:r>
          </a:p>
          <a:p>
            <a:pPr lvl="1"/>
            <a:endParaRPr lang="en-US" sz="2800" dirty="0">
              <a:cs typeface="Akhbar MT" pitchFamily="2" charset="-78"/>
            </a:endParaRPr>
          </a:p>
          <a:p>
            <a:pPr marL="457200" indent="-457200">
              <a:buFont typeface="Wingdings" panose="05000000000000000000" pitchFamily="2" charset="2"/>
              <a:buChar char="§"/>
            </a:pPr>
            <a:r>
              <a:rPr lang="en-US" sz="2800" dirty="0">
                <a:latin typeface="Berlin Sans FB Demi" panose="020E0802020502020306" pitchFamily="34" charset="0"/>
              </a:rPr>
              <a:t>Why?</a:t>
            </a:r>
          </a:p>
          <a:p>
            <a:pPr lvl="1"/>
            <a:r>
              <a:rPr lang="en-US" sz="2800" dirty="0">
                <a:cs typeface="Akhbar MT" pitchFamily="2" charset="-78"/>
              </a:rPr>
              <a:t>Understanding its causes is essential for reducing unnecessary expenses and improving efficiency.</a:t>
            </a:r>
            <a:endParaRPr lang="en-US" sz="3200" dirty="0">
              <a:latin typeface="Berlin Sans FB Demi" panose="020E0802020502020306" pitchFamily="34" charset="0"/>
            </a:endParaRPr>
          </a:p>
        </p:txBody>
      </p:sp>
      <p:pic>
        <p:nvPicPr>
          <p:cNvPr id="17" name="Graphic 16" descr="Steering Wheel outline">
            <a:extLst>
              <a:ext uri="{FF2B5EF4-FFF2-40B4-BE49-F238E27FC236}">
                <a16:creationId xmlns:a16="http://schemas.microsoft.com/office/drawing/2014/main" id="{66FF97E5-8819-B57D-4032-1C7663E6EA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9581" y="2408260"/>
            <a:ext cx="2041482" cy="2041482"/>
          </a:xfrm>
          <a:prstGeom prst="rect">
            <a:avLst/>
          </a:prstGeom>
        </p:spPr>
      </p:pic>
    </p:spTree>
    <p:extLst>
      <p:ext uri="{BB962C8B-B14F-4D97-AF65-F5344CB8AC3E}">
        <p14:creationId xmlns:p14="http://schemas.microsoft.com/office/powerpoint/2010/main" val="38997999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D622FD69-8094-B1D3-930C-B0F51EA2259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963C020-E034-FA81-9D73-81DDA11D84C7}"/>
              </a:ext>
            </a:extLst>
          </p:cNvPr>
          <p:cNvPicPr>
            <a:picLocks noChangeAspect="1"/>
          </p:cNvPicPr>
          <p:nvPr/>
        </p:nvPicPr>
        <p:blipFill>
          <a:blip r:embed="rId3">
            <a:alphaModFix amt="35000"/>
          </a:blip>
          <a:stretch>
            <a:fillRect/>
          </a:stretch>
        </p:blipFill>
        <p:spPr>
          <a:xfrm>
            <a:off x="0" y="1"/>
            <a:ext cx="12192000" cy="6858000"/>
          </a:xfrm>
          <a:prstGeom prst="rect">
            <a:avLst/>
          </a:prstGeom>
        </p:spPr>
      </p:pic>
      <p:sp>
        <p:nvSpPr>
          <p:cNvPr id="2" name="Circle: Hollow 1">
            <a:extLst>
              <a:ext uri="{FF2B5EF4-FFF2-40B4-BE49-F238E27FC236}">
                <a16:creationId xmlns:a16="http://schemas.microsoft.com/office/drawing/2014/main" id="{AB74A6A3-819F-FB2C-955F-BBB77E59B974}"/>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FAAA901F-39C6-8EBF-719B-A0D5D09643F1}"/>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B7A7A8D0-F1FB-8A9F-7582-F4F8A10DFC33}"/>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1" name="Graphic 20" descr="Handshake outline">
            <a:extLst>
              <a:ext uri="{FF2B5EF4-FFF2-40B4-BE49-F238E27FC236}">
                <a16:creationId xmlns:a16="http://schemas.microsoft.com/office/drawing/2014/main" id="{826D47D8-1920-9C08-4EF4-83EC5CF27F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627" y="1069398"/>
            <a:ext cx="914400" cy="914400"/>
          </a:xfrm>
          <a:prstGeom prst="rect">
            <a:avLst/>
          </a:prstGeom>
        </p:spPr>
      </p:pic>
      <p:pic>
        <p:nvPicPr>
          <p:cNvPr id="24" name="Graphic 23" descr="Database outline">
            <a:extLst>
              <a:ext uri="{FF2B5EF4-FFF2-40B4-BE49-F238E27FC236}">
                <a16:creationId xmlns:a16="http://schemas.microsoft.com/office/drawing/2014/main" id="{0EF8E3C6-360A-B4F7-0910-1493146369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6907" y="4821693"/>
            <a:ext cx="914400" cy="914400"/>
          </a:xfrm>
          <a:prstGeom prst="rect">
            <a:avLst/>
          </a:prstGeom>
        </p:spPr>
      </p:pic>
      <p:sp>
        <p:nvSpPr>
          <p:cNvPr id="15" name="Oval 14">
            <a:extLst>
              <a:ext uri="{FF2B5EF4-FFF2-40B4-BE49-F238E27FC236}">
                <a16:creationId xmlns:a16="http://schemas.microsoft.com/office/drawing/2014/main" id="{C4058015-74CE-A4C1-7EB0-8326197CC79A}"/>
              </a:ext>
            </a:extLst>
          </p:cNvPr>
          <p:cNvSpPr/>
          <p:nvPr/>
        </p:nvSpPr>
        <p:spPr>
          <a:xfrm>
            <a:off x="1576213" y="2441189"/>
            <a:ext cx="1639578" cy="1639578"/>
          </a:xfrm>
          <a:prstGeom prst="ellipse">
            <a:avLst/>
          </a:prstGeom>
          <a:solidFill>
            <a:srgbClr val="D9CBC2"/>
          </a:solidFill>
          <a:ln w="57150">
            <a:solidFill>
              <a:srgbClr val="1122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List with solid fill">
            <a:extLst>
              <a:ext uri="{FF2B5EF4-FFF2-40B4-BE49-F238E27FC236}">
                <a16:creationId xmlns:a16="http://schemas.microsoft.com/office/drawing/2014/main" id="{2F132CC2-1B1D-D4D1-492D-6217FFD3626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38802" y="2803778"/>
            <a:ext cx="914400" cy="914400"/>
          </a:xfrm>
          <a:prstGeom prst="rect">
            <a:avLst/>
          </a:prstGeom>
        </p:spPr>
      </p:pic>
      <p:sp>
        <p:nvSpPr>
          <p:cNvPr id="20" name="TextBox 19">
            <a:extLst>
              <a:ext uri="{FF2B5EF4-FFF2-40B4-BE49-F238E27FC236}">
                <a16:creationId xmlns:a16="http://schemas.microsoft.com/office/drawing/2014/main" id="{79F8DE71-A86D-1440-EF3B-2C7E279B396B}"/>
              </a:ext>
            </a:extLst>
          </p:cNvPr>
          <p:cNvSpPr txBox="1"/>
          <p:nvPr/>
        </p:nvSpPr>
        <p:spPr>
          <a:xfrm>
            <a:off x="3728368" y="573880"/>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Summary</a:t>
            </a:r>
          </a:p>
        </p:txBody>
      </p:sp>
      <p:sp>
        <p:nvSpPr>
          <p:cNvPr id="28" name="Oval 27">
            <a:extLst>
              <a:ext uri="{FF2B5EF4-FFF2-40B4-BE49-F238E27FC236}">
                <a16:creationId xmlns:a16="http://schemas.microsoft.com/office/drawing/2014/main" id="{2D30392F-B295-459C-7CD3-438A17298692}"/>
              </a:ext>
            </a:extLst>
          </p:cNvPr>
          <p:cNvSpPr/>
          <p:nvPr/>
        </p:nvSpPr>
        <p:spPr>
          <a:xfrm rot="4620000">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descr="Steering Wheel outline">
            <a:extLst>
              <a:ext uri="{FF2B5EF4-FFF2-40B4-BE49-F238E27FC236}">
                <a16:creationId xmlns:a16="http://schemas.microsoft.com/office/drawing/2014/main" id="{DAB7B2D5-526C-D0A2-8DF1-02A1F33BDB8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5400000">
            <a:off x="-1009581" y="2408260"/>
            <a:ext cx="2041482" cy="2041482"/>
          </a:xfrm>
          <a:prstGeom prst="rect">
            <a:avLst/>
          </a:prstGeom>
        </p:spPr>
      </p:pic>
      <p:pic>
        <p:nvPicPr>
          <p:cNvPr id="4" name="Picture 3">
            <a:extLst>
              <a:ext uri="{FF2B5EF4-FFF2-40B4-BE49-F238E27FC236}">
                <a16:creationId xmlns:a16="http://schemas.microsoft.com/office/drawing/2014/main" id="{0C8237C2-10BE-935D-7BEA-312FECD6767D}"/>
              </a:ext>
            </a:extLst>
          </p:cNvPr>
          <p:cNvPicPr>
            <a:picLocks noChangeAspect="1"/>
          </p:cNvPicPr>
          <p:nvPr/>
        </p:nvPicPr>
        <p:blipFill>
          <a:blip r:embed="rId12"/>
          <a:stretch>
            <a:fillRect/>
          </a:stretch>
        </p:blipFill>
        <p:spPr>
          <a:xfrm>
            <a:off x="4603973" y="2394042"/>
            <a:ext cx="2413713" cy="45719"/>
          </a:xfrm>
          <a:prstGeom prst="rect">
            <a:avLst/>
          </a:prstGeom>
        </p:spPr>
      </p:pic>
      <p:pic>
        <p:nvPicPr>
          <p:cNvPr id="5" name="Picture 4">
            <a:extLst>
              <a:ext uri="{FF2B5EF4-FFF2-40B4-BE49-F238E27FC236}">
                <a16:creationId xmlns:a16="http://schemas.microsoft.com/office/drawing/2014/main" id="{50914CBA-CC2A-8619-4EFE-2212F7B4FD1B}"/>
              </a:ext>
            </a:extLst>
          </p:cNvPr>
          <p:cNvPicPr>
            <a:picLocks noChangeAspect="1"/>
          </p:cNvPicPr>
          <p:nvPr/>
        </p:nvPicPr>
        <p:blipFill>
          <a:blip r:embed="rId13"/>
          <a:stretch>
            <a:fillRect/>
          </a:stretch>
        </p:blipFill>
        <p:spPr>
          <a:xfrm>
            <a:off x="8285571" y="2394042"/>
            <a:ext cx="2330216" cy="45719"/>
          </a:xfrm>
          <a:prstGeom prst="rect">
            <a:avLst/>
          </a:prstGeom>
        </p:spPr>
      </p:pic>
      <p:sp>
        <p:nvSpPr>
          <p:cNvPr id="7" name="Sheets">
            <a:extLst>
              <a:ext uri="{FF2B5EF4-FFF2-40B4-BE49-F238E27FC236}">
                <a16:creationId xmlns:a16="http://schemas.microsoft.com/office/drawing/2014/main" id="{F203B3B2-BF9E-7026-A1EA-9F70C4B714D2}"/>
              </a:ext>
            </a:extLst>
          </p:cNvPr>
          <p:cNvSpPr/>
          <p:nvPr/>
        </p:nvSpPr>
        <p:spPr>
          <a:xfrm>
            <a:off x="4625945"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Sheets</a:t>
            </a:r>
          </a:p>
        </p:txBody>
      </p:sp>
      <p:sp>
        <p:nvSpPr>
          <p:cNvPr id="8" name="Sheets">
            <a:extLst>
              <a:ext uri="{FF2B5EF4-FFF2-40B4-BE49-F238E27FC236}">
                <a16:creationId xmlns:a16="http://schemas.microsoft.com/office/drawing/2014/main" id="{A9D0A9D4-A813-3540-FED9-140C36B5709F}"/>
              </a:ext>
            </a:extLst>
          </p:cNvPr>
          <p:cNvSpPr/>
          <p:nvPr/>
        </p:nvSpPr>
        <p:spPr>
          <a:xfrm>
            <a:off x="8285571"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Calculated Columns</a:t>
            </a:r>
          </a:p>
        </p:txBody>
      </p:sp>
      <p:sp>
        <p:nvSpPr>
          <p:cNvPr id="11" name="TextBox 10">
            <a:extLst>
              <a:ext uri="{FF2B5EF4-FFF2-40B4-BE49-F238E27FC236}">
                <a16:creationId xmlns:a16="http://schemas.microsoft.com/office/drawing/2014/main" id="{8491AE11-D69A-7AEE-D039-9531A9DAC667}"/>
              </a:ext>
            </a:extLst>
          </p:cNvPr>
          <p:cNvSpPr txBox="1"/>
          <p:nvPr/>
        </p:nvSpPr>
        <p:spPr>
          <a:xfrm>
            <a:off x="16459530" y="571339"/>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Introduction</a:t>
            </a:r>
          </a:p>
        </p:txBody>
      </p:sp>
      <p:sp>
        <p:nvSpPr>
          <p:cNvPr id="12" name="TextBox 11">
            <a:extLst>
              <a:ext uri="{FF2B5EF4-FFF2-40B4-BE49-F238E27FC236}">
                <a16:creationId xmlns:a16="http://schemas.microsoft.com/office/drawing/2014/main" id="{BD55F164-F1D0-1084-317C-6E8F2B3253ED}"/>
              </a:ext>
            </a:extLst>
          </p:cNvPr>
          <p:cNvSpPr txBox="1"/>
          <p:nvPr/>
        </p:nvSpPr>
        <p:spPr>
          <a:xfrm>
            <a:off x="16459530" y="1523083"/>
            <a:ext cx="8239125"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Berlin Sans FB Demi" panose="020E0802020502020306" pitchFamily="34" charset="0"/>
              </a:rPr>
              <a:t>Project Objective</a:t>
            </a:r>
          </a:p>
          <a:p>
            <a:r>
              <a:rPr lang="en-US" sz="2800" dirty="0">
                <a:latin typeface="Berlin Sans FB" panose="020E0602020502020306" pitchFamily="34" charset="0"/>
              </a:rPr>
              <a:t>Analyze downtime data to understand:</a:t>
            </a:r>
          </a:p>
          <a:p>
            <a:pPr marL="914400" lvl="1" indent="-457200">
              <a:buFont typeface="Wingdings" panose="05000000000000000000" pitchFamily="2" charset="2"/>
              <a:buChar char="Ø"/>
            </a:pPr>
            <a:r>
              <a:rPr lang="en-US" sz="2800" dirty="0">
                <a:cs typeface="Akhbar MT" pitchFamily="2" charset="-78"/>
              </a:rPr>
              <a:t>Occurrences of downtime</a:t>
            </a:r>
          </a:p>
          <a:p>
            <a:pPr marL="914400" lvl="1" indent="-457200">
              <a:buFont typeface="Wingdings" panose="05000000000000000000" pitchFamily="2" charset="2"/>
              <a:buChar char="Ø"/>
            </a:pPr>
            <a:r>
              <a:rPr lang="en-US" sz="2800" dirty="0">
                <a:cs typeface="Akhbar MT" pitchFamily="2" charset="-78"/>
              </a:rPr>
              <a:t>Downtime impact</a:t>
            </a:r>
          </a:p>
          <a:p>
            <a:pPr marL="914400" lvl="1" indent="-457200">
              <a:buFont typeface="Wingdings" panose="05000000000000000000" pitchFamily="2" charset="2"/>
              <a:buChar char="Ø"/>
            </a:pPr>
            <a:r>
              <a:rPr lang="en-US" sz="2800" dirty="0">
                <a:cs typeface="Akhbar MT" pitchFamily="2" charset="-78"/>
              </a:rPr>
              <a:t>Most effective downtime factor</a:t>
            </a:r>
          </a:p>
          <a:p>
            <a:pPr lvl="1"/>
            <a:endParaRPr lang="en-US" sz="2800" dirty="0">
              <a:cs typeface="Akhbar MT" pitchFamily="2" charset="-78"/>
            </a:endParaRPr>
          </a:p>
          <a:p>
            <a:pPr marL="457200" indent="-457200">
              <a:buFont typeface="Wingdings" panose="05000000000000000000" pitchFamily="2" charset="2"/>
              <a:buChar char="§"/>
            </a:pPr>
            <a:r>
              <a:rPr lang="en-US" sz="2800" dirty="0">
                <a:latin typeface="Berlin Sans FB Demi" panose="020E0802020502020306" pitchFamily="34" charset="0"/>
              </a:rPr>
              <a:t>Why?</a:t>
            </a:r>
          </a:p>
          <a:p>
            <a:pPr lvl="1"/>
            <a:r>
              <a:rPr lang="en-US" sz="2800" dirty="0">
                <a:cs typeface="Akhbar MT" pitchFamily="2" charset="-78"/>
              </a:rPr>
              <a:t>Understanding its causes is essential for reducing unnecessary expenses and improving efficiency.</a:t>
            </a:r>
            <a:endParaRPr lang="en-US" sz="3200" dirty="0">
              <a:latin typeface="Berlin Sans FB Demi" panose="020E0802020502020306" pitchFamily="34" charset="0"/>
            </a:endParaRPr>
          </a:p>
        </p:txBody>
      </p:sp>
    </p:spTree>
    <p:extLst>
      <p:ext uri="{BB962C8B-B14F-4D97-AF65-F5344CB8AC3E}">
        <p14:creationId xmlns:p14="http://schemas.microsoft.com/office/powerpoint/2010/main" val="199022641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D84E4092-4B2A-37B2-FE14-2E7B912B0E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05E32FE-0B44-B55A-2FC3-07AF4106D9D3}"/>
              </a:ext>
            </a:extLst>
          </p:cNvPr>
          <p:cNvPicPr>
            <a:picLocks noChangeAspect="1"/>
          </p:cNvPicPr>
          <p:nvPr/>
        </p:nvPicPr>
        <p:blipFill>
          <a:blip r:embed="rId3">
            <a:alphaModFix amt="35000"/>
          </a:blip>
          <a:stretch>
            <a:fillRect/>
          </a:stretch>
        </p:blipFill>
        <p:spPr>
          <a:xfrm>
            <a:off x="0" y="1"/>
            <a:ext cx="12192000" cy="6858000"/>
          </a:xfrm>
          <a:prstGeom prst="rect">
            <a:avLst/>
          </a:prstGeom>
        </p:spPr>
      </p:pic>
      <p:sp>
        <p:nvSpPr>
          <p:cNvPr id="2" name="Circle: Hollow 1">
            <a:extLst>
              <a:ext uri="{FF2B5EF4-FFF2-40B4-BE49-F238E27FC236}">
                <a16:creationId xmlns:a16="http://schemas.microsoft.com/office/drawing/2014/main" id="{D31FA97E-7395-CBF8-D9D5-C554C3C24EA5}"/>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DF28C6E3-CE18-90AF-3896-F41FA93EB064}"/>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2085EC86-AAC2-A85A-CC76-C74AF39E3A3C}"/>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1" name="Graphic 20" descr="Handshake outline">
            <a:extLst>
              <a:ext uri="{FF2B5EF4-FFF2-40B4-BE49-F238E27FC236}">
                <a16:creationId xmlns:a16="http://schemas.microsoft.com/office/drawing/2014/main" id="{14392704-FE06-20A0-50E2-95A08F920D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627" y="1069398"/>
            <a:ext cx="914400" cy="914400"/>
          </a:xfrm>
          <a:prstGeom prst="rect">
            <a:avLst/>
          </a:prstGeom>
        </p:spPr>
      </p:pic>
      <p:pic>
        <p:nvPicPr>
          <p:cNvPr id="24" name="Graphic 23" descr="Database outline">
            <a:extLst>
              <a:ext uri="{FF2B5EF4-FFF2-40B4-BE49-F238E27FC236}">
                <a16:creationId xmlns:a16="http://schemas.microsoft.com/office/drawing/2014/main" id="{581DBC26-961D-DC66-184F-5AC827485C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6907" y="4821693"/>
            <a:ext cx="914400" cy="914400"/>
          </a:xfrm>
          <a:prstGeom prst="rect">
            <a:avLst/>
          </a:prstGeom>
        </p:spPr>
      </p:pic>
      <p:sp>
        <p:nvSpPr>
          <p:cNvPr id="25" name="Oval 24">
            <a:extLst>
              <a:ext uri="{FF2B5EF4-FFF2-40B4-BE49-F238E27FC236}">
                <a16:creationId xmlns:a16="http://schemas.microsoft.com/office/drawing/2014/main" id="{D4C8A08B-608F-0534-131A-3F8FC40C51A3}"/>
              </a:ext>
            </a:extLst>
          </p:cNvPr>
          <p:cNvSpPr/>
          <p:nvPr/>
        </p:nvSpPr>
        <p:spPr>
          <a:xfrm rot="1010255">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149FCCA-4D73-1D97-F422-FE716287D841}"/>
              </a:ext>
            </a:extLst>
          </p:cNvPr>
          <p:cNvSpPr/>
          <p:nvPr/>
        </p:nvSpPr>
        <p:spPr>
          <a:xfrm>
            <a:off x="1576213" y="2441189"/>
            <a:ext cx="1639578" cy="1639578"/>
          </a:xfrm>
          <a:prstGeom prst="ellipse">
            <a:avLst/>
          </a:prstGeom>
          <a:solidFill>
            <a:srgbClr val="D9CBC2"/>
          </a:solidFill>
          <a:ln w="57150">
            <a:solidFill>
              <a:srgbClr val="1122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List with solid fill">
            <a:extLst>
              <a:ext uri="{FF2B5EF4-FFF2-40B4-BE49-F238E27FC236}">
                <a16:creationId xmlns:a16="http://schemas.microsoft.com/office/drawing/2014/main" id="{BEC98AEC-8C4A-346F-5A35-2F2C9DF3AF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38802" y="2803778"/>
            <a:ext cx="914400" cy="914400"/>
          </a:xfrm>
          <a:prstGeom prst="rect">
            <a:avLst/>
          </a:prstGeom>
        </p:spPr>
      </p:pic>
      <p:pic>
        <p:nvPicPr>
          <p:cNvPr id="4" name="Picture 3">
            <a:extLst>
              <a:ext uri="{FF2B5EF4-FFF2-40B4-BE49-F238E27FC236}">
                <a16:creationId xmlns:a16="http://schemas.microsoft.com/office/drawing/2014/main" id="{BC7D9B43-2277-D35D-D8BE-8083FCD5CF6F}"/>
              </a:ext>
            </a:extLst>
          </p:cNvPr>
          <p:cNvPicPr>
            <a:picLocks noChangeAspect="1"/>
          </p:cNvPicPr>
          <p:nvPr/>
        </p:nvPicPr>
        <p:blipFill>
          <a:blip r:embed="rId10"/>
          <a:stretch>
            <a:fillRect/>
          </a:stretch>
        </p:blipFill>
        <p:spPr>
          <a:xfrm>
            <a:off x="4603973" y="2394042"/>
            <a:ext cx="2413713" cy="3377067"/>
          </a:xfrm>
          <a:prstGeom prst="rect">
            <a:avLst/>
          </a:prstGeom>
        </p:spPr>
      </p:pic>
      <p:pic>
        <p:nvPicPr>
          <p:cNvPr id="5" name="Picture 4">
            <a:extLst>
              <a:ext uri="{FF2B5EF4-FFF2-40B4-BE49-F238E27FC236}">
                <a16:creationId xmlns:a16="http://schemas.microsoft.com/office/drawing/2014/main" id="{6E8E2259-C67A-79A5-043B-ABDE5140D772}"/>
              </a:ext>
            </a:extLst>
          </p:cNvPr>
          <p:cNvPicPr>
            <a:picLocks noChangeAspect="1"/>
          </p:cNvPicPr>
          <p:nvPr/>
        </p:nvPicPr>
        <p:blipFill>
          <a:blip r:embed="rId11"/>
          <a:stretch>
            <a:fillRect/>
          </a:stretch>
        </p:blipFill>
        <p:spPr>
          <a:xfrm>
            <a:off x="8285571" y="2394042"/>
            <a:ext cx="2330216" cy="3377067"/>
          </a:xfrm>
          <a:prstGeom prst="rect">
            <a:avLst/>
          </a:prstGeom>
        </p:spPr>
      </p:pic>
      <p:sp>
        <p:nvSpPr>
          <p:cNvPr id="17" name="Sheets">
            <a:extLst>
              <a:ext uri="{FF2B5EF4-FFF2-40B4-BE49-F238E27FC236}">
                <a16:creationId xmlns:a16="http://schemas.microsoft.com/office/drawing/2014/main" id="{0D459B71-6DFF-DD8D-6B36-AE230F892ED8}"/>
              </a:ext>
            </a:extLst>
          </p:cNvPr>
          <p:cNvSpPr/>
          <p:nvPr/>
        </p:nvSpPr>
        <p:spPr>
          <a:xfrm>
            <a:off x="4625945"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Sheets</a:t>
            </a:r>
          </a:p>
        </p:txBody>
      </p:sp>
      <p:sp>
        <p:nvSpPr>
          <p:cNvPr id="20" name="TextBox 19">
            <a:extLst>
              <a:ext uri="{FF2B5EF4-FFF2-40B4-BE49-F238E27FC236}">
                <a16:creationId xmlns:a16="http://schemas.microsoft.com/office/drawing/2014/main" id="{FAF01EFE-E3F6-C329-4AC4-73BCA484C292}"/>
              </a:ext>
            </a:extLst>
          </p:cNvPr>
          <p:cNvSpPr txBox="1"/>
          <p:nvPr/>
        </p:nvSpPr>
        <p:spPr>
          <a:xfrm>
            <a:off x="3728368" y="573880"/>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Summary</a:t>
            </a:r>
          </a:p>
        </p:txBody>
      </p:sp>
      <p:pic>
        <p:nvPicPr>
          <p:cNvPr id="28" name="Graphic 27" descr="Steering Wheel outline">
            <a:extLst>
              <a:ext uri="{FF2B5EF4-FFF2-40B4-BE49-F238E27FC236}">
                <a16:creationId xmlns:a16="http://schemas.microsoft.com/office/drawing/2014/main" id="{17BF3963-3E80-3431-222C-CC6B838A731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5400000">
            <a:off x="-1009581" y="2408260"/>
            <a:ext cx="2041482" cy="2041482"/>
          </a:xfrm>
          <a:prstGeom prst="rect">
            <a:avLst/>
          </a:prstGeom>
        </p:spPr>
      </p:pic>
      <p:sp>
        <p:nvSpPr>
          <p:cNvPr id="9" name="Sheets">
            <a:extLst>
              <a:ext uri="{FF2B5EF4-FFF2-40B4-BE49-F238E27FC236}">
                <a16:creationId xmlns:a16="http://schemas.microsoft.com/office/drawing/2014/main" id="{008759F6-B66F-9350-B9DB-2C67BC6121FE}"/>
              </a:ext>
            </a:extLst>
          </p:cNvPr>
          <p:cNvSpPr/>
          <p:nvPr/>
        </p:nvSpPr>
        <p:spPr>
          <a:xfrm>
            <a:off x="8285571"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Calculated Columns</a:t>
            </a:r>
          </a:p>
        </p:txBody>
      </p:sp>
    </p:spTree>
    <p:extLst>
      <p:ext uri="{BB962C8B-B14F-4D97-AF65-F5344CB8AC3E}">
        <p14:creationId xmlns:p14="http://schemas.microsoft.com/office/powerpoint/2010/main" val="18653392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19000" b="-19000"/>
          </a:stretch>
        </a:blipFill>
        <a:effectLst/>
      </p:bgPr>
    </p:bg>
    <p:spTree>
      <p:nvGrpSpPr>
        <p:cNvPr id="1" name="">
          <a:extLst>
            <a:ext uri="{FF2B5EF4-FFF2-40B4-BE49-F238E27FC236}">
              <a16:creationId xmlns:a16="http://schemas.microsoft.com/office/drawing/2014/main" id="{98BE2107-A14D-67FB-43FA-31CFCBD7444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2D18F1E-A92E-FF55-0EF8-E68A3BE798DA}"/>
              </a:ext>
            </a:extLst>
          </p:cNvPr>
          <p:cNvPicPr>
            <a:picLocks noChangeAspect="1"/>
          </p:cNvPicPr>
          <p:nvPr/>
        </p:nvPicPr>
        <p:blipFill>
          <a:blip r:embed="rId3">
            <a:alphaModFix amt="35000"/>
          </a:blip>
          <a:stretch>
            <a:fillRect/>
          </a:stretch>
        </p:blipFill>
        <p:spPr>
          <a:xfrm>
            <a:off x="0" y="1"/>
            <a:ext cx="12192000" cy="6858000"/>
          </a:xfrm>
          <a:prstGeom prst="rect">
            <a:avLst/>
          </a:prstGeom>
        </p:spPr>
      </p:pic>
      <p:sp>
        <p:nvSpPr>
          <p:cNvPr id="2" name="Circle: Hollow 1">
            <a:extLst>
              <a:ext uri="{FF2B5EF4-FFF2-40B4-BE49-F238E27FC236}">
                <a16:creationId xmlns:a16="http://schemas.microsoft.com/office/drawing/2014/main" id="{CFA2BBDB-0DF0-929E-A2D7-2F5CAABACF84}"/>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77643D2E-A78D-4B70-03B1-84F115E28FCB}"/>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E28CC160-543D-1C40-C492-E63F823FE86A}"/>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1" name="Graphic 20" descr="Handshake outline">
            <a:extLst>
              <a:ext uri="{FF2B5EF4-FFF2-40B4-BE49-F238E27FC236}">
                <a16:creationId xmlns:a16="http://schemas.microsoft.com/office/drawing/2014/main" id="{337985EB-AF19-83E5-364A-A868B95DF3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627" y="1069398"/>
            <a:ext cx="914400" cy="914400"/>
          </a:xfrm>
          <a:prstGeom prst="rect">
            <a:avLst/>
          </a:prstGeom>
        </p:spPr>
      </p:pic>
      <p:pic>
        <p:nvPicPr>
          <p:cNvPr id="23" name="Graphic 22" descr="List with solid fill">
            <a:extLst>
              <a:ext uri="{FF2B5EF4-FFF2-40B4-BE49-F238E27FC236}">
                <a16:creationId xmlns:a16="http://schemas.microsoft.com/office/drawing/2014/main" id="{70C60C56-55FD-AD16-51A4-0B8FFEE6F7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80788" y="2971800"/>
            <a:ext cx="914400" cy="914400"/>
          </a:xfrm>
          <a:prstGeom prst="rect">
            <a:avLst/>
          </a:prstGeom>
        </p:spPr>
      </p:pic>
      <p:sp>
        <p:nvSpPr>
          <p:cNvPr id="25" name="Oval 24">
            <a:extLst>
              <a:ext uri="{FF2B5EF4-FFF2-40B4-BE49-F238E27FC236}">
                <a16:creationId xmlns:a16="http://schemas.microsoft.com/office/drawing/2014/main" id="{1849DF41-671E-B56B-4DF5-BDCF16E686F0}"/>
              </a:ext>
            </a:extLst>
          </p:cNvPr>
          <p:cNvSpPr/>
          <p:nvPr/>
        </p:nvSpPr>
        <p:spPr>
          <a:xfrm rot="1010255">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1B5A7C6-48B5-20E3-8EF7-55790E7A2920}"/>
              </a:ext>
            </a:extLst>
          </p:cNvPr>
          <p:cNvSpPr/>
          <p:nvPr/>
        </p:nvSpPr>
        <p:spPr>
          <a:xfrm>
            <a:off x="384973" y="4783593"/>
            <a:ext cx="1639578" cy="1639578"/>
          </a:xfrm>
          <a:prstGeom prst="ellipse">
            <a:avLst/>
          </a:prstGeom>
          <a:solidFill>
            <a:srgbClr val="D9CBC2"/>
          </a:solidFill>
          <a:ln w="57150">
            <a:solidFill>
              <a:srgbClr val="1122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Graphic 23" descr="Database outline">
            <a:extLst>
              <a:ext uri="{FF2B5EF4-FFF2-40B4-BE49-F238E27FC236}">
                <a16:creationId xmlns:a16="http://schemas.microsoft.com/office/drawing/2014/main" id="{809EA72C-9FA0-D05C-53A4-9DE83630188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7562" y="5146182"/>
            <a:ext cx="914400" cy="914400"/>
          </a:xfrm>
          <a:prstGeom prst="rect">
            <a:avLst/>
          </a:prstGeom>
        </p:spPr>
      </p:pic>
      <p:sp>
        <p:nvSpPr>
          <p:cNvPr id="20" name="TextBox 19">
            <a:extLst>
              <a:ext uri="{FF2B5EF4-FFF2-40B4-BE49-F238E27FC236}">
                <a16:creationId xmlns:a16="http://schemas.microsoft.com/office/drawing/2014/main" id="{116807AB-FF84-0292-23E1-D01D76C4F5C1}"/>
              </a:ext>
            </a:extLst>
          </p:cNvPr>
          <p:cNvSpPr txBox="1"/>
          <p:nvPr/>
        </p:nvSpPr>
        <p:spPr>
          <a:xfrm>
            <a:off x="3728368" y="541266"/>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Model</a:t>
            </a:r>
          </a:p>
        </p:txBody>
      </p:sp>
      <p:pic>
        <p:nvPicPr>
          <p:cNvPr id="22" name="Graphic 21" descr="Steering Wheel outline">
            <a:extLst>
              <a:ext uri="{FF2B5EF4-FFF2-40B4-BE49-F238E27FC236}">
                <a16:creationId xmlns:a16="http://schemas.microsoft.com/office/drawing/2014/main" id="{029247BD-69FE-0CA7-7FB6-3E934302045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a:off x="-1009581" y="2408260"/>
            <a:ext cx="2041482" cy="2041482"/>
          </a:xfrm>
          <a:prstGeom prst="rect">
            <a:avLst/>
          </a:prstGeom>
        </p:spPr>
      </p:pic>
      <p:pic>
        <p:nvPicPr>
          <p:cNvPr id="28" name="Picture 27" hidden="1">
            <a:extLst>
              <a:ext uri="{FF2B5EF4-FFF2-40B4-BE49-F238E27FC236}">
                <a16:creationId xmlns:a16="http://schemas.microsoft.com/office/drawing/2014/main" id="{ECF48624-56A8-A717-2940-231F75ED21FF}"/>
              </a:ext>
            </a:extLst>
          </p:cNvPr>
          <p:cNvPicPr>
            <a:picLocks noChangeAspect="1"/>
          </p:cNvPicPr>
          <p:nvPr/>
        </p:nvPicPr>
        <p:blipFill>
          <a:blip r:embed="rId12"/>
          <a:stretch>
            <a:fillRect/>
          </a:stretch>
        </p:blipFill>
        <p:spPr>
          <a:xfrm>
            <a:off x="-55506852" y="-16370493"/>
            <a:ext cx="165603389" cy="47879385"/>
          </a:xfrm>
          <a:prstGeom prst="rect">
            <a:avLst/>
          </a:prstGeom>
        </p:spPr>
      </p:pic>
      <p:pic>
        <p:nvPicPr>
          <p:cNvPr id="29" name="Picture 28">
            <a:extLst>
              <a:ext uri="{FF2B5EF4-FFF2-40B4-BE49-F238E27FC236}">
                <a16:creationId xmlns:a16="http://schemas.microsoft.com/office/drawing/2014/main" id="{BB22E97E-C918-18A1-92C4-BDE506D9C578}"/>
              </a:ext>
            </a:extLst>
          </p:cNvPr>
          <p:cNvPicPr>
            <a:picLocks noChangeAspect="1"/>
          </p:cNvPicPr>
          <p:nvPr/>
        </p:nvPicPr>
        <p:blipFill>
          <a:blip r:embed="rId13"/>
          <a:stretch>
            <a:fillRect/>
          </a:stretch>
        </p:blipFill>
        <p:spPr>
          <a:xfrm>
            <a:off x="425823" y="21644894"/>
            <a:ext cx="11077392" cy="1072989"/>
          </a:xfrm>
          <a:prstGeom prst="rect">
            <a:avLst/>
          </a:prstGeom>
        </p:spPr>
      </p:pic>
      <p:pic>
        <p:nvPicPr>
          <p:cNvPr id="30" name="Picture 29">
            <a:extLst>
              <a:ext uri="{FF2B5EF4-FFF2-40B4-BE49-F238E27FC236}">
                <a16:creationId xmlns:a16="http://schemas.microsoft.com/office/drawing/2014/main" id="{86E5328E-4F14-B881-AF98-0E8003D67940}"/>
              </a:ext>
            </a:extLst>
          </p:cNvPr>
          <p:cNvPicPr>
            <a:picLocks noChangeAspect="1"/>
          </p:cNvPicPr>
          <p:nvPr/>
        </p:nvPicPr>
        <p:blipFill>
          <a:blip r:embed="rId14"/>
          <a:stretch>
            <a:fillRect/>
          </a:stretch>
        </p:blipFill>
        <p:spPr>
          <a:xfrm>
            <a:off x="419602" y="22564456"/>
            <a:ext cx="11772396" cy="1182727"/>
          </a:xfrm>
          <a:prstGeom prst="rect">
            <a:avLst/>
          </a:prstGeom>
        </p:spPr>
      </p:pic>
      <p:pic>
        <p:nvPicPr>
          <p:cNvPr id="31" name="Picture 30">
            <a:extLst>
              <a:ext uri="{FF2B5EF4-FFF2-40B4-BE49-F238E27FC236}">
                <a16:creationId xmlns:a16="http://schemas.microsoft.com/office/drawing/2014/main" id="{2008BE99-F2F4-1F0A-97D6-8F631FCAB049}"/>
              </a:ext>
            </a:extLst>
          </p:cNvPr>
          <p:cNvPicPr>
            <a:picLocks noChangeAspect="1"/>
          </p:cNvPicPr>
          <p:nvPr/>
        </p:nvPicPr>
        <p:blipFill>
          <a:blip r:embed="rId15"/>
          <a:stretch>
            <a:fillRect/>
          </a:stretch>
        </p:blipFill>
        <p:spPr>
          <a:xfrm>
            <a:off x="447857" y="23593756"/>
            <a:ext cx="11077392" cy="1072989"/>
          </a:xfrm>
          <a:prstGeom prst="rect">
            <a:avLst/>
          </a:prstGeom>
        </p:spPr>
      </p:pic>
      <p:pic>
        <p:nvPicPr>
          <p:cNvPr id="32" name="Picture 31">
            <a:extLst>
              <a:ext uri="{FF2B5EF4-FFF2-40B4-BE49-F238E27FC236}">
                <a16:creationId xmlns:a16="http://schemas.microsoft.com/office/drawing/2014/main" id="{187FDC93-F48E-BBBE-0AB5-DD88DCC4251D}"/>
              </a:ext>
            </a:extLst>
          </p:cNvPr>
          <p:cNvPicPr>
            <a:picLocks noChangeAspect="1"/>
          </p:cNvPicPr>
          <p:nvPr/>
        </p:nvPicPr>
        <p:blipFill>
          <a:blip r:embed="rId16"/>
          <a:stretch>
            <a:fillRect/>
          </a:stretch>
        </p:blipFill>
        <p:spPr>
          <a:xfrm>
            <a:off x="425823" y="24513318"/>
            <a:ext cx="11077392" cy="1072989"/>
          </a:xfrm>
          <a:prstGeom prst="rect">
            <a:avLst/>
          </a:prstGeom>
        </p:spPr>
      </p:pic>
      <p:pic>
        <p:nvPicPr>
          <p:cNvPr id="33" name="Picture 32">
            <a:extLst>
              <a:ext uri="{FF2B5EF4-FFF2-40B4-BE49-F238E27FC236}">
                <a16:creationId xmlns:a16="http://schemas.microsoft.com/office/drawing/2014/main" id="{4BD335ED-AE77-EE51-0B08-030874BD1204}"/>
              </a:ext>
            </a:extLst>
          </p:cNvPr>
          <p:cNvPicPr>
            <a:picLocks noChangeAspect="1"/>
          </p:cNvPicPr>
          <p:nvPr/>
        </p:nvPicPr>
        <p:blipFill>
          <a:blip r:embed="rId17"/>
          <a:stretch>
            <a:fillRect/>
          </a:stretch>
        </p:blipFill>
        <p:spPr>
          <a:xfrm>
            <a:off x="403789" y="25432881"/>
            <a:ext cx="11077392" cy="1072989"/>
          </a:xfrm>
          <a:prstGeom prst="rect">
            <a:avLst/>
          </a:prstGeom>
        </p:spPr>
      </p:pic>
      <p:pic>
        <p:nvPicPr>
          <p:cNvPr id="4" name="Picture 3">
            <a:extLst>
              <a:ext uri="{FF2B5EF4-FFF2-40B4-BE49-F238E27FC236}">
                <a16:creationId xmlns:a16="http://schemas.microsoft.com/office/drawing/2014/main" id="{F34F30A3-D9D7-4804-6D08-36065F6E407D}"/>
              </a:ext>
            </a:extLst>
          </p:cNvPr>
          <p:cNvPicPr>
            <a:picLocks noChangeAspect="1"/>
          </p:cNvPicPr>
          <p:nvPr/>
        </p:nvPicPr>
        <p:blipFill>
          <a:blip r:embed="rId18"/>
          <a:stretch>
            <a:fillRect/>
          </a:stretch>
        </p:blipFill>
        <p:spPr>
          <a:xfrm>
            <a:off x="17199096" y="2394042"/>
            <a:ext cx="2413713" cy="3377067"/>
          </a:xfrm>
          <a:prstGeom prst="rect">
            <a:avLst/>
          </a:prstGeom>
        </p:spPr>
      </p:pic>
      <p:pic>
        <p:nvPicPr>
          <p:cNvPr id="5" name="Picture 4">
            <a:extLst>
              <a:ext uri="{FF2B5EF4-FFF2-40B4-BE49-F238E27FC236}">
                <a16:creationId xmlns:a16="http://schemas.microsoft.com/office/drawing/2014/main" id="{03413F66-B6FC-1DAC-1C61-619D9FEF4FEE}"/>
              </a:ext>
            </a:extLst>
          </p:cNvPr>
          <p:cNvPicPr>
            <a:picLocks noChangeAspect="1"/>
          </p:cNvPicPr>
          <p:nvPr/>
        </p:nvPicPr>
        <p:blipFill>
          <a:blip r:embed="rId19"/>
          <a:stretch>
            <a:fillRect/>
          </a:stretch>
        </p:blipFill>
        <p:spPr>
          <a:xfrm>
            <a:off x="20880694" y="2394042"/>
            <a:ext cx="2330216" cy="3377067"/>
          </a:xfrm>
          <a:prstGeom prst="rect">
            <a:avLst/>
          </a:prstGeom>
        </p:spPr>
      </p:pic>
      <p:sp>
        <p:nvSpPr>
          <p:cNvPr id="7" name="Sheets">
            <a:extLst>
              <a:ext uri="{FF2B5EF4-FFF2-40B4-BE49-F238E27FC236}">
                <a16:creationId xmlns:a16="http://schemas.microsoft.com/office/drawing/2014/main" id="{92DE99B1-36CF-5360-980D-2A8F545C3FDC}"/>
              </a:ext>
            </a:extLst>
          </p:cNvPr>
          <p:cNvSpPr/>
          <p:nvPr/>
        </p:nvSpPr>
        <p:spPr>
          <a:xfrm>
            <a:off x="17221068"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Sheets</a:t>
            </a:r>
          </a:p>
        </p:txBody>
      </p:sp>
      <p:sp>
        <p:nvSpPr>
          <p:cNvPr id="8" name="TextBox 7">
            <a:extLst>
              <a:ext uri="{FF2B5EF4-FFF2-40B4-BE49-F238E27FC236}">
                <a16:creationId xmlns:a16="http://schemas.microsoft.com/office/drawing/2014/main" id="{3AFBB2FC-EA91-C89C-0912-B34BCC6ECE7F}"/>
              </a:ext>
            </a:extLst>
          </p:cNvPr>
          <p:cNvSpPr txBox="1"/>
          <p:nvPr/>
        </p:nvSpPr>
        <p:spPr>
          <a:xfrm>
            <a:off x="16323491" y="573880"/>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Summary</a:t>
            </a:r>
          </a:p>
        </p:txBody>
      </p:sp>
      <p:sp>
        <p:nvSpPr>
          <p:cNvPr id="9" name="Sheets">
            <a:extLst>
              <a:ext uri="{FF2B5EF4-FFF2-40B4-BE49-F238E27FC236}">
                <a16:creationId xmlns:a16="http://schemas.microsoft.com/office/drawing/2014/main" id="{0DA91D85-7713-1169-5D7B-384F35F1DDC6}"/>
              </a:ext>
            </a:extLst>
          </p:cNvPr>
          <p:cNvSpPr/>
          <p:nvPr/>
        </p:nvSpPr>
        <p:spPr>
          <a:xfrm>
            <a:off x="20880694"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Calculated Columns</a:t>
            </a:r>
          </a:p>
        </p:txBody>
      </p:sp>
    </p:spTree>
    <p:extLst>
      <p:ext uri="{BB962C8B-B14F-4D97-AF65-F5344CB8AC3E}">
        <p14:creationId xmlns:p14="http://schemas.microsoft.com/office/powerpoint/2010/main" val="20760656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5000" b="-5000"/>
          </a:stretch>
        </a:blipFill>
        <a:effectLst/>
      </p:bgPr>
    </p:bg>
    <p:spTree>
      <p:nvGrpSpPr>
        <p:cNvPr id="1" name="">
          <a:extLst>
            <a:ext uri="{FF2B5EF4-FFF2-40B4-BE49-F238E27FC236}">
              <a16:creationId xmlns:a16="http://schemas.microsoft.com/office/drawing/2014/main" id="{F68D3F30-FEA0-8BF8-F5B7-167A29711C5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D977541-7BCF-7A45-0F4F-FF900EA2738E}"/>
              </a:ext>
            </a:extLst>
          </p:cNvPr>
          <p:cNvPicPr>
            <a:picLocks noChangeAspect="1"/>
          </p:cNvPicPr>
          <p:nvPr/>
        </p:nvPicPr>
        <p:blipFill>
          <a:blip r:embed="rId3">
            <a:alphaModFix amt="35000"/>
          </a:blip>
          <a:stretch>
            <a:fillRect/>
          </a:stretch>
        </p:blipFill>
        <p:spPr>
          <a:xfrm>
            <a:off x="0" y="1"/>
            <a:ext cx="12192000" cy="6858000"/>
          </a:xfrm>
          <a:prstGeom prst="rect">
            <a:avLst/>
          </a:prstGeom>
        </p:spPr>
      </p:pic>
      <p:sp>
        <p:nvSpPr>
          <p:cNvPr id="2" name="Circle: Hollow 1">
            <a:extLst>
              <a:ext uri="{FF2B5EF4-FFF2-40B4-BE49-F238E27FC236}">
                <a16:creationId xmlns:a16="http://schemas.microsoft.com/office/drawing/2014/main" id="{3B821EFB-6CCD-CAF5-3046-E823FA7E9582}"/>
              </a:ext>
            </a:extLst>
          </p:cNvPr>
          <p:cNvSpPr/>
          <p:nvPr/>
        </p:nvSpPr>
        <p:spPr>
          <a:xfrm>
            <a:off x="-2876578" y="542925"/>
            <a:ext cx="5772150" cy="5772150"/>
          </a:xfrm>
          <a:prstGeom prst="donut">
            <a:avLst/>
          </a:prstGeom>
          <a:gradFill>
            <a:gsLst>
              <a:gs pos="0">
                <a:srgbClr val="112250"/>
              </a:gs>
              <a:gs pos="100000">
                <a:srgbClr val="F5F0EA"/>
              </a:gs>
              <a:gs pos="100000">
                <a:schemeClr val="accent1">
                  <a:tint val="23500"/>
                  <a:satMod val="160000"/>
                </a:schemeClr>
              </a:gs>
            </a:gsLst>
            <a:lin ang="10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Rounded Corners 2">
            <a:extLst>
              <a:ext uri="{FF2B5EF4-FFF2-40B4-BE49-F238E27FC236}">
                <a16:creationId xmlns:a16="http://schemas.microsoft.com/office/drawing/2014/main" id="{BE6B9843-49F1-6A92-1A1B-141FBC235DF0}"/>
              </a:ext>
            </a:extLst>
          </p:cNvPr>
          <p:cNvSpPr/>
          <p:nvPr/>
        </p:nvSpPr>
        <p:spPr>
          <a:xfrm>
            <a:off x="3457318" y="542925"/>
            <a:ext cx="9561581" cy="5772150"/>
          </a:xfrm>
          <a:prstGeom prst="roundRect">
            <a:avLst>
              <a:gd name="adj" fmla="val 10726"/>
            </a:avLst>
          </a:prstGeom>
          <a:solidFill>
            <a:srgbClr val="3B507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0B35A4B2-EE74-4A43-A467-EA8FF9BAAC76}"/>
              </a:ext>
            </a:extLst>
          </p:cNvPr>
          <p:cNvSpPr/>
          <p:nvPr/>
        </p:nvSpPr>
        <p:spPr>
          <a:xfrm>
            <a:off x="3579375" y="669487"/>
            <a:ext cx="9714321" cy="5519026"/>
          </a:xfrm>
          <a:prstGeom prst="roundRect">
            <a:avLst>
              <a:gd name="adj" fmla="val 10726"/>
            </a:avLst>
          </a:prstGeom>
          <a:solidFill>
            <a:srgbClr val="F5F0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1" name="Graphic 20" descr="Handshake outline">
            <a:extLst>
              <a:ext uri="{FF2B5EF4-FFF2-40B4-BE49-F238E27FC236}">
                <a16:creationId xmlns:a16="http://schemas.microsoft.com/office/drawing/2014/main" id="{184C916C-BF39-834B-F042-4CBE686B36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627" y="1069398"/>
            <a:ext cx="914400" cy="914400"/>
          </a:xfrm>
          <a:prstGeom prst="rect">
            <a:avLst/>
          </a:prstGeom>
        </p:spPr>
      </p:pic>
      <p:pic>
        <p:nvPicPr>
          <p:cNvPr id="23" name="Graphic 22" descr="List with solid fill">
            <a:extLst>
              <a:ext uri="{FF2B5EF4-FFF2-40B4-BE49-F238E27FC236}">
                <a16:creationId xmlns:a16="http://schemas.microsoft.com/office/drawing/2014/main" id="{1EC745CA-DCD3-D86F-6A62-3E25AFAFAD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80788" y="2971800"/>
            <a:ext cx="914400" cy="914400"/>
          </a:xfrm>
          <a:prstGeom prst="rect">
            <a:avLst/>
          </a:prstGeom>
        </p:spPr>
      </p:pic>
      <p:sp>
        <p:nvSpPr>
          <p:cNvPr id="25" name="Oval 24">
            <a:extLst>
              <a:ext uri="{FF2B5EF4-FFF2-40B4-BE49-F238E27FC236}">
                <a16:creationId xmlns:a16="http://schemas.microsoft.com/office/drawing/2014/main" id="{6E138D8D-E841-1442-D135-559C90BB8751}"/>
              </a:ext>
            </a:extLst>
          </p:cNvPr>
          <p:cNvSpPr/>
          <p:nvPr/>
        </p:nvSpPr>
        <p:spPr>
          <a:xfrm rot="1010255">
            <a:off x="-1374954" y="2042886"/>
            <a:ext cx="2772229" cy="2772229"/>
          </a:xfrm>
          <a:prstGeom prst="ellipse">
            <a:avLst/>
          </a:prstGeom>
          <a:solidFill>
            <a:srgbClr val="E0C58E"/>
          </a:solidFill>
          <a:effectLst>
            <a:innerShdw blurRad="165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BB48C2E-E43F-3DC3-2F37-7E4B315A8793}"/>
              </a:ext>
            </a:extLst>
          </p:cNvPr>
          <p:cNvSpPr/>
          <p:nvPr/>
        </p:nvSpPr>
        <p:spPr>
          <a:xfrm>
            <a:off x="384973" y="4783593"/>
            <a:ext cx="1639578" cy="1639578"/>
          </a:xfrm>
          <a:prstGeom prst="ellipse">
            <a:avLst/>
          </a:prstGeom>
          <a:solidFill>
            <a:srgbClr val="D9CBC2"/>
          </a:solidFill>
          <a:ln w="57150">
            <a:solidFill>
              <a:srgbClr val="1122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Graphic 23" descr="Database outline">
            <a:extLst>
              <a:ext uri="{FF2B5EF4-FFF2-40B4-BE49-F238E27FC236}">
                <a16:creationId xmlns:a16="http://schemas.microsoft.com/office/drawing/2014/main" id="{1D86ECF7-ED44-949D-B2C7-840A90D00C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7562" y="5146182"/>
            <a:ext cx="914400" cy="914400"/>
          </a:xfrm>
          <a:prstGeom prst="rect">
            <a:avLst/>
          </a:prstGeom>
        </p:spPr>
      </p:pic>
      <p:sp>
        <p:nvSpPr>
          <p:cNvPr id="20" name="TextBox 19">
            <a:extLst>
              <a:ext uri="{FF2B5EF4-FFF2-40B4-BE49-F238E27FC236}">
                <a16:creationId xmlns:a16="http://schemas.microsoft.com/office/drawing/2014/main" id="{6BC07ADB-8BCA-5CCE-31E4-0BF3912636B4}"/>
              </a:ext>
            </a:extLst>
          </p:cNvPr>
          <p:cNvSpPr txBox="1"/>
          <p:nvPr/>
        </p:nvSpPr>
        <p:spPr>
          <a:xfrm>
            <a:off x="3728368" y="541266"/>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Model</a:t>
            </a:r>
          </a:p>
        </p:txBody>
      </p:sp>
      <p:pic>
        <p:nvPicPr>
          <p:cNvPr id="22" name="Graphic 21" descr="Steering Wheel outline">
            <a:extLst>
              <a:ext uri="{FF2B5EF4-FFF2-40B4-BE49-F238E27FC236}">
                <a16:creationId xmlns:a16="http://schemas.microsoft.com/office/drawing/2014/main" id="{78F2A5D1-3A3F-46AF-3AB6-840CD75E93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a:off x="-1009581" y="2408260"/>
            <a:ext cx="2041482" cy="2041482"/>
          </a:xfrm>
          <a:prstGeom prst="rect">
            <a:avLst/>
          </a:prstGeom>
        </p:spPr>
      </p:pic>
      <p:pic>
        <p:nvPicPr>
          <p:cNvPr id="28" name="Picture 27">
            <a:extLst>
              <a:ext uri="{FF2B5EF4-FFF2-40B4-BE49-F238E27FC236}">
                <a16:creationId xmlns:a16="http://schemas.microsoft.com/office/drawing/2014/main" id="{87D5EF37-B5C7-DC37-0F5D-2404BF9C9637}"/>
              </a:ext>
            </a:extLst>
          </p:cNvPr>
          <p:cNvPicPr>
            <a:picLocks noChangeAspect="1"/>
          </p:cNvPicPr>
          <p:nvPr/>
        </p:nvPicPr>
        <p:blipFill>
          <a:blip r:embed="rId12"/>
          <a:stretch>
            <a:fillRect/>
          </a:stretch>
        </p:blipFill>
        <p:spPr>
          <a:xfrm>
            <a:off x="-55506852" y="-16370493"/>
            <a:ext cx="165603389" cy="47879385"/>
          </a:xfrm>
          <a:prstGeom prst="rect">
            <a:avLst/>
          </a:prstGeom>
        </p:spPr>
      </p:pic>
      <p:pic>
        <p:nvPicPr>
          <p:cNvPr id="29" name="Picture 28">
            <a:extLst>
              <a:ext uri="{FF2B5EF4-FFF2-40B4-BE49-F238E27FC236}">
                <a16:creationId xmlns:a16="http://schemas.microsoft.com/office/drawing/2014/main" id="{B15E8E57-6795-7A51-C9E7-0B195EC4BE31}"/>
              </a:ext>
            </a:extLst>
          </p:cNvPr>
          <p:cNvPicPr>
            <a:picLocks noChangeAspect="1"/>
          </p:cNvPicPr>
          <p:nvPr/>
        </p:nvPicPr>
        <p:blipFill>
          <a:blip r:embed="rId13"/>
          <a:stretch>
            <a:fillRect/>
          </a:stretch>
        </p:blipFill>
        <p:spPr>
          <a:xfrm>
            <a:off x="425823" y="21644894"/>
            <a:ext cx="11077392" cy="1072989"/>
          </a:xfrm>
          <a:prstGeom prst="rect">
            <a:avLst/>
          </a:prstGeom>
        </p:spPr>
      </p:pic>
      <p:pic>
        <p:nvPicPr>
          <p:cNvPr id="30" name="Picture 29">
            <a:extLst>
              <a:ext uri="{FF2B5EF4-FFF2-40B4-BE49-F238E27FC236}">
                <a16:creationId xmlns:a16="http://schemas.microsoft.com/office/drawing/2014/main" id="{7A69FDB3-259A-AC67-7165-0BFA89954099}"/>
              </a:ext>
            </a:extLst>
          </p:cNvPr>
          <p:cNvPicPr>
            <a:picLocks noChangeAspect="1"/>
          </p:cNvPicPr>
          <p:nvPr/>
        </p:nvPicPr>
        <p:blipFill>
          <a:blip r:embed="rId14"/>
          <a:stretch>
            <a:fillRect/>
          </a:stretch>
        </p:blipFill>
        <p:spPr>
          <a:xfrm>
            <a:off x="419602" y="22564456"/>
            <a:ext cx="11772396" cy="1182727"/>
          </a:xfrm>
          <a:prstGeom prst="rect">
            <a:avLst/>
          </a:prstGeom>
        </p:spPr>
      </p:pic>
      <p:pic>
        <p:nvPicPr>
          <p:cNvPr id="31" name="Picture 30">
            <a:extLst>
              <a:ext uri="{FF2B5EF4-FFF2-40B4-BE49-F238E27FC236}">
                <a16:creationId xmlns:a16="http://schemas.microsoft.com/office/drawing/2014/main" id="{CA82BAD1-FA96-F6AF-703B-45B900A16D4C}"/>
              </a:ext>
            </a:extLst>
          </p:cNvPr>
          <p:cNvPicPr>
            <a:picLocks noChangeAspect="1"/>
          </p:cNvPicPr>
          <p:nvPr/>
        </p:nvPicPr>
        <p:blipFill>
          <a:blip r:embed="rId15"/>
          <a:stretch>
            <a:fillRect/>
          </a:stretch>
        </p:blipFill>
        <p:spPr>
          <a:xfrm>
            <a:off x="447857" y="23593756"/>
            <a:ext cx="11077392" cy="1072989"/>
          </a:xfrm>
          <a:prstGeom prst="rect">
            <a:avLst/>
          </a:prstGeom>
        </p:spPr>
      </p:pic>
      <p:pic>
        <p:nvPicPr>
          <p:cNvPr id="32" name="Picture 31">
            <a:extLst>
              <a:ext uri="{FF2B5EF4-FFF2-40B4-BE49-F238E27FC236}">
                <a16:creationId xmlns:a16="http://schemas.microsoft.com/office/drawing/2014/main" id="{A4E91A64-518C-7816-359B-D3C87337895D}"/>
              </a:ext>
            </a:extLst>
          </p:cNvPr>
          <p:cNvPicPr>
            <a:picLocks noChangeAspect="1"/>
          </p:cNvPicPr>
          <p:nvPr/>
        </p:nvPicPr>
        <p:blipFill>
          <a:blip r:embed="rId16"/>
          <a:stretch>
            <a:fillRect/>
          </a:stretch>
        </p:blipFill>
        <p:spPr>
          <a:xfrm>
            <a:off x="425823" y="24513318"/>
            <a:ext cx="11077392" cy="1072989"/>
          </a:xfrm>
          <a:prstGeom prst="rect">
            <a:avLst/>
          </a:prstGeom>
        </p:spPr>
      </p:pic>
      <p:pic>
        <p:nvPicPr>
          <p:cNvPr id="33" name="Picture 32">
            <a:extLst>
              <a:ext uri="{FF2B5EF4-FFF2-40B4-BE49-F238E27FC236}">
                <a16:creationId xmlns:a16="http://schemas.microsoft.com/office/drawing/2014/main" id="{1BD099C0-3F7A-4AB0-A881-0D45F162AD28}"/>
              </a:ext>
            </a:extLst>
          </p:cNvPr>
          <p:cNvPicPr>
            <a:picLocks noChangeAspect="1"/>
          </p:cNvPicPr>
          <p:nvPr/>
        </p:nvPicPr>
        <p:blipFill>
          <a:blip r:embed="rId17"/>
          <a:stretch>
            <a:fillRect/>
          </a:stretch>
        </p:blipFill>
        <p:spPr>
          <a:xfrm>
            <a:off x="403789" y="25432881"/>
            <a:ext cx="11077392" cy="1072989"/>
          </a:xfrm>
          <a:prstGeom prst="rect">
            <a:avLst/>
          </a:prstGeom>
        </p:spPr>
      </p:pic>
      <p:pic>
        <p:nvPicPr>
          <p:cNvPr id="4" name="Picture 3">
            <a:extLst>
              <a:ext uri="{FF2B5EF4-FFF2-40B4-BE49-F238E27FC236}">
                <a16:creationId xmlns:a16="http://schemas.microsoft.com/office/drawing/2014/main" id="{37CA5B14-F909-44B2-7588-AEE6A89B5147}"/>
              </a:ext>
            </a:extLst>
          </p:cNvPr>
          <p:cNvPicPr>
            <a:picLocks noChangeAspect="1"/>
          </p:cNvPicPr>
          <p:nvPr/>
        </p:nvPicPr>
        <p:blipFill>
          <a:blip r:embed="rId18"/>
          <a:stretch>
            <a:fillRect/>
          </a:stretch>
        </p:blipFill>
        <p:spPr>
          <a:xfrm>
            <a:off x="17199096" y="2394042"/>
            <a:ext cx="2413713" cy="3377067"/>
          </a:xfrm>
          <a:prstGeom prst="rect">
            <a:avLst/>
          </a:prstGeom>
        </p:spPr>
      </p:pic>
      <p:pic>
        <p:nvPicPr>
          <p:cNvPr id="5" name="Picture 4">
            <a:extLst>
              <a:ext uri="{FF2B5EF4-FFF2-40B4-BE49-F238E27FC236}">
                <a16:creationId xmlns:a16="http://schemas.microsoft.com/office/drawing/2014/main" id="{62DF0531-0103-68FA-A254-845301DEC6BE}"/>
              </a:ext>
            </a:extLst>
          </p:cNvPr>
          <p:cNvPicPr>
            <a:picLocks noChangeAspect="1"/>
          </p:cNvPicPr>
          <p:nvPr/>
        </p:nvPicPr>
        <p:blipFill>
          <a:blip r:embed="rId19"/>
          <a:stretch>
            <a:fillRect/>
          </a:stretch>
        </p:blipFill>
        <p:spPr>
          <a:xfrm>
            <a:off x="20880694" y="2394042"/>
            <a:ext cx="2330216" cy="3377067"/>
          </a:xfrm>
          <a:prstGeom prst="rect">
            <a:avLst/>
          </a:prstGeom>
        </p:spPr>
      </p:pic>
      <p:sp>
        <p:nvSpPr>
          <p:cNvPr id="7" name="Sheets">
            <a:extLst>
              <a:ext uri="{FF2B5EF4-FFF2-40B4-BE49-F238E27FC236}">
                <a16:creationId xmlns:a16="http://schemas.microsoft.com/office/drawing/2014/main" id="{A6597E75-2792-CB79-D1FC-A1F508330CD4}"/>
              </a:ext>
            </a:extLst>
          </p:cNvPr>
          <p:cNvSpPr/>
          <p:nvPr/>
        </p:nvSpPr>
        <p:spPr>
          <a:xfrm>
            <a:off x="17221068"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Sheets</a:t>
            </a:r>
          </a:p>
        </p:txBody>
      </p:sp>
      <p:sp>
        <p:nvSpPr>
          <p:cNvPr id="8" name="TextBox 7">
            <a:extLst>
              <a:ext uri="{FF2B5EF4-FFF2-40B4-BE49-F238E27FC236}">
                <a16:creationId xmlns:a16="http://schemas.microsoft.com/office/drawing/2014/main" id="{3DDEB4BF-28FD-3759-2109-7A75E00A97C9}"/>
              </a:ext>
            </a:extLst>
          </p:cNvPr>
          <p:cNvSpPr txBox="1"/>
          <p:nvPr/>
        </p:nvSpPr>
        <p:spPr>
          <a:xfrm>
            <a:off x="16323491" y="573880"/>
            <a:ext cx="7896225" cy="923330"/>
          </a:xfrm>
          <a:prstGeom prst="rect">
            <a:avLst/>
          </a:prstGeom>
          <a:noFill/>
        </p:spPr>
        <p:txBody>
          <a:bodyPr wrap="square" rtlCol="0">
            <a:spAutoFit/>
          </a:bodyPr>
          <a:lstStyle/>
          <a:p>
            <a:pPr algn="ctr"/>
            <a:r>
              <a:rPr lang="en-US" sz="5400" dirty="0">
                <a:latin typeface="Berlin Sans FB Demi" panose="020E0802020502020306" pitchFamily="34" charset="0"/>
              </a:rPr>
              <a:t>Dataset Summary</a:t>
            </a:r>
          </a:p>
        </p:txBody>
      </p:sp>
      <p:sp>
        <p:nvSpPr>
          <p:cNvPr id="9" name="Sheets">
            <a:extLst>
              <a:ext uri="{FF2B5EF4-FFF2-40B4-BE49-F238E27FC236}">
                <a16:creationId xmlns:a16="http://schemas.microsoft.com/office/drawing/2014/main" id="{9196681A-C1C8-1C7F-45FB-9C14A93CB066}"/>
              </a:ext>
            </a:extLst>
          </p:cNvPr>
          <p:cNvSpPr/>
          <p:nvPr/>
        </p:nvSpPr>
        <p:spPr>
          <a:xfrm>
            <a:off x="20880694" y="1700807"/>
            <a:ext cx="2330216" cy="912868"/>
          </a:xfrm>
          <a:prstGeom prst="flowChartDocument">
            <a:avLst/>
          </a:prstGeom>
          <a:gradFill>
            <a:gsLst>
              <a:gs pos="3000">
                <a:srgbClr val="3B507D">
                  <a:lumMod val="100000"/>
                </a:srgbClr>
              </a:gs>
              <a:gs pos="100000">
                <a:srgbClr val="F5F0EA">
                  <a:lumMod val="100000"/>
                </a:srgbClr>
              </a:gs>
            </a:gsLst>
            <a:lin ang="192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Calculated Columns</a:t>
            </a:r>
          </a:p>
        </p:txBody>
      </p:sp>
      <p:pic>
        <p:nvPicPr>
          <p:cNvPr id="13" name="Picture 12" descr="A screenshot of a computer&#10;&#10;AI-generated content may be incorrect.">
            <a:extLst>
              <a:ext uri="{FF2B5EF4-FFF2-40B4-BE49-F238E27FC236}">
                <a16:creationId xmlns:a16="http://schemas.microsoft.com/office/drawing/2014/main" id="{51287C79-8E6B-D26D-77BF-294BFE70D487}"/>
              </a:ext>
            </a:extLst>
          </p:cNvPr>
          <p:cNvPicPr>
            <a:picLocks noChangeAspect="1"/>
          </p:cNvPicPr>
          <p:nvPr/>
        </p:nvPicPr>
        <p:blipFill>
          <a:blip r:embed="rId20">
            <a:extLst>
              <a:ext uri="{28A0092B-C50C-407E-A947-70E740481C1C}">
                <a14:useLocalDpi xmlns:a14="http://schemas.microsoft.com/office/drawing/2010/main" val="0"/>
              </a:ext>
            </a:extLst>
          </a:blip>
          <a:srcRect l="30485" t="24780" r="30161" b="24820"/>
          <a:stretch>
            <a:fillRect/>
          </a:stretch>
        </p:blipFill>
        <p:spPr>
          <a:xfrm>
            <a:off x="4684922" y="1461011"/>
            <a:ext cx="5983117" cy="4310098"/>
          </a:xfrm>
          <a:prstGeom prst="rect">
            <a:avLst/>
          </a:prstGeom>
        </p:spPr>
      </p:pic>
    </p:spTree>
    <p:extLst>
      <p:ext uri="{BB962C8B-B14F-4D97-AF65-F5344CB8AC3E}">
        <p14:creationId xmlns:p14="http://schemas.microsoft.com/office/powerpoint/2010/main" val="270800065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a:stretch>
        </a:blipFill>
        <a:effectLst/>
      </p:bgPr>
    </p:bg>
    <p:spTree>
      <p:nvGrpSpPr>
        <p:cNvPr id="1" name="">
          <a:extLst>
            <a:ext uri="{FF2B5EF4-FFF2-40B4-BE49-F238E27FC236}">
              <a16:creationId xmlns:a16="http://schemas.microsoft.com/office/drawing/2014/main" id="{215C202A-1AE0-6FDE-B638-418C1F47A558}"/>
            </a:ext>
          </a:extLst>
        </p:cNvPr>
        <p:cNvGrpSpPr/>
        <p:nvPr/>
      </p:nvGrpSpPr>
      <p:grpSpPr>
        <a:xfrm>
          <a:off x="0" y="0"/>
          <a:ext cx="0" cy="0"/>
          <a:chOff x="0" y="0"/>
          <a:chExt cx="0" cy="0"/>
        </a:xfrm>
      </p:grpSpPr>
      <p:pic>
        <p:nvPicPr>
          <p:cNvPr id="8" name="!!BackGround">
            <a:extLst>
              <a:ext uri="{FF2B5EF4-FFF2-40B4-BE49-F238E27FC236}">
                <a16:creationId xmlns:a16="http://schemas.microsoft.com/office/drawing/2014/main" id="{661F5BBE-6474-7EB1-8997-BF79FEF322DC}"/>
              </a:ext>
            </a:extLst>
          </p:cNvPr>
          <p:cNvPicPr>
            <a:picLocks noChangeAspect="1"/>
          </p:cNvPicPr>
          <p:nvPr/>
        </p:nvPicPr>
        <p:blipFill>
          <a:blip r:embed="rId3">
            <a:alphaModFix/>
          </a:blip>
          <a:srcRect t="1532"/>
          <a:stretch>
            <a:fillRect/>
          </a:stretch>
        </p:blipFill>
        <p:spPr>
          <a:xfrm>
            <a:off x="0" y="0"/>
            <a:ext cx="12192000" cy="6876288"/>
          </a:xfrm>
          <a:prstGeom prst="rect">
            <a:avLst/>
          </a:prstGeom>
        </p:spPr>
      </p:pic>
      <p:graphicFrame>
        <p:nvGraphicFramePr>
          <p:cNvPr id="9" name="Table 8">
            <a:extLst>
              <a:ext uri="{FF2B5EF4-FFF2-40B4-BE49-F238E27FC236}">
                <a16:creationId xmlns:a16="http://schemas.microsoft.com/office/drawing/2014/main" id="{DAE0FE56-C0E8-EB89-DB85-655856E5CBBD}"/>
              </a:ext>
            </a:extLst>
          </p:cNvPr>
          <p:cNvGraphicFramePr>
            <a:graphicFrameLocks noGrp="1"/>
          </p:cNvGraphicFramePr>
          <p:nvPr/>
        </p:nvGraphicFramePr>
        <p:xfrm>
          <a:off x="0" y="0"/>
          <a:ext cx="12192003" cy="6858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519426978"/>
                    </a:ext>
                  </a:extLst>
                </a:gridCol>
                <a:gridCol w="1354667">
                  <a:extLst>
                    <a:ext uri="{9D8B030D-6E8A-4147-A177-3AD203B41FA5}">
                      <a16:colId xmlns:a16="http://schemas.microsoft.com/office/drawing/2014/main" val="2654214106"/>
                    </a:ext>
                  </a:extLst>
                </a:gridCol>
                <a:gridCol w="1354667">
                  <a:extLst>
                    <a:ext uri="{9D8B030D-6E8A-4147-A177-3AD203B41FA5}">
                      <a16:colId xmlns:a16="http://schemas.microsoft.com/office/drawing/2014/main" val="4017432569"/>
                    </a:ext>
                  </a:extLst>
                </a:gridCol>
                <a:gridCol w="1354667">
                  <a:extLst>
                    <a:ext uri="{9D8B030D-6E8A-4147-A177-3AD203B41FA5}">
                      <a16:colId xmlns:a16="http://schemas.microsoft.com/office/drawing/2014/main" val="490655211"/>
                    </a:ext>
                  </a:extLst>
                </a:gridCol>
                <a:gridCol w="1354667">
                  <a:extLst>
                    <a:ext uri="{9D8B030D-6E8A-4147-A177-3AD203B41FA5}">
                      <a16:colId xmlns:a16="http://schemas.microsoft.com/office/drawing/2014/main" val="937404553"/>
                    </a:ext>
                  </a:extLst>
                </a:gridCol>
                <a:gridCol w="1354667">
                  <a:extLst>
                    <a:ext uri="{9D8B030D-6E8A-4147-A177-3AD203B41FA5}">
                      <a16:colId xmlns:a16="http://schemas.microsoft.com/office/drawing/2014/main" val="1333819258"/>
                    </a:ext>
                  </a:extLst>
                </a:gridCol>
                <a:gridCol w="1354667">
                  <a:extLst>
                    <a:ext uri="{9D8B030D-6E8A-4147-A177-3AD203B41FA5}">
                      <a16:colId xmlns:a16="http://schemas.microsoft.com/office/drawing/2014/main" val="161208907"/>
                    </a:ext>
                  </a:extLst>
                </a:gridCol>
                <a:gridCol w="1354667">
                  <a:extLst>
                    <a:ext uri="{9D8B030D-6E8A-4147-A177-3AD203B41FA5}">
                      <a16:colId xmlns:a16="http://schemas.microsoft.com/office/drawing/2014/main" val="3858095531"/>
                    </a:ext>
                  </a:extLst>
                </a:gridCol>
                <a:gridCol w="1354667">
                  <a:extLst>
                    <a:ext uri="{9D8B030D-6E8A-4147-A177-3AD203B41FA5}">
                      <a16:colId xmlns:a16="http://schemas.microsoft.com/office/drawing/2014/main" val="290232393"/>
                    </a:ext>
                  </a:extLst>
                </a:gridCol>
              </a:tblGrid>
              <a:tr h="685800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8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7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6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5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4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3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2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1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683273024"/>
                  </a:ext>
                </a:extLst>
              </a:tr>
            </a:tbl>
          </a:graphicData>
        </a:graphic>
      </p:graphicFrame>
      <p:pic>
        <p:nvPicPr>
          <p:cNvPr id="2" name="Picture 1">
            <a:extLst>
              <a:ext uri="{FF2B5EF4-FFF2-40B4-BE49-F238E27FC236}">
                <a16:creationId xmlns:a16="http://schemas.microsoft.com/office/drawing/2014/main" id="{441B3964-8AA8-FA02-682B-3B8822CD1501}"/>
              </a:ext>
            </a:extLst>
          </p:cNvPr>
          <p:cNvPicPr>
            <a:picLocks noChangeAspect="1"/>
          </p:cNvPicPr>
          <p:nvPr/>
        </p:nvPicPr>
        <p:blipFill>
          <a:blip r:embed="rId4"/>
          <a:stretch>
            <a:fillRect/>
          </a:stretch>
        </p:blipFill>
        <p:spPr>
          <a:xfrm>
            <a:off x="425824" y="397194"/>
            <a:ext cx="4090771" cy="1182727"/>
          </a:xfrm>
          <a:prstGeom prst="rect">
            <a:avLst/>
          </a:prstGeom>
        </p:spPr>
      </p:pic>
      <p:pic>
        <p:nvPicPr>
          <p:cNvPr id="3" name="Picture 2">
            <a:extLst>
              <a:ext uri="{FF2B5EF4-FFF2-40B4-BE49-F238E27FC236}">
                <a16:creationId xmlns:a16="http://schemas.microsoft.com/office/drawing/2014/main" id="{88FCEE65-6159-C67D-915E-1730B5FAD4F5}"/>
              </a:ext>
            </a:extLst>
          </p:cNvPr>
          <p:cNvPicPr>
            <a:picLocks noChangeAspect="1"/>
          </p:cNvPicPr>
          <p:nvPr/>
        </p:nvPicPr>
        <p:blipFill>
          <a:blip r:embed="rId5"/>
          <a:stretch>
            <a:fillRect/>
          </a:stretch>
        </p:blipFill>
        <p:spPr>
          <a:xfrm>
            <a:off x="425823" y="1426494"/>
            <a:ext cx="11077392" cy="1072989"/>
          </a:xfrm>
          <a:prstGeom prst="rect">
            <a:avLst/>
          </a:prstGeom>
        </p:spPr>
      </p:pic>
      <p:pic>
        <p:nvPicPr>
          <p:cNvPr id="4" name="Picture 3">
            <a:extLst>
              <a:ext uri="{FF2B5EF4-FFF2-40B4-BE49-F238E27FC236}">
                <a16:creationId xmlns:a16="http://schemas.microsoft.com/office/drawing/2014/main" id="{74FC8ADD-CF34-BCA0-BEC1-DF073D409F67}"/>
              </a:ext>
            </a:extLst>
          </p:cNvPr>
          <p:cNvPicPr>
            <a:picLocks noChangeAspect="1"/>
          </p:cNvPicPr>
          <p:nvPr/>
        </p:nvPicPr>
        <p:blipFill>
          <a:blip r:embed="rId6"/>
          <a:stretch>
            <a:fillRect/>
          </a:stretch>
        </p:blipFill>
        <p:spPr>
          <a:xfrm>
            <a:off x="419602" y="2346056"/>
            <a:ext cx="11772396" cy="1182727"/>
          </a:xfrm>
          <a:prstGeom prst="rect">
            <a:avLst/>
          </a:prstGeom>
        </p:spPr>
      </p:pic>
      <p:pic>
        <p:nvPicPr>
          <p:cNvPr id="5" name="Picture 4">
            <a:extLst>
              <a:ext uri="{FF2B5EF4-FFF2-40B4-BE49-F238E27FC236}">
                <a16:creationId xmlns:a16="http://schemas.microsoft.com/office/drawing/2014/main" id="{35374258-9280-FE15-0ECB-7221233D46CC}"/>
              </a:ext>
            </a:extLst>
          </p:cNvPr>
          <p:cNvPicPr>
            <a:picLocks noChangeAspect="1"/>
          </p:cNvPicPr>
          <p:nvPr/>
        </p:nvPicPr>
        <p:blipFill>
          <a:blip r:embed="rId7"/>
          <a:stretch>
            <a:fillRect/>
          </a:stretch>
        </p:blipFill>
        <p:spPr>
          <a:xfrm>
            <a:off x="447857" y="3375356"/>
            <a:ext cx="11077392" cy="1072989"/>
          </a:xfrm>
          <a:prstGeom prst="rect">
            <a:avLst/>
          </a:prstGeom>
        </p:spPr>
      </p:pic>
      <p:pic>
        <p:nvPicPr>
          <p:cNvPr id="6" name="Picture 5">
            <a:extLst>
              <a:ext uri="{FF2B5EF4-FFF2-40B4-BE49-F238E27FC236}">
                <a16:creationId xmlns:a16="http://schemas.microsoft.com/office/drawing/2014/main" id="{2015A9EB-E405-37AC-8D3E-86719009D99D}"/>
              </a:ext>
            </a:extLst>
          </p:cNvPr>
          <p:cNvPicPr>
            <a:picLocks noChangeAspect="1"/>
          </p:cNvPicPr>
          <p:nvPr/>
        </p:nvPicPr>
        <p:blipFill>
          <a:blip r:embed="rId8"/>
          <a:stretch>
            <a:fillRect/>
          </a:stretch>
        </p:blipFill>
        <p:spPr>
          <a:xfrm>
            <a:off x="425823" y="4294918"/>
            <a:ext cx="11077392" cy="1072989"/>
          </a:xfrm>
          <a:prstGeom prst="rect">
            <a:avLst/>
          </a:prstGeom>
        </p:spPr>
      </p:pic>
      <p:pic>
        <p:nvPicPr>
          <p:cNvPr id="7" name="Picture 6">
            <a:extLst>
              <a:ext uri="{FF2B5EF4-FFF2-40B4-BE49-F238E27FC236}">
                <a16:creationId xmlns:a16="http://schemas.microsoft.com/office/drawing/2014/main" id="{78266A77-E88B-F315-2E10-ABEEDA5159B1}"/>
              </a:ext>
            </a:extLst>
          </p:cNvPr>
          <p:cNvPicPr>
            <a:picLocks noChangeAspect="1"/>
          </p:cNvPicPr>
          <p:nvPr/>
        </p:nvPicPr>
        <p:blipFill>
          <a:blip r:embed="rId9"/>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30745581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98FD3-E883-27EE-4101-0ACDB8EAED7A}"/>
            </a:ext>
          </a:extLst>
        </p:cNvPr>
        <p:cNvGrpSpPr/>
        <p:nvPr/>
      </p:nvGrpSpPr>
      <p:grpSpPr>
        <a:xfrm>
          <a:off x="0" y="0"/>
          <a:ext cx="0" cy="0"/>
          <a:chOff x="0" y="0"/>
          <a:chExt cx="0" cy="0"/>
        </a:xfrm>
      </p:grpSpPr>
      <p:pic>
        <p:nvPicPr>
          <p:cNvPr id="38" name="Picture 37">
            <a:extLst>
              <a:ext uri="{FF2B5EF4-FFF2-40B4-BE49-F238E27FC236}">
                <a16:creationId xmlns:a16="http://schemas.microsoft.com/office/drawing/2014/main" id="{A78AD26A-D18F-B2E6-FF5E-9E36B91615C8}"/>
              </a:ext>
            </a:extLst>
          </p:cNvPr>
          <p:cNvPicPr>
            <a:picLocks noChangeAspect="1"/>
          </p:cNvPicPr>
          <p:nvPr/>
        </p:nvPicPr>
        <p:blipFill>
          <a:blip r:embed="rId2"/>
          <a:stretch>
            <a:fillRect/>
          </a:stretch>
        </p:blipFill>
        <p:spPr>
          <a:xfrm>
            <a:off x="425824" y="-6948536"/>
            <a:ext cx="4090771" cy="1182727"/>
          </a:xfrm>
          <a:prstGeom prst="rect">
            <a:avLst/>
          </a:prstGeom>
        </p:spPr>
      </p:pic>
      <p:pic>
        <p:nvPicPr>
          <p:cNvPr id="40" name="Picture 39">
            <a:extLst>
              <a:ext uri="{FF2B5EF4-FFF2-40B4-BE49-F238E27FC236}">
                <a16:creationId xmlns:a16="http://schemas.microsoft.com/office/drawing/2014/main" id="{1963CFE0-FFFA-6B5A-D29A-1E65CEECCE9D}"/>
              </a:ext>
            </a:extLst>
          </p:cNvPr>
          <p:cNvPicPr>
            <a:picLocks noChangeAspect="1"/>
          </p:cNvPicPr>
          <p:nvPr/>
        </p:nvPicPr>
        <p:blipFill>
          <a:blip r:embed="rId3"/>
          <a:stretch>
            <a:fillRect/>
          </a:stretch>
        </p:blipFill>
        <p:spPr>
          <a:xfrm>
            <a:off x="-156584402" y="-17189450"/>
            <a:ext cx="472203711" cy="45739050"/>
          </a:xfrm>
          <a:prstGeom prst="rect">
            <a:avLst/>
          </a:prstGeom>
        </p:spPr>
      </p:pic>
      <p:pic>
        <p:nvPicPr>
          <p:cNvPr id="2" name="Picture 1">
            <a:extLst>
              <a:ext uri="{FF2B5EF4-FFF2-40B4-BE49-F238E27FC236}">
                <a16:creationId xmlns:a16="http://schemas.microsoft.com/office/drawing/2014/main" id="{113D8B26-B3E4-81CE-5A99-49BBC00752FF}"/>
              </a:ext>
            </a:extLst>
          </p:cNvPr>
          <p:cNvPicPr>
            <a:picLocks noChangeAspect="1"/>
          </p:cNvPicPr>
          <p:nvPr/>
        </p:nvPicPr>
        <p:blipFill>
          <a:blip r:embed="rId4"/>
          <a:stretch>
            <a:fillRect/>
          </a:stretch>
        </p:blipFill>
        <p:spPr>
          <a:xfrm>
            <a:off x="419602" y="13776056"/>
            <a:ext cx="11772396" cy="1182727"/>
          </a:xfrm>
          <a:prstGeom prst="rect">
            <a:avLst/>
          </a:prstGeom>
        </p:spPr>
      </p:pic>
      <p:pic>
        <p:nvPicPr>
          <p:cNvPr id="44" name="Picture 43">
            <a:extLst>
              <a:ext uri="{FF2B5EF4-FFF2-40B4-BE49-F238E27FC236}">
                <a16:creationId xmlns:a16="http://schemas.microsoft.com/office/drawing/2014/main" id="{6947AD4E-A172-77E8-417A-406B5223BBDD}"/>
              </a:ext>
            </a:extLst>
          </p:cNvPr>
          <p:cNvPicPr>
            <a:picLocks noChangeAspect="1"/>
          </p:cNvPicPr>
          <p:nvPr/>
        </p:nvPicPr>
        <p:blipFill>
          <a:blip r:embed="rId5"/>
          <a:stretch>
            <a:fillRect/>
          </a:stretch>
        </p:blipFill>
        <p:spPr>
          <a:xfrm>
            <a:off x="447857" y="14805356"/>
            <a:ext cx="11077392" cy="1072989"/>
          </a:xfrm>
          <a:prstGeom prst="rect">
            <a:avLst/>
          </a:prstGeom>
        </p:spPr>
      </p:pic>
      <p:pic>
        <p:nvPicPr>
          <p:cNvPr id="3" name="Picture 2">
            <a:extLst>
              <a:ext uri="{FF2B5EF4-FFF2-40B4-BE49-F238E27FC236}">
                <a16:creationId xmlns:a16="http://schemas.microsoft.com/office/drawing/2014/main" id="{73A09022-3806-3555-ECC1-0F133E7AD44B}"/>
              </a:ext>
            </a:extLst>
          </p:cNvPr>
          <p:cNvPicPr>
            <a:picLocks noChangeAspect="1"/>
          </p:cNvPicPr>
          <p:nvPr/>
        </p:nvPicPr>
        <p:blipFill>
          <a:blip r:embed="rId6"/>
          <a:stretch>
            <a:fillRect/>
          </a:stretch>
        </p:blipFill>
        <p:spPr>
          <a:xfrm>
            <a:off x="425823" y="15724918"/>
            <a:ext cx="11077392" cy="1072989"/>
          </a:xfrm>
          <a:prstGeom prst="rect">
            <a:avLst/>
          </a:prstGeom>
        </p:spPr>
      </p:pic>
      <p:pic>
        <p:nvPicPr>
          <p:cNvPr id="48" name="Picture 47">
            <a:extLst>
              <a:ext uri="{FF2B5EF4-FFF2-40B4-BE49-F238E27FC236}">
                <a16:creationId xmlns:a16="http://schemas.microsoft.com/office/drawing/2014/main" id="{CD52E480-9DB3-C111-FD51-3467489B1119}"/>
              </a:ext>
            </a:extLst>
          </p:cNvPr>
          <p:cNvPicPr>
            <a:picLocks noChangeAspect="1"/>
          </p:cNvPicPr>
          <p:nvPr/>
        </p:nvPicPr>
        <p:blipFill>
          <a:blip r:embed="rId7"/>
          <a:stretch>
            <a:fillRect/>
          </a:stretch>
        </p:blipFill>
        <p:spPr>
          <a:xfrm>
            <a:off x="403789" y="16644481"/>
            <a:ext cx="11077392" cy="1072989"/>
          </a:xfrm>
          <a:prstGeom prst="rect">
            <a:avLst/>
          </a:prstGeom>
        </p:spPr>
      </p:pic>
      <p:pic>
        <p:nvPicPr>
          <p:cNvPr id="6" name="Picture 5">
            <a:extLst>
              <a:ext uri="{FF2B5EF4-FFF2-40B4-BE49-F238E27FC236}">
                <a16:creationId xmlns:a16="http://schemas.microsoft.com/office/drawing/2014/main" id="{C035B470-D39B-3D4E-1AA8-062B1CED48FF}"/>
              </a:ext>
            </a:extLst>
          </p:cNvPr>
          <p:cNvPicPr>
            <a:picLocks noChangeAspect="1"/>
          </p:cNvPicPr>
          <p:nvPr/>
        </p:nvPicPr>
        <p:blipFill>
          <a:blip r:embed="rId8">
            <a:alphaModFix amt="40000"/>
          </a:blip>
          <a:stretch>
            <a:fillRect/>
          </a:stretch>
        </p:blipFill>
        <p:spPr>
          <a:xfrm>
            <a:off x="-2077156" y="0"/>
            <a:ext cx="14269156" cy="8026400"/>
          </a:xfrm>
          <a:prstGeom prst="rect">
            <a:avLst/>
          </a:prstGeom>
        </p:spPr>
      </p:pic>
      <p:sp>
        <p:nvSpPr>
          <p:cNvPr id="42" name="TextBox 41">
            <a:extLst>
              <a:ext uri="{FF2B5EF4-FFF2-40B4-BE49-F238E27FC236}">
                <a16:creationId xmlns:a16="http://schemas.microsoft.com/office/drawing/2014/main" id="{AEA22F94-E2BC-2C8B-1FE9-3BA1FD6355EB}"/>
              </a:ext>
            </a:extLst>
          </p:cNvPr>
          <p:cNvSpPr txBox="1"/>
          <p:nvPr/>
        </p:nvSpPr>
        <p:spPr>
          <a:xfrm>
            <a:off x="701675" y="-3257550"/>
            <a:ext cx="10788650" cy="2800767"/>
          </a:xfrm>
          <a:prstGeom prst="rect">
            <a:avLst/>
          </a:prstGeom>
          <a:noFill/>
        </p:spPr>
        <p:txBody>
          <a:bodyPr wrap="square" rtlCol="0">
            <a:spAutoFit/>
          </a:bodyPr>
          <a:lstStyle/>
          <a:p>
            <a:pPr algn="ctr"/>
            <a:r>
              <a:rPr lang="en-US" sz="8800" b="1" dirty="0">
                <a:latin typeface="Avenir Next LT Pro" panose="020B0504020202020204" pitchFamily="34" charset="0"/>
              </a:rPr>
              <a:t>Data cleaning and modeling</a:t>
            </a:r>
          </a:p>
        </p:txBody>
      </p:sp>
      <p:pic>
        <p:nvPicPr>
          <p:cNvPr id="46" name="Picture 45" descr="A group of bottles and a broom&#10;&#10;AI-generated content may be incorrect.">
            <a:extLst>
              <a:ext uri="{FF2B5EF4-FFF2-40B4-BE49-F238E27FC236}">
                <a16:creationId xmlns:a16="http://schemas.microsoft.com/office/drawing/2014/main" id="{14D03662-5826-B62F-510D-3DAEEE0E99B2}"/>
              </a:ext>
            </a:extLst>
          </p:cNvPr>
          <p:cNvPicPr>
            <a:picLocks noChangeAspect="1"/>
          </p:cNvPicPr>
          <p:nvPr/>
        </p:nvPicPr>
        <p:blipFill>
          <a:blip r:embed="rId9">
            <a:extLst>
              <a:ext uri="{28A0092B-C50C-407E-A947-70E740481C1C}">
                <a14:useLocalDpi xmlns:a14="http://schemas.microsoft.com/office/drawing/2010/main" val="0"/>
              </a:ext>
            </a:extLst>
          </a:blip>
          <a:srcRect l="30937" t="21667" r="30312" b="17500"/>
          <a:stretch>
            <a:fillRect/>
          </a:stretch>
        </p:blipFill>
        <p:spPr>
          <a:xfrm>
            <a:off x="3771900" y="7277100"/>
            <a:ext cx="4724400" cy="4171950"/>
          </a:xfrm>
          <a:prstGeom prst="rect">
            <a:avLst/>
          </a:prstGeom>
        </p:spPr>
      </p:pic>
    </p:spTree>
    <p:extLst>
      <p:ext uri="{BB962C8B-B14F-4D97-AF65-F5344CB8AC3E}">
        <p14:creationId xmlns:p14="http://schemas.microsoft.com/office/powerpoint/2010/main" val="25831794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1A991-4D9F-1173-DD5E-56C431A2FDF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39A3C68-0004-5290-57B1-404C0F38B5AC}"/>
              </a:ext>
            </a:extLst>
          </p:cNvPr>
          <p:cNvPicPr>
            <a:picLocks noChangeAspect="1"/>
          </p:cNvPicPr>
          <p:nvPr/>
        </p:nvPicPr>
        <p:blipFill>
          <a:blip r:embed="rId2">
            <a:alphaModFix amt="40000"/>
          </a:blip>
          <a:stretch>
            <a:fillRect/>
          </a:stretch>
        </p:blipFill>
        <p:spPr>
          <a:xfrm>
            <a:off x="-2077156" y="0"/>
            <a:ext cx="14269156" cy="8026400"/>
          </a:xfrm>
          <a:prstGeom prst="rect">
            <a:avLst/>
          </a:prstGeom>
        </p:spPr>
      </p:pic>
      <p:sp>
        <p:nvSpPr>
          <p:cNvPr id="42" name="TextBox 41">
            <a:extLst>
              <a:ext uri="{FF2B5EF4-FFF2-40B4-BE49-F238E27FC236}">
                <a16:creationId xmlns:a16="http://schemas.microsoft.com/office/drawing/2014/main" id="{C1D542A4-31FE-4953-879F-7F1F4079E2F1}"/>
              </a:ext>
            </a:extLst>
          </p:cNvPr>
          <p:cNvSpPr txBox="1"/>
          <p:nvPr/>
        </p:nvSpPr>
        <p:spPr>
          <a:xfrm>
            <a:off x="701675" y="876300"/>
            <a:ext cx="10788650" cy="2800767"/>
          </a:xfrm>
          <a:prstGeom prst="rect">
            <a:avLst/>
          </a:prstGeom>
          <a:noFill/>
        </p:spPr>
        <p:txBody>
          <a:bodyPr wrap="square" rtlCol="0">
            <a:spAutoFit/>
          </a:bodyPr>
          <a:lstStyle/>
          <a:p>
            <a:pPr algn="ctr"/>
            <a:r>
              <a:rPr lang="en-US" sz="8800" b="1" dirty="0">
                <a:latin typeface="Avenir Next LT Pro" panose="020B0504020202020204" pitchFamily="34" charset="0"/>
              </a:rPr>
              <a:t>Data cleaning and modeling</a:t>
            </a:r>
          </a:p>
        </p:txBody>
      </p:sp>
      <p:pic>
        <p:nvPicPr>
          <p:cNvPr id="46" name="Picture 45" descr="A group of bottles and a broom&#10;&#10;AI-generated content may be incorrect.">
            <a:extLst>
              <a:ext uri="{FF2B5EF4-FFF2-40B4-BE49-F238E27FC236}">
                <a16:creationId xmlns:a16="http://schemas.microsoft.com/office/drawing/2014/main" id="{F773CCD6-4BE5-9D80-2786-E7CDA01F461D}"/>
              </a:ext>
            </a:extLst>
          </p:cNvPr>
          <p:cNvPicPr>
            <a:picLocks noChangeAspect="1"/>
          </p:cNvPicPr>
          <p:nvPr/>
        </p:nvPicPr>
        <p:blipFill>
          <a:blip r:embed="rId3">
            <a:extLst>
              <a:ext uri="{28A0092B-C50C-407E-A947-70E740481C1C}">
                <a14:useLocalDpi xmlns:a14="http://schemas.microsoft.com/office/drawing/2010/main" val="0"/>
              </a:ext>
            </a:extLst>
          </a:blip>
          <a:srcRect l="30937" t="21667" r="30312" b="17500"/>
          <a:stretch>
            <a:fillRect/>
          </a:stretch>
        </p:blipFill>
        <p:spPr>
          <a:xfrm>
            <a:off x="3771900" y="2990850"/>
            <a:ext cx="4724400" cy="4171950"/>
          </a:xfrm>
          <a:prstGeom prst="rect">
            <a:avLst/>
          </a:prstGeom>
        </p:spPr>
      </p:pic>
      <p:sp>
        <p:nvSpPr>
          <p:cNvPr id="3" name="TextBox 2">
            <a:extLst>
              <a:ext uri="{FF2B5EF4-FFF2-40B4-BE49-F238E27FC236}">
                <a16:creationId xmlns:a16="http://schemas.microsoft.com/office/drawing/2014/main" id="{1C4D9EBC-E8D8-79CA-0970-8EDD72877611}"/>
              </a:ext>
            </a:extLst>
          </p:cNvPr>
          <p:cNvSpPr txBox="1"/>
          <p:nvPr/>
        </p:nvSpPr>
        <p:spPr>
          <a:xfrm>
            <a:off x="-5638800" y="2764572"/>
            <a:ext cx="5638800" cy="4093428"/>
          </a:xfrm>
          <a:prstGeom prst="rect">
            <a:avLst/>
          </a:prstGeom>
          <a:noFill/>
        </p:spPr>
        <p:txBody>
          <a:bodyPr wrap="square" rtlCol="0">
            <a:spAutoFit/>
          </a:bodyPr>
          <a:lstStyle/>
          <a:p>
            <a:r>
              <a:rPr lang="en-US" sz="2800" b="1" dirty="0"/>
              <a:t>Why?</a:t>
            </a:r>
          </a:p>
          <a:p>
            <a:endParaRPr lang="en-US" dirty="0"/>
          </a:p>
          <a:p>
            <a:pPr algn="just"/>
            <a:r>
              <a:rPr lang="en-US" sz="2800" dirty="0"/>
              <a:t>Data modeling and preprocessing are essential steps in any analytical workflow. Raw datasets often contain inconsistencies, mixed formats, and structural issues that must be resolved before reliable insights can be generated.</a:t>
            </a:r>
          </a:p>
          <a:p>
            <a:endParaRPr lang="en-US" dirty="0"/>
          </a:p>
        </p:txBody>
      </p:sp>
    </p:spTree>
    <p:extLst>
      <p:ext uri="{BB962C8B-B14F-4D97-AF65-F5344CB8AC3E}">
        <p14:creationId xmlns:p14="http://schemas.microsoft.com/office/powerpoint/2010/main" val="1151411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CED63-9BB9-EA65-5864-CD14C23EFBD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CE1124F-C685-C801-9A28-7044B6EC7513}"/>
              </a:ext>
            </a:extLst>
          </p:cNvPr>
          <p:cNvPicPr>
            <a:picLocks noChangeAspect="1"/>
          </p:cNvPicPr>
          <p:nvPr/>
        </p:nvPicPr>
        <p:blipFill>
          <a:blip r:embed="rId2">
            <a:alphaModFix amt="40000"/>
          </a:blip>
          <a:stretch>
            <a:fillRect/>
          </a:stretch>
        </p:blipFill>
        <p:spPr>
          <a:xfrm>
            <a:off x="-2077156" y="0"/>
            <a:ext cx="14269156" cy="8026400"/>
          </a:xfrm>
          <a:prstGeom prst="rect">
            <a:avLst/>
          </a:prstGeom>
        </p:spPr>
      </p:pic>
      <p:sp>
        <p:nvSpPr>
          <p:cNvPr id="42" name="TextBox 41">
            <a:extLst>
              <a:ext uri="{FF2B5EF4-FFF2-40B4-BE49-F238E27FC236}">
                <a16:creationId xmlns:a16="http://schemas.microsoft.com/office/drawing/2014/main" id="{FB463EAD-ABB8-E6DD-CD73-76029D4424B2}"/>
              </a:ext>
            </a:extLst>
          </p:cNvPr>
          <p:cNvSpPr txBox="1"/>
          <p:nvPr/>
        </p:nvSpPr>
        <p:spPr>
          <a:xfrm>
            <a:off x="-1470025" y="529263"/>
            <a:ext cx="10788650" cy="2123658"/>
          </a:xfrm>
          <a:prstGeom prst="rect">
            <a:avLst/>
          </a:prstGeom>
          <a:noFill/>
        </p:spPr>
        <p:txBody>
          <a:bodyPr wrap="square" rtlCol="0">
            <a:spAutoFit/>
          </a:bodyPr>
          <a:lstStyle/>
          <a:p>
            <a:pPr algn="ctr"/>
            <a:r>
              <a:rPr lang="en-US" sz="6600" b="1" dirty="0">
                <a:latin typeface="Avenir Next LT Pro" panose="020B0504020202020204" pitchFamily="34" charset="0"/>
              </a:rPr>
              <a:t>Data cleaning and modeling</a:t>
            </a:r>
          </a:p>
        </p:txBody>
      </p:sp>
      <p:pic>
        <p:nvPicPr>
          <p:cNvPr id="46" name="Picture 45" descr="A group of bottles and a broom&#10;&#10;AI-generated content may be incorrect.">
            <a:extLst>
              <a:ext uri="{FF2B5EF4-FFF2-40B4-BE49-F238E27FC236}">
                <a16:creationId xmlns:a16="http://schemas.microsoft.com/office/drawing/2014/main" id="{ECD63A9B-2157-4054-A279-126EAADF8791}"/>
              </a:ext>
            </a:extLst>
          </p:cNvPr>
          <p:cNvPicPr>
            <a:picLocks noChangeAspect="1"/>
          </p:cNvPicPr>
          <p:nvPr/>
        </p:nvPicPr>
        <p:blipFill>
          <a:blip r:embed="rId3">
            <a:extLst>
              <a:ext uri="{28A0092B-C50C-407E-A947-70E740481C1C}">
                <a14:useLocalDpi xmlns:a14="http://schemas.microsoft.com/office/drawing/2010/main" val="0"/>
              </a:ext>
            </a:extLst>
          </a:blip>
          <a:srcRect l="30937" t="21667" r="30312" b="17500"/>
          <a:stretch>
            <a:fillRect/>
          </a:stretch>
        </p:blipFill>
        <p:spPr>
          <a:xfrm>
            <a:off x="6648450" y="1591092"/>
            <a:ext cx="4724400" cy="4171950"/>
          </a:xfrm>
          <a:prstGeom prst="rect">
            <a:avLst/>
          </a:prstGeom>
        </p:spPr>
      </p:pic>
      <p:sp>
        <p:nvSpPr>
          <p:cNvPr id="2" name="TextBox 1">
            <a:extLst>
              <a:ext uri="{FF2B5EF4-FFF2-40B4-BE49-F238E27FC236}">
                <a16:creationId xmlns:a16="http://schemas.microsoft.com/office/drawing/2014/main" id="{3128C288-1CD3-4D69-E273-20FCDA96668E}"/>
              </a:ext>
            </a:extLst>
          </p:cNvPr>
          <p:cNvSpPr txBox="1"/>
          <p:nvPr/>
        </p:nvSpPr>
        <p:spPr>
          <a:xfrm>
            <a:off x="457200" y="2764572"/>
            <a:ext cx="5638800" cy="4093428"/>
          </a:xfrm>
          <a:prstGeom prst="rect">
            <a:avLst/>
          </a:prstGeom>
          <a:noFill/>
        </p:spPr>
        <p:txBody>
          <a:bodyPr wrap="square" rtlCol="0">
            <a:spAutoFit/>
          </a:bodyPr>
          <a:lstStyle/>
          <a:p>
            <a:r>
              <a:rPr lang="en-US" sz="2800" b="1" dirty="0"/>
              <a:t>Why?</a:t>
            </a:r>
          </a:p>
          <a:p>
            <a:endParaRPr lang="en-US" dirty="0"/>
          </a:p>
          <a:p>
            <a:pPr algn="just"/>
            <a:r>
              <a:rPr lang="en-US" sz="2800" dirty="0"/>
              <a:t>Data modeling and preprocessing are essential steps in any analytical workflow. Raw datasets often contain inconsistencies, mixed formats, and structural issues that must be resolved before reliable insights can be generated.</a:t>
            </a:r>
          </a:p>
          <a:p>
            <a:endParaRPr lang="en-US" dirty="0"/>
          </a:p>
        </p:txBody>
      </p:sp>
      <p:grpSp>
        <p:nvGrpSpPr>
          <p:cNvPr id="28" name="Group 27">
            <a:extLst>
              <a:ext uri="{FF2B5EF4-FFF2-40B4-BE49-F238E27FC236}">
                <a16:creationId xmlns:a16="http://schemas.microsoft.com/office/drawing/2014/main" id="{0100DEF8-76A1-97DD-E7CE-ED66FB55F328}"/>
              </a:ext>
            </a:extLst>
          </p:cNvPr>
          <p:cNvGrpSpPr/>
          <p:nvPr/>
        </p:nvGrpSpPr>
        <p:grpSpPr>
          <a:xfrm rot="18900000">
            <a:off x="3429080" y="7561304"/>
            <a:ext cx="4809583" cy="4809584"/>
            <a:chOff x="5833872" y="1527036"/>
            <a:chExt cx="3657600" cy="3657600"/>
          </a:xfrm>
        </p:grpSpPr>
        <p:sp>
          <p:nvSpPr>
            <p:cNvPr id="29" name="Freeform: Shape 28">
              <a:extLst>
                <a:ext uri="{FF2B5EF4-FFF2-40B4-BE49-F238E27FC236}">
                  <a16:creationId xmlns:a16="http://schemas.microsoft.com/office/drawing/2014/main" id="{F26C9B8F-FC31-D747-9C98-9762BAE2A9F7}"/>
                </a:ext>
              </a:extLst>
            </p:cNvPr>
            <p:cNvSpPr/>
            <p:nvPr/>
          </p:nvSpPr>
          <p:spPr>
            <a:xfrm>
              <a:off x="5833872" y="1527036"/>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Oval 29">
              <a:extLst>
                <a:ext uri="{FF2B5EF4-FFF2-40B4-BE49-F238E27FC236}">
                  <a16:creationId xmlns:a16="http://schemas.microsoft.com/office/drawing/2014/main" id="{65847816-1F71-5094-21BE-903EBAD9C85D}"/>
                </a:ext>
              </a:extLst>
            </p:cNvPr>
            <p:cNvSpPr/>
            <p:nvPr/>
          </p:nvSpPr>
          <p:spPr>
            <a:xfrm rot="2700000">
              <a:off x="7810039" y="1655894"/>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0A9E0FF7-AC7D-205A-8487-7842A6D0D677}"/>
                </a:ext>
              </a:extLst>
            </p:cNvPr>
            <p:cNvSpPr/>
            <p:nvPr/>
          </p:nvSpPr>
          <p:spPr>
            <a:xfrm rot="2700000">
              <a:off x="5967290"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CCEC67FF-014D-F83E-D36D-482EADF90DD1}"/>
              </a:ext>
            </a:extLst>
          </p:cNvPr>
          <p:cNvGrpSpPr/>
          <p:nvPr/>
        </p:nvGrpSpPr>
        <p:grpSpPr>
          <a:xfrm rot="18900000">
            <a:off x="3429080" y="7563808"/>
            <a:ext cx="4809584" cy="4809584"/>
            <a:chOff x="2176270" y="1528941"/>
            <a:chExt cx="3657600" cy="3657600"/>
          </a:xfrm>
        </p:grpSpPr>
        <p:sp>
          <p:nvSpPr>
            <p:cNvPr id="33" name="Freeform: Shape 32">
              <a:extLst>
                <a:ext uri="{FF2B5EF4-FFF2-40B4-BE49-F238E27FC236}">
                  <a16:creationId xmlns:a16="http://schemas.microsoft.com/office/drawing/2014/main" id="{424D4635-9233-D6CE-5637-0897D6D0908E}"/>
                </a:ext>
              </a:extLst>
            </p:cNvPr>
            <p:cNvSpPr/>
            <p:nvPr/>
          </p:nvSpPr>
          <p:spPr>
            <a:xfrm>
              <a:off x="2176270" y="1528941"/>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14E8C04E-118C-50F1-6809-661110FDF259}"/>
                </a:ext>
              </a:extLst>
            </p:cNvPr>
            <p:cNvSpPr/>
            <p:nvPr/>
          </p:nvSpPr>
          <p:spPr>
            <a:xfrm rot="2700000">
              <a:off x="4152437" y="1655894"/>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533C59C-9C49-2742-1FEA-CB2A290FDD54}"/>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6E20F5D-AF2A-B153-D13D-3B91671BC635}"/>
              </a:ext>
            </a:extLst>
          </p:cNvPr>
          <p:cNvGrpSpPr/>
          <p:nvPr/>
        </p:nvGrpSpPr>
        <p:grpSpPr>
          <a:xfrm rot="2700000">
            <a:off x="3429080" y="7559558"/>
            <a:ext cx="4809584" cy="4809584"/>
            <a:chOff x="4008305" y="1525709"/>
            <a:chExt cx="3657600" cy="3657600"/>
          </a:xfrm>
        </p:grpSpPr>
        <p:sp>
          <p:nvSpPr>
            <p:cNvPr id="37" name="Freeform: Shape 36">
              <a:extLst>
                <a:ext uri="{FF2B5EF4-FFF2-40B4-BE49-F238E27FC236}">
                  <a16:creationId xmlns:a16="http://schemas.microsoft.com/office/drawing/2014/main" id="{CF021FFE-93E8-91E9-F0FA-D3C81E55968D}"/>
                </a:ext>
              </a:extLst>
            </p:cNvPr>
            <p:cNvSpPr/>
            <p:nvPr/>
          </p:nvSpPr>
          <p:spPr>
            <a:xfrm rot="16200000">
              <a:off x="4008305" y="1525709"/>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ln>
              <a:solidFill>
                <a:srgbClr val="1122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E7412931-CCC9-110A-6714-9E9EB543E31C}"/>
                </a:ext>
              </a:extLst>
            </p:cNvPr>
            <p:cNvSpPr/>
            <p:nvPr/>
          </p:nvSpPr>
          <p:spPr>
            <a:xfrm rot="18900000">
              <a:off x="4135258" y="165266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5AA6A99E-A77E-BBC9-A029-A1B154952DC9}"/>
                </a:ext>
              </a:extLst>
            </p:cNvPr>
            <p:cNvSpPr/>
            <p:nvPr/>
          </p:nvSpPr>
          <p:spPr>
            <a:xfrm rot="18900000">
              <a:off x="5978006" y="3495410"/>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54785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a:extLst>
            <a:ext uri="{FF2B5EF4-FFF2-40B4-BE49-F238E27FC236}">
              <a16:creationId xmlns:a16="http://schemas.microsoft.com/office/drawing/2014/main" id="{B65E57CF-0748-B68B-34AF-F6B4EAB258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3A0750-34D8-A70A-79D2-21E6C440F61B}"/>
              </a:ext>
            </a:extLst>
          </p:cNvPr>
          <p:cNvPicPr>
            <a:picLocks noChangeAspect="1"/>
          </p:cNvPicPr>
          <p:nvPr/>
        </p:nvPicPr>
        <p:blipFill>
          <a:blip r:embed="rId2">
            <a:alphaModFix amt="40000"/>
          </a:blip>
          <a:stretch>
            <a:fillRect/>
          </a:stretch>
        </p:blipFill>
        <p:spPr>
          <a:xfrm>
            <a:off x="0" y="0"/>
            <a:ext cx="12192000" cy="6858000"/>
          </a:xfrm>
          <a:prstGeom prst="rect">
            <a:avLst/>
          </a:prstGeom>
        </p:spPr>
      </p:pic>
      <p:sp>
        <p:nvSpPr>
          <p:cNvPr id="42" name="TextBox 41">
            <a:extLst>
              <a:ext uri="{FF2B5EF4-FFF2-40B4-BE49-F238E27FC236}">
                <a16:creationId xmlns:a16="http://schemas.microsoft.com/office/drawing/2014/main" id="{90BED827-3176-FCCF-1439-3FF3220654DA}"/>
              </a:ext>
            </a:extLst>
          </p:cNvPr>
          <p:cNvSpPr txBox="1"/>
          <p:nvPr/>
        </p:nvSpPr>
        <p:spPr>
          <a:xfrm>
            <a:off x="-1470025" y="-2975937"/>
            <a:ext cx="10788650" cy="2123658"/>
          </a:xfrm>
          <a:prstGeom prst="rect">
            <a:avLst/>
          </a:prstGeom>
          <a:noFill/>
        </p:spPr>
        <p:txBody>
          <a:bodyPr wrap="square" rtlCol="0">
            <a:spAutoFit/>
          </a:bodyPr>
          <a:lstStyle/>
          <a:p>
            <a:pPr algn="ctr"/>
            <a:r>
              <a:rPr lang="en-US" sz="6600" b="1" dirty="0">
                <a:latin typeface="Avenir Next LT Pro" panose="020B0504020202020204" pitchFamily="34" charset="0"/>
              </a:rPr>
              <a:t>Data cleaning and modeling</a:t>
            </a:r>
          </a:p>
        </p:txBody>
      </p:sp>
      <p:pic>
        <p:nvPicPr>
          <p:cNvPr id="46" name="Picture 45" descr="A group of bottles and a broom&#10;&#10;AI-generated content may be incorrect.">
            <a:extLst>
              <a:ext uri="{FF2B5EF4-FFF2-40B4-BE49-F238E27FC236}">
                <a16:creationId xmlns:a16="http://schemas.microsoft.com/office/drawing/2014/main" id="{67011622-992B-925C-964B-2FC4C994FA29}"/>
              </a:ext>
            </a:extLst>
          </p:cNvPr>
          <p:cNvPicPr>
            <a:picLocks noChangeAspect="1"/>
          </p:cNvPicPr>
          <p:nvPr/>
        </p:nvPicPr>
        <p:blipFill>
          <a:blip r:embed="rId3">
            <a:extLst>
              <a:ext uri="{28A0092B-C50C-407E-A947-70E740481C1C}">
                <a14:useLocalDpi xmlns:a14="http://schemas.microsoft.com/office/drawing/2010/main" val="0"/>
              </a:ext>
            </a:extLst>
          </a:blip>
          <a:srcRect l="30937" t="21667" r="30312" b="17500"/>
          <a:stretch>
            <a:fillRect/>
          </a:stretch>
        </p:blipFill>
        <p:spPr>
          <a:xfrm>
            <a:off x="12439650" y="1591092"/>
            <a:ext cx="4724400" cy="4171950"/>
          </a:xfrm>
          <a:prstGeom prst="rect">
            <a:avLst/>
          </a:prstGeom>
        </p:spPr>
      </p:pic>
      <p:sp>
        <p:nvSpPr>
          <p:cNvPr id="2" name="TextBox 1">
            <a:extLst>
              <a:ext uri="{FF2B5EF4-FFF2-40B4-BE49-F238E27FC236}">
                <a16:creationId xmlns:a16="http://schemas.microsoft.com/office/drawing/2014/main" id="{F5F83079-99C4-A8BD-2937-57CFF342C04A}"/>
              </a:ext>
            </a:extLst>
          </p:cNvPr>
          <p:cNvSpPr txBox="1"/>
          <p:nvPr/>
        </p:nvSpPr>
        <p:spPr>
          <a:xfrm>
            <a:off x="-6515100" y="2764572"/>
            <a:ext cx="5638800" cy="4093428"/>
          </a:xfrm>
          <a:prstGeom prst="rect">
            <a:avLst/>
          </a:prstGeom>
          <a:noFill/>
        </p:spPr>
        <p:txBody>
          <a:bodyPr wrap="square" rtlCol="0">
            <a:spAutoFit/>
          </a:bodyPr>
          <a:lstStyle/>
          <a:p>
            <a:r>
              <a:rPr lang="en-US" sz="2800" b="1" dirty="0"/>
              <a:t>Why?</a:t>
            </a:r>
          </a:p>
          <a:p>
            <a:endParaRPr lang="en-US" dirty="0"/>
          </a:p>
          <a:p>
            <a:r>
              <a:rPr lang="en-US" sz="2800" dirty="0"/>
              <a:t>Data modeling and preprocessing are essential steps in any analytical workflow. Raw datasets often contain inconsistencies, mixed formats, and structural issues that must be resolved before reliable insights can be generated.</a:t>
            </a:r>
          </a:p>
          <a:p>
            <a:endParaRPr lang="en-US" dirty="0"/>
          </a:p>
        </p:txBody>
      </p:sp>
      <p:grpSp>
        <p:nvGrpSpPr>
          <p:cNvPr id="19" name="Group 18">
            <a:extLst>
              <a:ext uri="{FF2B5EF4-FFF2-40B4-BE49-F238E27FC236}">
                <a16:creationId xmlns:a16="http://schemas.microsoft.com/office/drawing/2014/main" id="{F38AF319-4324-8125-D7E0-3664CE0422AF}"/>
              </a:ext>
            </a:extLst>
          </p:cNvPr>
          <p:cNvGrpSpPr/>
          <p:nvPr/>
        </p:nvGrpSpPr>
        <p:grpSpPr>
          <a:xfrm rot="18900000">
            <a:off x="3429079" y="950954"/>
            <a:ext cx="4809583" cy="4809584"/>
            <a:chOff x="5833872" y="1527036"/>
            <a:chExt cx="3657600" cy="3657600"/>
          </a:xfrm>
        </p:grpSpPr>
        <p:sp>
          <p:nvSpPr>
            <p:cNvPr id="21" name="Freeform: Shape 20">
              <a:extLst>
                <a:ext uri="{FF2B5EF4-FFF2-40B4-BE49-F238E27FC236}">
                  <a16:creationId xmlns:a16="http://schemas.microsoft.com/office/drawing/2014/main" id="{1FDEED8A-913A-5592-F8C7-9BDB4F2F2356}"/>
                </a:ext>
              </a:extLst>
            </p:cNvPr>
            <p:cNvSpPr/>
            <p:nvPr/>
          </p:nvSpPr>
          <p:spPr>
            <a:xfrm>
              <a:off x="5833872" y="1527036"/>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C91C64A-F4CA-F920-5798-D0A14FD98E35}"/>
                </a:ext>
              </a:extLst>
            </p:cNvPr>
            <p:cNvSpPr/>
            <p:nvPr/>
          </p:nvSpPr>
          <p:spPr>
            <a:xfrm rot="2700000">
              <a:off x="7810039" y="1655894"/>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DEBFC21A-EE50-3690-BFFA-8E0109E5A24A}"/>
                </a:ext>
              </a:extLst>
            </p:cNvPr>
            <p:cNvSpPr/>
            <p:nvPr/>
          </p:nvSpPr>
          <p:spPr>
            <a:xfrm rot="2700000">
              <a:off x="5967290"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3965B5CC-7C1F-4B2D-4228-33F84E43FB3C}"/>
              </a:ext>
            </a:extLst>
          </p:cNvPr>
          <p:cNvGrpSpPr/>
          <p:nvPr/>
        </p:nvGrpSpPr>
        <p:grpSpPr>
          <a:xfrm rot="18900000">
            <a:off x="3429079" y="953458"/>
            <a:ext cx="4809584" cy="4809584"/>
            <a:chOff x="2176270" y="1528941"/>
            <a:chExt cx="3657600" cy="3657600"/>
          </a:xfrm>
        </p:grpSpPr>
        <p:sp>
          <p:nvSpPr>
            <p:cNvPr id="25" name="Freeform: Shape 24">
              <a:extLst>
                <a:ext uri="{FF2B5EF4-FFF2-40B4-BE49-F238E27FC236}">
                  <a16:creationId xmlns:a16="http://schemas.microsoft.com/office/drawing/2014/main" id="{C33E8706-499D-997A-0EA3-4D7176CAA841}"/>
                </a:ext>
              </a:extLst>
            </p:cNvPr>
            <p:cNvSpPr/>
            <p:nvPr/>
          </p:nvSpPr>
          <p:spPr>
            <a:xfrm>
              <a:off x="2176270" y="1528941"/>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5E6A851-CEB6-1535-EA9A-C332AEC721F9}"/>
                </a:ext>
              </a:extLst>
            </p:cNvPr>
            <p:cNvSpPr/>
            <p:nvPr/>
          </p:nvSpPr>
          <p:spPr>
            <a:xfrm rot="2700000">
              <a:off x="4152437" y="1655894"/>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7E546C72-265E-B865-85BC-F66E48360220}"/>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C29926A9-2386-466D-5372-A9E75288EBC8}"/>
              </a:ext>
            </a:extLst>
          </p:cNvPr>
          <p:cNvGrpSpPr/>
          <p:nvPr/>
        </p:nvGrpSpPr>
        <p:grpSpPr>
          <a:xfrm rot="2700000">
            <a:off x="3429079" y="949208"/>
            <a:ext cx="4809584" cy="4809584"/>
            <a:chOff x="4008305" y="1525709"/>
            <a:chExt cx="3657600" cy="3657600"/>
          </a:xfrm>
        </p:grpSpPr>
        <p:sp>
          <p:nvSpPr>
            <p:cNvPr id="29" name="Freeform: Shape 28">
              <a:extLst>
                <a:ext uri="{FF2B5EF4-FFF2-40B4-BE49-F238E27FC236}">
                  <a16:creationId xmlns:a16="http://schemas.microsoft.com/office/drawing/2014/main" id="{08DDC555-0331-131C-7EC8-4F56E1005428}"/>
                </a:ext>
              </a:extLst>
            </p:cNvPr>
            <p:cNvSpPr/>
            <p:nvPr/>
          </p:nvSpPr>
          <p:spPr>
            <a:xfrm rot="16200000">
              <a:off x="4008305" y="1525709"/>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ln>
              <a:solidFill>
                <a:srgbClr val="1122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Oval 29">
              <a:extLst>
                <a:ext uri="{FF2B5EF4-FFF2-40B4-BE49-F238E27FC236}">
                  <a16:creationId xmlns:a16="http://schemas.microsoft.com/office/drawing/2014/main" id="{691C3D92-D144-46F0-DBA2-2CA44ECF9ADA}"/>
                </a:ext>
              </a:extLst>
            </p:cNvPr>
            <p:cNvSpPr/>
            <p:nvPr/>
          </p:nvSpPr>
          <p:spPr>
            <a:xfrm rot="18900000">
              <a:off x="4135258" y="165266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BDEE2ACD-3E1B-8466-74F9-0735F3BA853B}"/>
                </a:ext>
              </a:extLst>
            </p:cNvPr>
            <p:cNvSpPr/>
            <p:nvPr/>
          </p:nvSpPr>
          <p:spPr>
            <a:xfrm rot="18900000">
              <a:off x="5978006" y="3495410"/>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BD9D68BF-F722-5385-0FE8-2ED528FFD0A1}"/>
              </a:ext>
            </a:extLst>
          </p:cNvPr>
          <p:cNvSpPr txBox="1"/>
          <p:nvPr/>
        </p:nvSpPr>
        <p:spPr>
          <a:xfrm>
            <a:off x="11220233" y="8043775"/>
            <a:ext cx="1943533" cy="707886"/>
          </a:xfrm>
          <a:prstGeom prst="rect">
            <a:avLst/>
          </a:prstGeom>
          <a:noFill/>
        </p:spPr>
        <p:txBody>
          <a:bodyPr wrap="square" rtlCol="0">
            <a:spAutoFit/>
          </a:bodyPr>
          <a:lstStyle/>
          <a:p>
            <a:pPr algn="ctr"/>
            <a:r>
              <a:rPr lang="en-US" sz="2000" b="1" dirty="0"/>
              <a:t>Unpivoting Columns</a:t>
            </a:r>
          </a:p>
        </p:txBody>
      </p:sp>
    </p:spTree>
    <p:extLst>
      <p:ext uri="{BB962C8B-B14F-4D97-AF65-F5344CB8AC3E}">
        <p14:creationId xmlns:p14="http://schemas.microsoft.com/office/powerpoint/2010/main" val="12456267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1AA2-7379-9A4E-75E5-3C482055BE3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1B6AE6D-7A1C-A569-E3F2-EE4E0B6ACBB9}"/>
              </a:ext>
            </a:extLst>
          </p:cNvPr>
          <p:cNvPicPr>
            <a:picLocks noChangeAspect="1"/>
          </p:cNvPicPr>
          <p:nvPr/>
        </p:nvPicPr>
        <p:blipFill>
          <a:blip r:embed="rId3">
            <a:alphaModFix amt="25000"/>
          </a:blip>
          <a:stretch>
            <a:fillRect/>
          </a:stretch>
        </p:blipFill>
        <p:spPr>
          <a:xfrm>
            <a:off x="0" y="0"/>
            <a:ext cx="12192000" cy="6858000"/>
          </a:xfrm>
          <a:prstGeom prst="rect">
            <a:avLst/>
          </a:prstGeom>
        </p:spPr>
      </p:pic>
      <p:grpSp>
        <p:nvGrpSpPr>
          <p:cNvPr id="19" name="Group 18">
            <a:extLst>
              <a:ext uri="{FF2B5EF4-FFF2-40B4-BE49-F238E27FC236}">
                <a16:creationId xmlns:a16="http://schemas.microsoft.com/office/drawing/2014/main" id="{0CD3A421-7F82-D236-EFD9-867C6988483F}"/>
              </a:ext>
            </a:extLst>
          </p:cNvPr>
          <p:cNvGrpSpPr/>
          <p:nvPr/>
        </p:nvGrpSpPr>
        <p:grpSpPr>
          <a:xfrm>
            <a:off x="5833870" y="950952"/>
            <a:ext cx="4809582" cy="4809584"/>
            <a:chOff x="5833871" y="1527037"/>
            <a:chExt cx="3657599" cy="3657601"/>
          </a:xfrm>
        </p:grpSpPr>
        <p:sp>
          <p:nvSpPr>
            <p:cNvPr id="21" name="Freeform: Shape 20">
              <a:extLst>
                <a:ext uri="{FF2B5EF4-FFF2-40B4-BE49-F238E27FC236}">
                  <a16:creationId xmlns:a16="http://schemas.microsoft.com/office/drawing/2014/main" id="{EA881E6D-697C-68F6-2B89-00A5D1C2F128}"/>
                </a:ext>
              </a:extLst>
            </p:cNvPr>
            <p:cNvSpPr/>
            <p:nvPr/>
          </p:nvSpPr>
          <p:spPr>
            <a:xfrm>
              <a:off x="5833871" y="1527037"/>
              <a:ext cx="3657599"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AA9D4F62-B5C6-87C1-4804-98B86B4DC7A9}"/>
                </a:ext>
              </a:extLst>
            </p:cNvPr>
            <p:cNvSpPr/>
            <p:nvPr/>
          </p:nvSpPr>
          <p:spPr>
            <a:xfrm rot="2700000">
              <a:off x="7810038"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9624818-C1BD-C21B-4A17-6250DEED59F5}"/>
                </a:ext>
              </a:extLst>
            </p:cNvPr>
            <p:cNvSpPr/>
            <p:nvPr/>
          </p:nvSpPr>
          <p:spPr>
            <a:xfrm rot="2700000">
              <a:off x="5967290"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DDBDC44D-8AD6-D05F-9F49-E6F19235FD67}"/>
              </a:ext>
            </a:extLst>
          </p:cNvPr>
          <p:cNvGrpSpPr/>
          <p:nvPr/>
        </p:nvGrpSpPr>
        <p:grpSpPr>
          <a:xfrm>
            <a:off x="1024286" y="953457"/>
            <a:ext cx="4809584" cy="4809584"/>
            <a:chOff x="2176270" y="1528942"/>
            <a:chExt cx="3657600" cy="3657601"/>
          </a:xfrm>
        </p:grpSpPr>
        <p:sp>
          <p:nvSpPr>
            <p:cNvPr id="25" name="Freeform: Shape 24">
              <a:extLst>
                <a:ext uri="{FF2B5EF4-FFF2-40B4-BE49-F238E27FC236}">
                  <a16:creationId xmlns:a16="http://schemas.microsoft.com/office/drawing/2014/main" id="{869F5E1D-5696-266D-5999-E2120C09CF50}"/>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4F5A8C39-1F0C-35AB-DFFA-34FBC8890A63}"/>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C6314E82-C9D4-969F-071A-20C77D5794AF}"/>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778A91FD-B665-3FC4-483C-5A877033FF50}"/>
              </a:ext>
            </a:extLst>
          </p:cNvPr>
          <p:cNvGrpSpPr/>
          <p:nvPr/>
        </p:nvGrpSpPr>
        <p:grpSpPr>
          <a:xfrm>
            <a:off x="3433332" y="949208"/>
            <a:ext cx="4809584" cy="4809584"/>
            <a:chOff x="4008306" y="1525710"/>
            <a:chExt cx="3657601" cy="3657601"/>
          </a:xfrm>
        </p:grpSpPr>
        <p:sp>
          <p:nvSpPr>
            <p:cNvPr id="29" name="Freeform: Shape 28">
              <a:extLst>
                <a:ext uri="{FF2B5EF4-FFF2-40B4-BE49-F238E27FC236}">
                  <a16:creationId xmlns:a16="http://schemas.microsoft.com/office/drawing/2014/main" id="{D74BF211-39BB-7BF5-246E-4A5EAC1E407B}"/>
                </a:ext>
              </a:extLst>
            </p:cNvPr>
            <p:cNvSpPr/>
            <p:nvPr/>
          </p:nvSpPr>
          <p:spPr>
            <a:xfrm rot="16200000">
              <a:off x="4008306" y="1525710"/>
              <a:ext cx="3657601"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ln>
              <a:solidFill>
                <a:srgbClr val="1122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Oval 29">
              <a:extLst>
                <a:ext uri="{FF2B5EF4-FFF2-40B4-BE49-F238E27FC236}">
                  <a16:creationId xmlns:a16="http://schemas.microsoft.com/office/drawing/2014/main" id="{C99697B6-B443-1682-042D-FC93CB5826A9}"/>
                </a:ext>
              </a:extLst>
            </p:cNvPr>
            <p:cNvSpPr/>
            <p:nvPr/>
          </p:nvSpPr>
          <p:spPr>
            <a:xfrm rot="18900000">
              <a:off x="4135259" y="1652663"/>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7026A5EB-6499-1895-D168-0EAC9963963F}"/>
                </a:ext>
              </a:extLst>
            </p:cNvPr>
            <p:cNvSpPr/>
            <p:nvPr/>
          </p:nvSpPr>
          <p:spPr>
            <a:xfrm rot="18900000">
              <a:off x="5978006" y="3495410"/>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37970BBC-AABC-AE61-C200-83C710CDC35C}"/>
              </a:ext>
            </a:extLst>
          </p:cNvPr>
          <p:cNvSpPr txBox="1"/>
          <p:nvPr/>
        </p:nvSpPr>
        <p:spPr>
          <a:xfrm>
            <a:off x="1104280" y="2137670"/>
            <a:ext cx="2249057" cy="707886"/>
          </a:xfrm>
          <a:prstGeom prst="rect">
            <a:avLst/>
          </a:prstGeom>
          <a:noFill/>
        </p:spPr>
        <p:txBody>
          <a:bodyPr wrap="square" rtlCol="0">
            <a:spAutoFit/>
          </a:bodyPr>
          <a:lstStyle/>
          <a:p>
            <a:pPr algn="ctr"/>
            <a:r>
              <a:rPr lang="en-US" sz="2000" b="1" dirty="0"/>
              <a:t>Data Transformation</a:t>
            </a:r>
          </a:p>
        </p:txBody>
      </p:sp>
      <p:pic>
        <p:nvPicPr>
          <p:cNvPr id="5" name="Graphic 4" descr="Filter outline">
            <a:extLst>
              <a:ext uri="{FF2B5EF4-FFF2-40B4-BE49-F238E27FC236}">
                <a16:creationId xmlns:a16="http://schemas.microsoft.com/office/drawing/2014/main" id="{236104AA-60DF-C9D4-3988-A7AC48AA20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50822" y="1674797"/>
            <a:ext cx="1522578" cy="1522578"/>
          </a:xfrm>
          <a:prstGeom prst="rect">
            <a:avLst/>
          </a:prstGeom>
        </p:spPr>
      </p:pic>
      <p:sp>
        <p:nvSpPr>
          <p:cNvPr id="6" name="TextBox 5">
            <a:extLst>
              <a:ext uri="{FF2B5EF4-FFF2-40B4-BE49-F238E27FC236}">
                <a16:creationId xmlns:a16="http://schemas.microsoft.com/office/drawing/2014/main" id="{381F0454-4982-552A-DEC3-BD4E2A9D1816}"/>
              </a:ext>
            </a:extLst>
          </p:cNvPr>
          <p:cNvSpPr txBox="1"/>
          <p:nvPr/>
        </p:nvSpPr>
        <p:spPr>
          <a:xfrm>
            <a:off x="8434686" y="3722456"/>
            <a:ext cx="1943533" cy="707886"/>
          </a:xfrm>
          <a:prstGeom prst="rect">
            <a:avLst/>
          </a:prstGeom>
          <a:noFill/>
        </p:spPr>
        <p:txBody>
          <a:bodyPr wrap="square" rtlCol="0">
            <a:spAutoFit/>
          </a:bodyPr>
          <a:lstStyle/>
          <a:p>
            <a:pPr algn="ctr"/>
            <a:r>
              <a:rPr lang="en-US" sz="2000" b="1" dirty="0"/>
              <a:t>Unpivoting Columns</a:t>
            </a:r>
          </a:p>
        </p:txBody>
      </p:sp>
      <p:pic>
        <p:nvPicPr>
          <p:cNvPr id="44" name="Graphic 43" descr="Branching diagram outline">
            <a:extLst>
              <a:ext uri="{FF2B5EF4-FFF2-40B4-BE49-F238E27FC236}">
                <a16:creationId xmlns:a16="http://schemas.microsoft.com/office/drawing/2014/main" id="{72C2D160-3A0D-7870-8C36-DC9F1185AE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87633" y="3473167"/>
            <a:ext cx="1237640" cy="1237640"/>
          </a:xfrm>
          <a:prstGeom prst="rect">
            <a:avLst/>
          </a:prstGeom>
        </p:spPr>
      </p:pic>
      <p:sp>
        <p:nvSpPr>
          <p:cNvPr id="32" name="TextBox 31">
            <a:extLst>
              <a:ext uri="{FF2B5EF4-FFF2-40B4-BE49-F238E27FC236}">
                <a16:creationId xmlns:a16="http://schemas.microsoft.com/office/drawing/2014/main" id="{2C80DF3B-234E-25CD-BE9B-3E7921FD2506}"/>
              </a:ext>
            </a:extLst>
          </p:cNvPr>
          <p:cNvSpPr txBox="1"/>
          <p:nvPr/>
        </p:nvSpPr>
        <p:spPr>
          <a:xfrm>
            <a:off x="1145442" y="4022706"/>
            <a:ext cx="2152637" cy="1077217"/>
          </a:xfrm>
          <a:prstGeom prst="rect">
            <a:avLst/>
          </a:prstGeom>
          <a:noFill/>
        </p:spPr>
        <p:txBody>
          <a:bodyPr wrap="square" rtlCol="0">
            <a:spAutoFit/>
          </a:bodyPr>
          <a:lstStyle/>
          <a:p>
            <a:pPr algn="ctr"/>
            <a:r>
              <a:rPr lang="en-US" sz="3200" b="1" dirty="0">
                <a:latin typeface="+mj-lt"/>
              </a:rPr>
              <a:t>STEP</a:t>
            </a:r>
          </a:p>
          <a:p>
            <a:pPr algn="ctr"/>
            <a:r>
              <a:rPr lang="en-US" sz="3200" b="1" dirty="0">
                <a:latin typeface="+mj-lt"/>
              </a:rPr>
              <a:t>01</a:t>
            </a:r>
          </a:p>
        </p:txBody>
      </p:sp>
      <p:sp>
        <p:nvSpPr>
          <p:cNvPr id="33" name="TextBox 32">
            <a:extLst>
              <a:ext uri="{FF2B5EF4-FFF2-40B4-BE49-F238E27FC236}">
                <a16:creationId xmlns:a16="http://schemas.microsoft.com/office/drawing/2014/main" id="{24354CAB-91C0-7E0F-29AB-482764FBF576}"/>
              </a:ext>
            </a:extLst>
          </p:cNvPr>
          <p:cNvSpPr txBox="1"/>
          <p:nvPr/>
        </p:nvSpPr>
        <p:spPr>
          <a:xfrm>
            <a:off x="3545988" y="1541791"/>
            <a:ext cx="2152637" cy="1077217"/>
          </a:xfrm>
          <a:prstGeom prst="rect">
            <a:avLst/>
          </a:prstGeom>
          <a:noFill/>
        </p:spPr>
        <p:txBody>
          <a:bodyPr wrap="square" rtlCol="0">
            <a:spAutoFit/>
          </a:bodyPr>
          <a:lstStyle/>
          <a:p>
            <a:pPr algn="ctr"/>
            <a:r>
              <a:rPr lang="en-US" sz="3200" b="1" dirty="0">
                <a:latin typeface="+mj-lt"/>
              </a:rPr>
              <a:t>STEP</a:t>
            </a:r>
          </a:p>
          <a:p>
            <a:pPr algn="ctr"/>
            <a:r>
              <a:rPr lang="en-US" sz="3200" b="1" dirty="0">
                <a:latin typeface="+mj-lt"/>
              </a:rPr>
              <a:t>02</a:t>
            </a:r>
          </a:p>
        </p:txBody>
      </p:sp>
      <p:sp>
        <p:nvSpPr>
          <p:cNvPr id="34" name="TextBox 33">
            <a:extLst>
              <a:ext uri="{FF2B5EF4-FFF2-40B4-BE49-F238E27FC236}">
                <a16:creationId xmlns:a16="http://schemas.microsoft.com/office/drawing/2014/main" id="{A7F74FC1-1074-3B56-FF2F-ABCFB2250C9F}"/>
              </a:ext>
            </a:extLst>
          </p:cNvPr>
          <p:cNvSpPr txBox="1"/>
          <p:nvPr/>
        </p:nvSpPr>
        <p:spPr>
          <a:xfrm>
            <a:off x="8378170" y="1550063"/>
            <a:ext cx="2152637" cy="1077217"/>
          </a:xfrm>
          <a:prstGeom prst="rect">
            <a:avLst/>
          </a:prstGeom>
          <a:noFill/>
        </p:spPr>
        <p:txBody>
          <a:bodyPr wrap="square" rtlCol="0">
            <a:spAutoFit/>
          </a:bodyPr>
          <a:lstStyle/>
          <a:p>
            <a:pPr algn="ctr"/>
            <a:r>
              <a:rPr lang="en-US" sz="3200" b="1" dirty="0">
                <a:latin typeface="+mj-lt"/>
              </a:rPr>
              <a:t>STEP</a:t>
            </a:r>
          </a:p>
          <a:p>
            <a:pPr algn="ctr"/>
            <a:r>
              <a:rPr lang="en-US" sz="3200" b="1" dirty="0">
                <a:latin typeface="+mj-lt"/>
              </a:rPr>
              <a:t>04</a:t>
            </a:r>
          </a:p>
        </p:txBody>
      </p:sp>
      <p:sp>
        <p:nvSpPr>
          <p:cNvPr id="35" name="TextBox 34">
            <a:extLst>
              <a:ext uri="{FF2B5EF4-FFF2-40B4-BE49-F238E27FC236}">
                <a16:creationId xmlns:a16="http://schemas.microsoft.com/office/drawing/2014/main" id="{C6D23392-5E18-BD30-0955-E9FBBBF5A873}"/>
              </a:ext>
            </a:extLst>
          </p:cNvPr>
          <p:cNvSpPr txBox="1"/>
          <p:nvPr/>
        </p:nvSpPr>
        <p:spPr>
          <a:xfrm>
            <a:off x="5955026" y="4007975"/>
            <a:ext cx="2152637" cy="1077217"/>
          </a:xfrm>
          <a:prstGeom prst="rect">
            <a:avLst/>
          </a:prstGeom>
          <a:noFill/>
        </p:spPr>
        <p:txBody>
          <a:bodyPr wrap="square" rtlCol="0">
            <a:spAutoFit/>
          </a:bodyPr>
          <a:lstStyle/>
          <a:p>
            <a:pPr algn="ctr"/>
            <a:r>
              <a:rPr lang="en-US" sz="3200" b="1" dirty="0">
                <a:latin typeface="+mj-lt"/>
              </a:rPr>
              <a:t>STEP</a:t>
            </a:r>
          </a:p>
          <a:p>
            <a:pPr algn="ctr"/>
            <a:r>
              <a:rPr lang="en-US" sz="3200" b="1" dirty="0">
                <a:latin typeface="+mj-lt"/>
              </a:rPr>
              <a:t>03</a:t>
            </a:r>
          </a:p>
        </p:txBody>
      </p:sp>
      <p:sp>
        <p:nvSpPr>
          <p:cNvPr id="14" name="TextBox 13">
            <a:extLst>
              <a:ext uri="{FF2B5EF4-FFF2-40B4-BE49-F238E27FC236}">
                <a16:creationId xmlns:a16="http://schemas.microsoft.com/office/drawing/2014/main" id="{45B57151-EC06-B63A-F299-B19C48C0AC67}"/>
              </a:ext>
            </a:extLst>
          </p:cNvPr>
          <p:cNvSpPr txBox="1"/>
          <p:nvPr/>
        </p:nvSpPr>
        <p:spPr>
          <a:xfrm>
            <a:off x="12192000" y="361595"/>
            <a:ext cx="7542168" cy="5201424"/>
          </a:xfrm>
          <a:prstGeom prst="rect">
            <a:avLst/>
          </a:prstGeom>
          <a:noFill/>
        </p:spPr>
        <p:txBody>
          <a:bodyPr wrap="square" rtlCol="0">
            <a:spAutoFit/>
          </a:bodyPr>
          <a:lstStyle/>
          <a:p>
            <a:pPr lvl="1"/>
            <a:r>
              <a:rPr lang="en-US" sz="2800" b="1" dirty="0"/>
              <a:t>What Was Done?</a:t>
            </a:r>
          </a:p>
          <a:p>
            <a:endParaRPr lang="en-US" sz="700" b="1" i="1" dirty="0"/>
          </a:p>
          <a:p>
            <a:pPr marL="800100" lvl="1" indent="-342900">
              <a:buFont typeface="Arial" panose="020B0604020202020204" pitchFamily="34" charset="0"/>
              <a:buChar char="•"/>
            </a:pPr>
            <a:r>
              <a:rPr lang="en-US" sz="2400" b="1" dirty="0"/>
              <a:t>Converted Time Formats</a:t>
            </a:r>
          </a:p>
          <a:p>
            <a:pPr lvl="2"/>
            <a:r>
              <a:rPr lang="en-US" sz="2000" dirty="0"/>
              <a:t>Standardized the Start Time and End Time columns to proper </a:t>
            </a:r>
            <a:r>
              <a:rPr lang="en-US" sz="2000" b="1" dirty="0"/>
              <a:t>Time</a:t>
            </a:r>
            <a:r>
              <a:rPr lang="en-US" sz="2000" dirty="0"/>
              <a:t> datatype for accurate duration calculations.</a:t>
            </a:r>
          </a:p>
          <a:p>
            <a:pPr lvl="2"/>
            <a:endParaRPr lang="en-US" sz="700" b="1" i="1" dirty="0"/>
          </a:p>
          <a:p>
            <a:pPr marL="800100" lvl="1" indent="-342900">
              <a:buFont typeface="Arial" panose="020B0604020202020204" pitchFamily="34" charset="0"/>
              <a:buChar char="•"/>
            </a:pPr>
            <a:r>
              <a:rPr lang="en-US" sz="2400" b="1" dirty="0"/>
              <a:t>Unified Product Variants</a:t>
            </a:r>
          </a:p>
          <a:p>
            <a:pPr lvl="2"/>
            <a:r>
              <a:rPr lang="en-US" sz="2000" dirty="0"/>
              <a:t>Corrected inconsistent product labels, separating </a:t>
            </a:r>
            <a:r>
              <a:rPr lang="en-US" sz="2000" b="1" dirty="0"/>
              <a:t>Cola (600 ml)</a:t>
            </a:r>
            <a:r>
              <a:rPr lang="en-US" sz="2000" dirty="0"/>
              <a:t> and </a:t>
            </a:r>
            <a:r>
              <a:rPr lang="en-US" sz="2000" b="1" dirty="0"/>
              <a:t>Cola (2L)</a:t>
            </a:r>
            <a:r>
              <a:rPr lang="en-US" sz="2000" dirty="0"/>
              <a:t> into distinct product entries.</a:t>
            </a:r>
          </a:p>
          <a:p>
            <a:pPr lvl="2"/>
            <a:endParaRPr lang="en-US" sz="700" b="1" i="1" dirty="0"/>
          </a:p>
          <a:p>
            <a:pPr marL="800100" lvl="1" indent="-342900">
              <a:buFont typeface="Arial" panose="020B0604020202020204" pitchFamily="34" charset="0"/>
              <a:buChar char="•"/>
            </a:pPr>
            <a:r>
              <a:rPr lang="en-US" sz="2400" b="1" dirty="0"/>
              <a:t>Standardized Units</a:t>
            </a:r>
          </a:p>
          <a:p>
            <a:pPr lvl="2"/>
            <a:r>
              <a:rPr lang="en-US" sz="2000" dirty="0"/>
              <a:t>Converted all size values to a consistent numeric format</a:t>
            </a:r>
            <a:br>
              <a:rPr lang="en-US" sz="2000" dirty="0"/>
            </a:br>
            <a:r>
              <a:rPr lang="en-US" sz="2000" dirty="0"/>
              <a:t>→ </a:t>
            </a:r>
            <a:r>
              <a:rPr lang="en-US" sz="2000" i="1" dirty="0"/>
              <a:t>2 L → 2000 ml</a:t>
            </a:r>
            <a:br>
              <a:rPr lang="en-US" sz="2000" dirty="0"/>
            </a:br>
            <a:r>
              <a:rPr lang="en-US" sz="2000" dirty="0"/>
              <a:t>→ </a:t>
            </a:r>
            <a:r>
              <a:rPr lang="en-US" sz="2000" i="1" dirty="0"/>
              <a:t>600 ml → 600 ml</a:t>
            </a:r>
            <a:br>
              <a:rPr lang="en-US" sz="2000" i="1" dirty="0"/>
            </a:br>
            <a:endParaRPr lang="en-US" sz="700" b="1" i="1" dirty="0"/>
          </a:p>
          <a:p>
            <a:pPr marL="800100" lvl="1" indent="-342900">
              <a:buFont typeface="Arial" panose="020B0604020202020204" pitchFamily="34" charset="0"/>
              <a:buChar char="•"/>
            </a:pPr>
            <a:r>
              <a:rPr lang="en-US" sz="2400" b="1" dirty="0"/>
              <a:t>Renamed Columns for Clarity</a:t>
            </a:r>
          </a:p>
          <a:p>
            <a:pPr lvl="2"/>
            <a:r>
              <a:rPr lang="en-US" sz="2000" dirty="0"/>
              <a:t>Size → </a:t>
            </a:r>
            <a:r>
              <a:rPr lang="en-US" sz="2000" dirty="0" err="1"/>
              <a:t>Size_ml</a:t>
            </a:r>
            <a:endParaRPr lang="en-US" sz="2000" dirty="0"/>
          </a:p>
          <a:p>
            <a:pPr lvl="2"/>
            <a:r>
              <a:rPr lang="en-US" sz="2000" dirty="0"/>
              <a:t>Min Batch Time → Min batch time (mins)</a:t>
            </a:r>
          </a:p>
        </p:txBody>
      </p:sp>
      <p:sp>
        <p:nvSpPr>
          <p:cNvPr id="4" name="TextBox 3">
            <a:extLst>
              <a:ext uri="{FF2B5EF4-FFF2-40B4-BE49-F238E27FC236}">
                <a16:creationId xmlns:a16="http://schemas.microsoft.com/office/drawing/2014/main" id="{AD737AFF-F85A-F950-E7E9-444E620D3E11}"/>
              </a:ext>
            </a:extLst>
          </p:cNvPr>
          <p:cNvSpPr txBox="1"/>
          <p:nvPr/>
        </p:nvSpPr>
        <p:spPr>
          <a:xfrm>
            <a:off x="6134645" y="1987883"/>
            <a:ext cx="1902765" cy="707886"/>
          </a:xfrm>
          <a:prstGeom prst="rect">
            <a:avLst/>
          </a:prstGeom>
          <a:noFill/>
        </p:spPr>
        <p:txBody>
          <a:bodyPr wrap="square" rtlCol="0">
            <a:spAutoFit/>
          </a:bodyPr>
          <a:lstStyle/>
          <a:p>
            <a:pPr algn="ctr"/>
            <a:r>
              <a:rPr lang="en-US" sz="2000" b="1" dirty="0"/>
              <a:t>Removing Duplicates</a:t>
            </a:r>
          </a:p>
        </p:txBody>
      </p:sp>
      <p:pic>
        <p:nvPicPr>
          <p:cNvPr id="9" name="Graphic 8" descr="Mop and bucket outline">
            <a:extLst>
              <a:ext uri="{FF2B5EF4-FFF2-40B4-BE49-F238E27FC236}">
                <a16:creationId xmlns:a16="http://schemas.microsoft.com/office/drawing/2014/main" id="{2D58F35D-AE7F-0E01-2EA5-4B6BB620ADD7}"/>
              </a:ext>
            </a:extLst>
          </p:cNvPr>
          <p:cNvPicPr>
            <a:picLocks noChangeAspect="1"/>
          </p:cNvPicPr>
          <p:nvPr/>
        </p:nvPicPr>
        <p:blipFill>
          <a:blip r:embed="rId8">
            <a:extLst>
              <a:ext uri="{96DAC541-7B7A-43D3-8B79-37D633B846F1}">
                <asvg:svgBlip xmlns:asvg="http://schemas.microsoft.com/office/drawing/2016/SVG/main" r:embed="rId9"/>
              </a:ext>
            </a:extLst>
          </a:blip>
          <a:srcRect l="53755" t="28657" r="1551" b="-2604"/>
          <a:stretch>
            <a:fillRect/>
          </a:stretch>
        </p:blipFill>
        <p:spPr>
          <a:xfrm>
            <a:off x="6603382" y="1212078"/>
            <a:ext cx="1093632" cy="1809442"/>
          </a:xfrm>
          <a:prstGeom prst="rect">
            <a:avLst/>
          </a:prstGeom>
        </p:spPr>
      </p:pic>
      <p:sp>
        <p:nvSpPr>
          <p:cNvPr id="15" name="TextBox 14">
            <a:extLst>
              <a:ext uri="{FF2B5EF4-FFF2-40B4-BE49-F238E27FC236}">
                <a16:creationId xmlns:a16="http://schemas.microsoft.com/office/drawing/2014/main" id="{C0EC2C5E-237C-1260-8597-E61C78E99F0C}"/>
              </a:ext>
            </a:extLst>
          </p:cNvPr>
          <p:cNvSpPr txBox="1"/>
          <p:nvPr/>
        </p:nvSpPr>
        <p:spPr>
          <a:xfrm>
            <a:off x="3404503" y="3700209"/>
            <a:ext cx="2471700" cy="707886"/>
          </a:xfrm>
          <a:prstGeom prst="rect">
            <a:avLst/>
          </a:prstGeom>
          <a:noFill/>
        </p:spPr>
        <p:txBody>
          <a:bodyPr wrap="square" rtlCol="0">
            <a:spAutoFit/>
          </a:bodyPr>
          <a:lstStyle/>
          <a:p>
            <a:pPr algn="ctr"/>
            <a:r>
              <a:rPr lang="en-US" sz="2000" b="1" dirty="0"/>
              <a:t>Handling Missing Values</a:t>
            </a:r>
          </a:p>
        </p:txBody>
      </p:sp>
      <p:pic>
        <p:nvPicPr>
          <p:cNvPr id="10" name="Graphic 9" descr="Question Mark with solid fill">
            <a:extLst>
              <a:ext uri="{FF2B5EF4-FFF2-40B4-BE49-F238E27FC236}">
                <a16:creationId xmlns:a16="http://schemas.microsoft.com/office/drawing/2014/main" id="{19884728-BB4E-0D3A-F487-B18DD80615A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43916" y="3499406"/>
            <a:ext cx="1392874" cy="1392874"/>
          </a:xfrm>
          <a:prstGeom prst="rect">
            <a:avLst/>
          </a:prstGeom>
        </p:spPr>
      </p:pic>
    </p:spTree>
    <p:extLst>
      <p:ext uri="{BB962C8B-B14F-4D97-AF65-F5344CB8AC3E}">
        <p14:creationId xmlns:p14="http://schemas.microsoft.com/office/powerpoint/2010/main" val="20612395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 grpId="0"/>
      <p:bldP spid="4" grpId="0"/>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9F903-79B0-C252-8EE1-829DFE7506E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EE61261-C1ED-F249-A5FD-5F79DFC8BE7B}"/>
              </a:ext>
            </a:extLst>
          </p:cNvPr>
          <p:cNvPicPr>
            <a:picLocks noChangeAspect="1"/>
          </p:cNvPicPr>
          <p:nvPr/>
        </p:nvPicPr>
        <p:blipFill>
          <a:blip r:embed="rId2">
            <a:alphaModFix amt="40000"/>
          </a:blip>
          <a:stretch>
            <a:fillRect/>
          </a:stretch>
        </p:blipFill>
        <p:spPr>
          <a:xfrm>
            <a:off x="0" y="0"/>
            <a:ext cx="12192000" cy="6858000"/>
          </a:xfrm>
          <a:prstGeom prst="rect">
            <a:avLst/>
          </a:prstGeom>
        </p:spPr>
      </p:pic>
      <p:sp>
        <p:nvSpPr>
          <p:cNvPr id="57" name="!!TextBox 56">
            <a:extLst>
              <a:ext uri="{FF2B5EF4-FFF2-40B4-BE49-F238E27FC236}">
                <a16:creationId xmlns:a16="http://schemas.microsoft.com/office/drawing/2014/main" id="{F17181FA-2D5A-13C4-45C4-35795E79F35C}"/>
              </a:ext>
            </a:extLst>
          </p:cNvPr>
          <p:cNvSpPr txBox="1"/>
          <p:nvPr/>
        </p:nvSpPr>
        <p:spPr>
          <a:xfrm>
            <a:off x="4649832" y="361595"/>
            <a:ext cx="7542168" cy="5201424"/>
          </a:xfrm>
          <a:prstGeom prst="rect">
            <a:avLst/>
          </a:prstGeom>
          <a:noFill/>
        </p:spPr>
        <p:txBody>
          <a:bodyPr wrap="square" rtlCol="0">
            <a:spAutoFit/>
          </a:bodyPr>
          <a:lstStyle/>
          <a:p>
            <a:pPr lvl="1"/>
            <a:r>
              <a:rPr lang="en-US" sz="2800" b="1" dirty="0"/>
              <a:t>What Was Done?</a:t>
            </a:r>
          </a:p>
          <a:p>
            <a:endParaRPr lang="en-US" sz="700" b="1" i="1" dirty="0"/>
          </a:p>
          <a:p>
            <a:pPr marL="800100" lvl="1" indent="-342900">
              <a:buFont typeface="Arial" panose="020B0604020202020204" pitchFamily="34" charset="0"/>
              <a:buChar char="•"/>
            </a:pPr>
            <a:r>
              <a:rPr lang="en-US" sz="2400" b="1" dirty="0"/>
              <a:t>Converted Time Formats</a:t>
            </a:r>
          </a:p>
          <a:p>
            <a:pPr lvl="2"/>
            <a:r>
              <a:rPr lang="en-US" sz="2000" dirty="0"/>
              <a:t>Standardized the Start Time and End Time columns to proper </a:t>
            </a:r>
            <a:r>
              <a:rPr lang="en-US" sz="2000" b="1" dirty="0"/>
              <a:t>Time</a:t>
            </a:r>
            <a:r>
              <a:rPr lang="en-US" sz="2000" dirty="0"/>
              <a:t> datatype for accurate duration calculations.</a:t>
            </a:r>
          </a:p>
          <a:p>
            <a:pPr lvl="2"/>
            <a:endParaRPr lang="en-US" sz="700" b="1" i="1" dirty="0"/>
          </a:p>
          <a:p>
            <a:pPr marL="800100" lvl="1" indent="-342900">
              <a:buFont typeface="Arial" panose="020B0604020202020204" pitchFamily="34" charset="0"/>
              <a:buChar char="•"/>
            </a:pPr>
            <a:r>
              <a:rPr lang="en-US" sz="2400" b="1" dirty="0"/>
              <a:t>Unified Product Variants</a:t>
            </a:r>
          </a:p>
          <a:p>
            <a:pPr lvl="2"/>
            <a:r>
              <a:rPr lang="en-US" sz="2000" dirty="0"/>
              <a:t>Corrected inconsistent product labels, separating </a:t>
            </a:r>
            <a:r>
              <a:rPr lang="en-US" sz="2000" b="1" dirty="0"/>
              <a:t>Cola (600 ml)</a:t>
            </a:r>
            <a:r>
              <a:rPr lang="en-US" sz="2000" dirty="0"/>
              <a:t> and </a:t>
            </a:r>
            <a:r>
              <a:rPr lang="en-US" sz="2000" b="1" dirty="0"/>
              <a:t>Cola (2L)</a:t>
            </a:r>
            <a:r>
              <a:rPr lang="en-US" sz="2000" dirty="0"/>
              <a:t> into distinct product entries.</a:t>
            </a:r>
          </a:p>
          <a:p>
            <a:pPr lvl="2"/>
            <a:endParaRPr lang="en-US" sz="700" b="1" i="1" dirty="0"/>
          </a:p>
          <a:p>
            <a:pPr marL="800100" lvl="1" indent="-342900">
              <a:buFont typeface="Arial" panose="020B0604020202020204" pitchFamily="34" charset="0"/>
              <a:buChar char="•"/>
            </a:pPr>
            <a:r>
              <a:rPr lang="en-US" sz="2400" b="1" dirty="0"/>
              <a:t>Standardized Units</a:t>
            </a:r>
          </a:p>
          <a:p>
            <a:pPr lvl="2"/>
            <a:r>
              <a:rPr lang="en-US" sz="2000" dirty="0"/>
              <a:t>Converted all size values to a consistent numeric format</a:t>
            </a:r>
            <a:br>
              <a:rPr lang="en-US" sz="2000" dirty="0"/>
            </a:br>
            <a:r>
              <a:rPr lang="en-US" sz="2000" dirty="0"/>
              <a:t>→ </a:t>
            </a:r>
            <a:r>
              <a:rPr lang="en-US" sz="2000" i="1" dirty="0"/>
              <a:t>2 L → 2000 ml</a:t>
            </a:r>
            <a:br>
              <a:rPr lang="en-US" sz="2000" dirty="0"/>
            </a:br>
            <a:r>
              <a:rPr lang="en-US" sz="2000" dirty="0"/>
              <a:t>→ </a:t>
            </a:r>
            <a:r>
              <a:rPr lang="en-US" sz="2000" i="1" dirty="0"/>
              <a:t>600 ml → 600 ml</a:t>
            </a:r>
            <a:br>
              <a:rPr lang="en-US" sz="2000" i="1" dirty="0"/>
            </a:br>
            <a:endParaRPr lang="en-US" sz="700" b="1" i="1" dirty="0"/>
          </a:p>
          <a:p>
            <a:pPr marL="800100" lvl="1" indent="-342900">
              <a:buFont typeface="Arial" panose="020B0604020202020204" pitchFamily="34" charset="0"/>
              <a:buChar char="•"/>
            </a:pPr>
            <a:r>
              <a:rPr lang="en-US" sz="2400" b="1" dirty="0"/>
              <a:t>Renamed Columns for Clarity</a:t>
            </a:r>
          </a:p>
          <a:p>
            <a:pPr lvl="2"/>
            <a:r>
              <a:rPr lang="en-US" sz="2000" dirty="0"/>
              <a:t>Size → </a:t>
            </a:r>
            <a:r>
              <a:rPr lang="en-US" sz="2000" dirty="0" err="1"/>
              <a:t>Size_ml</a:t>
            </a:r>
            <a:endParaRPr lang="en-US" sz="2000" dirty="0"/>
          </a:p>
          <a:p>
            <a:pPr lvl="2"/>
            <a:r>
              <a:rPr lang="en-US" sz="2000" dirty="0"/>
              <a:t>Min Batch Time → Min batch time (mins)</a:t>
            </a:r>
          </a:p>
        </p:txBody>
      </p:sp>
      <p:pic>
        <p:nvPicPr>
          <p:cNvPr id="59" name="Picture 58" descr="A screenshot of a computer&#10;&#10;AI-generated content may be incorrect.">
            <a:extLst>
              <a:ext uri="{FF2B5EF4-FFF2-40B4-BE49-F238E27FC236}">
                <a16:creationId xmlns:a16="http://schemas.microsoft.com/office/drawing/2014/main" id="{D5F06420-B7E0-4805-3253-C77B754870B6}"/>
              </a:ext>
            </a:extLst>
          </p:cNvPr>
          <p:cNvPicPr>
            <a:picLocks noChangeAspect="1"/>
          </p:cNvPicPr>
          <p:nvPr/>
        </p:nvPicPr>
        <p:blipFill>
          <a:blip r:embed="rId3">
            <a:extLst>
              <a:ext uri="{28A0092B-C50C-407E-A947-70E740481C1C}">
                <a14:useLocalDpi xmlns:a14="http://schemas.microsoft.com/office/drawing/2010/main" val="0"/>
              </a:ext>
            </a:extLst>
          </a:blip>
          <a:srcRect l="40410" t="34307" r="42884" b="33606"/>
          <a:stretch>
            <a:fillRect/>
          </a:stretch>
        </p:blipFill>
        <p:spPr>
          <a:xfrm>
            <a:off x="8194280" y="5695070"/>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0" name="Picture 59" descr="A logo with orange and black text&#10;&#10;AI-generated content may be incorrect.">
            <a:extLst>
              <a:ext uri="{FF2B5EF4-FFF2-40B4-BE49-F238E27FC236}">
                <a16:creationId xmlns:a16="http://schemas.microsoft.com/office/drawing/2014/main" id="{37867B2B-7CBC-B4C9-6CF6-0F5748A998FC}"/>
              </a:ext>
            </a:extLst>
          </p:cNvPr>
          <p:cNvPicPr>
            <a:picLocks noChangeAspect="1"/>
          </p:cNvPicPr>
          <p:nvPr/>
        </p:nvPicPr>
        <p:blipFill>
          <a:blip r:embed="rId4">
            <a:extLst>
              <a:ext uri="{28A0092B-C50C-407E-A947-70E740481C1C}">
                <a14:useLocalDpi xmlns:a14="http://schemas.microsoft.com/office/drawing/2010/main" val="0"/>
              </a:ext>
            </a:extLst>
          </a:blip>
          <a:srcRect l="34318" t="28806" r="36227" b="24754"/>
          <a:stretch>
            <a:fillRect/>
          </a:stretch>
        </p:blipFill>
        <p:spPr>
          <a:xfrm>
            <a:off x="10356249" y="5695070"/>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8" name="Picture 57" descr="A green square with white x on it&#10;&#10;AI-generated content may be incorrect.">
            <a:extLst>
              <a:ext uri="{FF2B5EF4-FFF2-40B4-BE49-F238E27FC236}">
                <a16:creationId xmlns:a16="http://schemas.microsoft.com/office/drawing/2014/main" id="{F5842383-DFE4-F84C-CDA6-E9D8C6239799}"/>
              </a:ext>
            </a:extLst>
          </p:cNvPr>
          <p:cNvPicPr>
            <a:picLocks noChangeAspect="1"/>
          </p:cNvPicPr>
          <p:nvPr/>
        </p:nvPicPr>
        <p:blipFill>
          <a:blip r:embed="rId5">
            <a:extLst>
              <a:ext uri="{28A0092B-C50C-407E-A947-70E740481C1C}">
                <a14:useLocalDpi xmlns:a14="http://schemas.microsoft.com/office/drawing/2010/main" val="0"/>
              </a:ext>
            </a:extLst>
          </a:blip>
          <a:srcRect l="32131" t="19127" r="30979" b="18817"/>
          <a:stretch>
            <a:fillRect/>
          </a:stretch>
        </p:blipFill>
        <p:spPr>
          <a:xfrm>
            <a:off x="5994212" y="5696691"/>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nvGrpSpPr>
          <p:cNvPr id="24" name="Group 23">
            <a:extLst>
              <a:ext uri="{FF2B5EF4-FFF2-40B4-BE49-F238E27FC236}">
                <a16:creationId xmlns:a16="http://schemas.microsoft.com/office/drawing/2014/main" id="{15405987-F881-BF30-399A-2F4C9D5C9017}"/>
              </a:ext>
            </a:extLst>
          </p:cNvPr>
          <p:cNvGrpSpPr/>
          <p:nvPr/>
        </p:nvGrpSpPr>
        <p:grpSpPr>
          <a:xfrm rot="18900000">
            <a:off x="-3013566" y="1064596"/>
            <a:ext cx="10118160" cy="10118160"/>
            <a:chOff x="2176270" y="1528942"/>
            <a:chExt cx="3657600" cy="3657601"/>
          </a:xfrm>
        </p:grpSpPr>
        <p:sp>
          <p:nvSpPr>
            <p:cNvPr id="25" name="Freeform: Shape 24">
              <a:extLst>
                <a:ext uri="{FF2B5EF4-FFF2-40B4-BE49-F238E27FC236}">
                  <a16:creationId xmlns:a16="http://schemas.microsoft.com/office/drawing/2014/main" id="{B37E06A1-7FBA-85AB-244F-1B83AACFEECC}"/>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BEB30CDB-5F9B-A6C8-046C-6EA05C034044}"/>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987B29AE-2448-2F01-196F-FFE48B8F9117}"/>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38A3E8FD-F791-1D5B-768D-9DC41EDDDBBB}"/>
              </a:ext>
            </a:extLst>
          </p:cNvPr>
          <p:cNvSpPr txBox="1"/>
          <p:nvPr/>
        </p:nvSpPr>
        <p:spPr>
          <a:xfrm>
            <a:off x="349614" y="1548885"/>
            <a:ext cx="2596708" cy="400110"/>
          </a:xfrm>
          <a:prstGeom prst="rect">
            <a:avLst/>
          </a:prstGeom>
          <a:noFill/>
        </p:spPr>
        <p:txBody>
          <a:bodyPr wrap="square" rtlCol="0">
            <a:spAutoFit/>
          </a:bodyPr>
          <a:lstStyle/>
          <a:p>
            <a:pPr algn="ctr"/>
            <a:r>
              <a:rPr lang="en-US" sz="2000" b="1" dirty="0"/>
              <a:t>Data Transformation</a:t>
            </a:r>
          </a:p>
        </p:txBody>
      </p:sp>
      <p:sp>
        <p:nvSpPr>
          <p:cNvPr id="3" name="TextBox 2">
            <a:extLst>
              <a:ext uri="{FF2B5EF4-FFF2-40B4-BE49-F238E27FC236}">
                <a16:creationId xmlns:a16="http://schemas.microsoft.com/office/drawing/2014/main" id="{D5212385-7DC7-2F47-ADF5-9BAE7405C214}"/>
              </a:ext>
            </a:extLst>
          </p:cNvPr>
          <p:cNvSpPr txBox="1"/>
          <p:nvPr/>
        </p:nvSpPr>
        <p:spPr>
          <a:xfrm>
            <a:off x="216095" y="1941500"/>
            <a:ext cx="3639312" cy="1754326"/>
          </a:xfrm>
          <a:prstGeom prst="rect">
            <a:avLst/>
          </a:prstGeom>
          <a:noFill/>
        </p:spPr>
        <p:txBody>
          <a:bodyPr wrap="square" rtlCol="0">
            <a:spAutoFit/>
          </a:bodyPr>
          <a:lstStyle/>
          <a:p>
            <a:pPr algn="ctr"/>
            <a:r>
              <a:rPr lang="en-US" dirty="0"/>
              <a:t>Data transformation makes raw data usable. It fixes inconsistent formats, units, and column names, ensuring the dataset is clean, structured, and ready for accurate analysis.</a:t>
            </a:r>
          </a:p>
        </p:txBody>
      </p:sp>
      <p:pic>
        <p:nvPicPr>
          <p:cNvPr id="5" name="Graphic 4" descr="Filter outline">
            <a:extLst>
              <a:ext uri="{FF2B5EF4-FFF2-40B4-BE49-F238E27FC236}">
                <a16:creationId xmlns:a16="http://schemas.microsoft.com/office/drawing/2014/main" id="{CF6947CD-E1AA-3D9F-F561-EBA9132F08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63537" y="1551389"/>
            <a:ext cx="445447" cy="445447"/>
          </a:xfrm>
          <a:prstGeom prst="rect">
            <a:avLst/>
          </a:prstGeom>
        </p:spPr>
      </p:pic>
      <p:sp>
        <p:nvSpPr>
          <p:cNvPr id="38" name="TextBox 37">
            <a:extLst>
              <a:ext uri="{FF2B5EF4-FFF2-40B4-BE49-F238E27FC236}">
                <a16:creationId xmlns:a16="http://schemas.microsoft.com/office/drawing/2014/main" id="{302B3823-29BF-96F7-3774-0F014510421C}"/>
              </a:ext>
            </a:extLst>
          </p:cNvPr>
          <p:cNvSpPr txBox="1"/>
          <p:nvPr/>
        </p:nvSpPr>
        <p:spPr>
          <a:xfrm>
            <a:off x="969191" y="780696"/>
            <a:ext cx="2152637" cy="769441"/>
          </a:xfrm>
          <a:prstGeom prst="rect">
            <a:avLst/>
          </a:prstGeom>
          <a:noFill/>
        </p:spPr>
        <p:txBody>
          <a:bodyPr wrap="square" rtlCol="0">
            <a:spAutoFit/>
          </a:bodyPr>
          <a:lstStyle/>
          <a:p>
            <a:pPr algn="ctr"/>
            <a:r>
              <a:rPr lang="en-US" sz="4400" b="1" dirty="0">
                <a:latin typeface="+mj-lt"/>
              </a:rPr>
              <a:t>STEP 01</a:t>
            </a:r>
          </a:p>
        </p:txBody>
      </p:sp>
      <p:grpSp>
        <p:nvGrpSpPr>
          <p:cNvPr id="4" name="Group 3">
            <a:extLst>
              <a:ext uri="{FF2B5EF4-FFF2-40B4-BE49-F238E27FC236}">
                <a16:creationId xmlns:a16="http://schemas.microsoft.com/office/drawing/2014/main" id="{81E81F90-13B7-10C9-E551-704958163E3E}"/>
              </a:ext>
            </a:extLst>
          </p:cNvPr>
          <p:cNvGrpSpPr/>
          <p:nvPr/>
        </p:nvGrpSpPr>
        <p:grpSpPr>
          <a:xfrm rot="18900000">
            <a:off x="10057706" y="1064596"/>
            <a:ext cx="10118160" cy="10118160"/>
            <a:chOff x="2176270" y="1528942"/>
            <a:chExt cx="3657600" cy="3657601"/>
          </a:xfrm>
        </p:grpSpPr>
        <p:sp>
          <p:nvSpPr>
            <p:cNvPr id="6" name="Freeform: Shape 5">
              <a:extLst>
                <a:ext uri="{FF2B5EF4-FFF2-40B4-BE49-F238E27FC236}">
                  <a16:creationId xmlns:a16="http://schemas.microsoft.com/office/drawing/2014/main" id="{668E1C05-4CFB-23FA-4BF9-965157047AC3}"/>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7DB78755-D13C-8EBE-DA18-D8FFF040946D}"/>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E21EBB5-CA95-3C5C-54A1-ABF72B906A9A}"/>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6C6A37C3-ADD0-FA09-8E45-748B3434659C}"/>
              </a:ext>
            </a:extLst>
          </p:cNvPr>
          <p:cNvSpPr txBox="1"/>
          <p:nvPr/>
        </p:nvSpPr>
        <p:spPr>
          <a:xfrm>
            <a:off x="13082040" y="1644763"/>
            <a:ext cx="3505793" cy="400110"/>
          </a:xfrm>
          <a:prstGeom prst="rect">
            <a:avLst/>
          </a:prstGeom>
          <a:noFill/>
        </p:spPr>
        <p:txBody>
          <a:bodyPr wrap="square" rtlCol="0">
            <a:spAutoFit/>
          </a:bodyPr>
          <a:lstStyle/>
          <a:p>
            <a:pPr algn="ctr"/>
            <a:r>
              <a:rPr lang="en-US" sz="2000" b="1" dirty="0"/>
              <a:t>Handling Missing Values</a:t>
            </a:r>
          </a:p>
        </p:txBody>
      </p:sp>
      <p:sp>
        <p:nvSpPr>
          <p:cNvPr id="18" name="TextBox 17">
            <a:extLst>
              <a:ext uri="{FF2B5EF4-FFF2-40B4-BE49-F238E27FC236}">
                <a16:creationId xmlns:a16="http://schemas.microsoft.com/office/drawing/2014/main" id="{59B6172A-6B3D-14D2-F30C-87250F911747}"/>
              </a:ext>
            </a:extLst>
          </p:cNvPr>
          <p:cNvSpPr txBox="1"/>
          <p:nvPr/>
        </p:nvSpPr>
        <p:spPr>
          <a:xfrm>
            <a:off x="13287367" y="2126086"/>
            <a:ext cx="3639312" cy="1477328"/>
          </a:xfrm>
          <a:prstGeom prst="rect">
            <a:avLst/>
          </a:prstGeom>
          <a:noFill/>
        </p:spPr>
        <p:txBody>
          <a:bodyPr wrap="square" rtlCol="0">
            <a:spAutoFit/>
          </a:bodyPr>
          <a:lstStyle/>
          <a:p>
            <a:pPr algn="ctr"/>
            <a:r>
              <a:rPr lang="en-US" dirty="0"/>
              <a:t>Missing values can create gaps in analysis and lead to unreliable insights. Identifying and addressing them ensures the dataset remains complete, and accurate.</a:t>
            </a:r>
          </a:p>
        </p:txBody>
      </p:sp>
      <p:sp>
        <p:nvSpPr>
          <p:cNvPr id="19" name="TextBox 18">
            <a:extLst>
              <a:ext uri="{FF2B5EF4-FFF2-40B4-BE49-F238E27FC236}">
                <a16:creationId xmlns:a16="http://schemas.microsoft.com/office/drawing/2014/main" id="{D6ECCC51-4DF4-4785-31AB-2224902D1C8C}"/>
              </a:ext>
            </a:extLst>
          </p:cNvPr>
          <p:cNvSpPr txBox="1"/>
          <p:nvPr/>
        </p:nvSpPr>
        <p:spPr>
          <a:xfrm>
            <a:off x="14040463" y="780696"/>
            <a:ext cx="2152637" cy="769441"/>
          </a:xfrm>
          <a:prstGeom prst="rect">
            <a:avLst/>
          </a:prstGeom>
          <a:noFill/>
        </p:spPr>
        <p:txBody>
          <a:bodyPr wrap="square" rtlCol="0">
            <a:spAutoFit/>
          </a:bodyPr>
          <a:lstStyle/>
          <a:p>
            <a:pPr algn="ctr"/>
            <a:r>
              <a:rPr lang="en-US" sz="4400" b="1" dirty="0">
                <a:latin typeface="+mj-lt"/>
              </a:rPr>
              <a:t>STEP 02</a:t>
            </a:r>
          </a:p>
        </p:txBody>
      </p:sp>
      <p:pic>
        <p:nvPicPr>
          <p:cNvPr id="20" name="Graphic 19" descr="Question Mark with solid fill">
            <a:extLst>
              <a:ext uri="{FF2B5EF4-FFF2-40B4-BE49-F238E27FC236}">
                <a16:creationId xmlns:a16="http://schemas.microsoft.com/office/drawing/2014/main" id="{E705E8A3-910E-BDC9-68D2-7C62091424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173243" y="1566441"/>
            <a:ext cx="556753" cy="556753"/>
          </a:xfrm>
          <a:prstGeom prst="rect">
            <a:avLst/>
          </a:prstGeom>
        </p:spPr>
      </p:pic>
    </p:spTree>
    <p:extLst>
      <p:ext uri="{BB962C8B-B14F-4D97-AF65-F5344CB8AC3E}">
        <p14:creationId xmlns:p14="http://schemas.microsoft.com/office/powerpoint/2010/main" val="34622701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100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200" fill="hold"/>
                                        <p:tgtEl>
                                          <p:spTgt spid="58"/>
                                        </p:tgtEl>
                                        <p:attrNameLst>
                                          <p:attrName>ppt_x</p:attrName>
                                        </p:attrNameLst>
                                      </p:cBhvr>
                                      <p:tavLst>
                                        <p:tav tm="0">
                                          <p:val>
                                            <p:strVal val="#ppt_x"/>
                                          </p:val>
                                        </p:tav>
                                        <p:tav tm="100000">
                                          <p:val>
                                            <p:strVal val="#ppt_x"/>
                                          </p:val>
                                        </p:tav>
                                      </p:tavLst>
                                    </p:anim>
                                    <p:anim calcmode="lin" valueType="num">
                                      <p:cBhvr additive="base">
                                        <p:cTn id="12" dur="200" fill="hold"/>
                                        <p:tgtEl>
                                          <p:spTgt spid="5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1300"/>
                                  </p:stCondLst>
                                  <p:childTnLst>
                                    <p:set>
                                      <p:cBhvr>
                                        <p:cTn id="14" dur="1" fill="hold">
                                          <p:stCondLst>
                                            <p:cond delay="0"/>
                                          </p:stCondLst>
                                        </p:cTn>
                                        <p:tgtEl>
                                          <p:spTgt spid="59"/>
                                        </p:tgtEl>
                                        <p:attrNameLst>
                                          <p:attrName>style.visibility</p:attrName>
                                        </p:attrNameLst>
                                      </p:cBhvr>
                                      <p:to>
                                        <p:strVal val="visible"/>
                                      </p:to>
                                    </p:set>
                                    <p:anim calcmode="lin" valueType="num">
                                      <p:cBhvr additive="base">
                                        <p:cTn id="15" dur="200" fill="hold"/>
                                        <p:tgtEl>
                                          <p:spTgt spid="59"/>
                                        </p:tgtEl>
                                        <p:attrNameLst>
                                          <p:attrName>ppt_x</p:attrName>
                                        </p:attrNameLst>
                                      </p:cBhvr>
                                      <p:tavLst>
                                        <p:tav tm="0">
                                          <p:val>
                                            <p:strVal val="#ppt_x"/>
                                          </p:val>
                                        </p:tav>
                                        <p:tav tm="100000">
                                          <p:val>
                                            <p:strVal val="#ppt_x"/>
                                          </p:val>
                                        </p:tav>
                                      </p:tavLst>
                                    </p:anim>
                                    <p:anim calcmode="lin" valueType="num">
                                      <p:cBhvr additive="base">
                                        <p:cTn id="16" dur="200" fill="hold"/>
                                        <p:tgtEl>
                                          <p:spTgt spid="5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1600"/>
                                  </p:stCondLst>
                                  <p:childTnLst>
                                    <p:set>
                                      <p:cBhvr>
                                        <p:cTn id="18" dur="1" fill="hold">
                                          <p:stCondLst>
                                            <p:cond delay="0"/>
                                          </p:stCondLst>
                                        </p:cTn>
                                        <p:tgtEl>
                                          <p:spTgt spid="60"/>
                                        </p:tgtEl>
                                        <p:attrNameLst>
                                          <p:attrName>style.visibility</p:attrName>
                                        </p:attrNameLst>
                                      </p:cBhvr>
                                      <p:to>
                                        <p:strVal val="visible"/>
                                      </p:to>
                                    </p:set>
                                    <p:anim calcmode="lin" valueType="num">
                                      <p:cBhvr additive="base">
                                        <p:cTn id="19" dur="200" fill="hold"/>
                                        <p:tgtEl>
                                          <p:spTgt spid="60"/>
                                        </p:tgtEl>
                                        <p:attrNameLst>
                                          <p:attrName>ppt_x</p:attrName>
                                        </p:attrNameLst>
                                      </p:cBhvr>
                                      <p:tavLst>
                                        <p:tav tm="0">
                                          <p:val>
                                            <p:strVal val="#ppt_x"/>
                                          </p:val>
                                        </p:tav>
                                        <p:tav tm="100000">
                                          <p:val>
                                            <p:strVal val="#ppt_x"/>
                                          </p:val>
                                        </p:tav>
                                      </p:tavLst>
                                    </p:anim>
                                    <p:anim calcmode="lin" valueType="num">
                                      <p:cBhvr additive="base">
                                        <p:cTn id="20" dur="2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EB8A8-6CCE-2258-D662-1B92882076D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2A7DA15-00AA-FBBA-532E-E1C16DE3A237}"/>
              </a:ext>
            </a:extLst>
          </p:cNvPr>
          <p:cNvPicPr>
            <a:picLocks noChangeAspect="1"/>
          </p:cNvPicPr>
          <p:nvPr/>
        </p:nvPicPr>
        <p:blipFill>
          <a:blip r:embed="rId2">
            <a:alphaModFix amt="40000"/>
          </a:blip>
          <a:stretch>
            <a:fillRect/>
          </a:stretch>
        </p:blipFill>
        <p:spPr>
          <a:xfrm>
            <a:off x="0" y="0"/>
            <a:ext cx="12192000" cy="6858000"/>
          </a:xfrm>
          <a:prstGeom prst="rect">
            <a:avLst/>
          </a:prstGeom>
        </p:spPr>
      </p:pic>
      <p:grpSp>
        <p:nvGrpSpPr>
          <p:cNvPr id="32" name="Group 31">
            <a:extLst>
              <a:ext uri="{FF2B5EF4-FFF2-40B4-BE49-F238E27FC236}">
                <a16:creationId xmlns:a16="http://schemas.microsoft.com/office/drawing/2014/main" id="{627551BD-036D-D36C-2547-B006C1378782}"/>
              </a:ext>
            </a:extLst>
          </p:cNvPr>
          <p:cNvGrpSpPr/>
          <p:nvPr/>
        </p:nvGrpSpPr>
        <p:grpSpPr>
          <a:xfrm rot="18900000">
            <a:off x="-7875853" y="1064596"/>
            <a:ext cx="10118160" cy="10118160"/>
            <a:chOff x="2176270" y="1528942"/>
            <a:chExt cx="3657600" cy="3657601"/>
          </a:xfrm>
        </p:grpSpPr>
        <p:sp>
          <p:nvSpPr>
            <p:cNvPr id="33" name="Freeform: Shape 32">
              <a:extLst>
                <a:ext uri="{FF2B5EF4-FFF2-40B4-BE49-F238E27FC236}">
                  <a16:creationId xmlns:a16="http://schemas.microsoft.com/office/drawing/2014/main" id="{BA88FFD0-5462-10C8-C01B-5F9D42ABBA0F}"/>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0C25463A-ADAA-6D55-EAAE-4A9F93B0F05A}"/>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9A69C489-3F81-7EA8-E781-D955433FDD04}"/>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547C026D-3A9D-CD39-DF5D-BB7D510B127D}"/>
              </a:ext>
            </a:extLst>
          </p:cNvPr>
          <p:cNvSpPr txBox="1"/>
          <p:nvPr/>
        </p:nvSpPr>
        <p:spPr>
          <a:xfrm>
            <a:off x="-4512673" y="1548885"/>
            <a:ext cx="2596708" cy="400110"/>
          </a:xfrm>
          <a:prstGeom prst="rect">
            <a:avLst/>
          </a:prstGeom>
          <a:noFill/>
        </p:spPr>
        <p:txBody>
          <a:bodyPr wrap="square" rtlCol="0">
            <a:spAutoFit/>
          </a:bodyPr>
          <a:lstStyle/>
          <a:p>
            <a:pPr algn="ctr"/>
            <a:r>
              <a:rPr lang="en-US" sz="2000" b="1" dirty="0"/>
              <a:t>Data Transformation</a:t>
            </a:r>
          </a:p>
        </p:txBody>
      </p:sp>
      <p:sp>
        <p:nvSpPr>
          <p:cNvPr id="37" name="TextBox 36">
            <a:extLst>
              <a:ext uri="{FF2B5EF4-FFF2-40B4-BE49-F238E27FC236}">
                <a16:creationId xmlns:a16="http://schemas.microsoft.com/office/drawing/2014/main" id="{0B52B8B9-06B8-8FD4-9921-D4FFF6E139F3}"/>
              </a:ext>
            </a:extLst>
          </p:cNvPr>
          <p:cNvSpPr txBox="1"/>
          <p:nvPr/>
        </p:nvSpPr>
        <p:spPr>
          <a:xfrm>
            <a:off x="-4646192" y="1941500"/>
            <a:ext cx="3639312" cy="1754326"/>
          </a:xfrm>
          <a:prstGeom prst="rect">
            <a:avLst/>
          </a:prstGeom>
          <a:noFill/>
        </p:spPr>
        <p:txBody>
          <a:bodyPr wrap="square" rtlCol="0">
            <a:spAutoFit/>
          </a:bodyPr>
          <a:lstStyle/>
          <a:p>
            <a:pPr algn="ctr"/>
            <a:r>
              <a:rPr lang="en-US" dirty="0"/>
              <a:t>Data transformation makes raw data usable. It fixes inconsistent formats, units, and column names, ensuring the dataset is clean, structured, and ready for accurate analysis.</a:t>
            </a:r>
          </a:p>
        </p:txBody>
      </p:sp>
      <p:pic>
        <p:nvPicPr>
          <p:cNvPr id="40" name="Graphic 39" descr="Filter outline">
            <a:extLst>
              <a:ext uri="{FF2B5EF4-FFF2-40B4-BE49-F238E27FC236}">
                <a16:creationId xmlns:a16="http://schemas.microsoft.com/office/drawing/2014/main" id="{9E2E74D6-5E04-1335-F7EA-28841E12EB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8750" y="1551389"/>
            <a:ext cx="445447" cy="445447"/>
          </a:xfrm>
          <a:prstGeom prst="rect">
            <a:avLst/>
          </a:prstGeom>
        </p:spPr>
      </p:pic>
      <p:sp>
        <p:nvSpPr>
          <p:cNvPr id="41" name="TextBox 40">
            <a:extLst>
              <a:ext uri="{FF2B5EF4-FFF2-40B4-BE49-F238E27FC236}">
                <a16:creationId xmlns:a16="http://schemas.microsoft.com/office/drawing/2014/main" id="{45C31000-9E93-B55B-7330-D22466359582}"/>
              </a:ext>
            </a:extLst>
          </p:cNvPr>
          <p:cNvSpPr txBox="1"/>
          <p:nvPr/>
        </p:nvSpPr>
        <p:spPr>
          <a:xfrm>
            <a:off x="-3893096" y="780696"/>
            <a:ext cx="2152637" cy="769441"/>
          </a:xfrm>
          <a:prstGeom prst="rect">
            <a:avLst/>
          </a:prstGeom>
          <a:noFill/>
        </p:spPr>
        <p:txBody>
          <a:bodyPr wrap="square" rtlCol="0">
            <a:spAutoFit/>
          </a:bodyPr>
          <a:lstStyle/>
          <a:p>
            <a:pPr algn="ctr"/>
            <a:r>
              <a:rPr lang="en-US" sz="4400" b="1" dirty="0">
                <a:latin typeface="+mj-lt"/>
              </a:rPr>
              <a:t>STEP 01</a:t>
            </a:r>
          </a:p>
        </p:txBody>
      </p:sp>
      <p:sp>
        <p:nvSpPr>
          <p:cNvPr id="71" name="TextBox 70">
            <a:extLst>
              <a:ext uri="{FF2B5EF4-FFF2-40B4-BE49-F238E27FC236}">
                <a16:creationId xmlns:a16="http://schemas.microsoft.com/office/drawing/2014/main" id="{ED33608E-3419-3ACC-3963-BD826B9B01AE}"/>
              </a:ext>
            </a:extLst>
          </p:cNvPr>
          <p:cNvSpPr txBox="1"/>
          <p:nvPr/>
        </p:nvSpPr>
        <p:spPr>
          <a:xfrm>
            <a:off x="-6968261" y="965099"/>
            <a:ext cx="7542168" cy="4124206"/>
          </a:xfrm>
          <a:prstGeom prst="rect">
            <a:avLst/>
          </a:prstGeom>
          <a:noFill/>
        </p:spPr>
        <p:txBody>
          <a:bodyPr wrap="square" rtlCol="0">
            <a:spAutoFit/>
          </a:bodyPr>
          <a:lstStyle/>
          <a:p>
            <a:pPr lvl="1"/>
            <a:r>
              <a:rPr lang="en-US" sz="2800" b="1" dirty="0"/>
              <a:t>Why?</a:t>
            </a:r>
          </a:p>
          <a:p>
            <a:endParaRPr lang="en-US" dirty="0"/>
          </a:p>
          <a:p>
            <a:pPr lvl="1"/>
            <a:r>
              <a:rPr lang="en-US" sz="2400" dirty="0"/>
              <a:t>Null values and duplicate records can lead to incorrect calculations, inflated totals, and misleading KPIs. Checking for them ensures the dataset is complete, consistent, and trustworthy before analysis. By verifying that no missing or repeated entries exist across the tables, we guarantee that every metric such as downtime, duration, and batch counts, reflects the true operational performance without distortions.</a:t>
            </a:r>
            <a:endParaRPr lang="en-US" sz="2000" dirty="0"/>
          </a:p>
        </p:txBody>
      </p:sp>
      <p:grpSp>
        <p:nvGrpSpPr>
          <p:cNvPr id="3" name="Group 2">
            <a:extLst>
              <a:ext uri="{FF2B5EF4-FFF2-40B4-BE49-F238E27FC236}">
                <a16:creationId xmlns:a16="http://schemas.microsoft.com/office/drawing/2014/main" id="{79FC2891-83FD-BCE1-540D-93B3BF7373E2}"/>
              </a:ext>
            </a:extLst>
          </p:cNvPr>
          <p:cNvGrpSpPr/>
          <p:nvPr/>
        </p:nvGrpSpPr>
        <p:grpSpPr>
          <a:xfrm rot="18900000">
            <a:off x="10057706" y="1064596"/>
            <a:ext cx="10118160" cy="10118160"/>
            <a:chOff x="2176270" y="1528942"/>
            <a:chExt cx="3657600" cy="3657601"/>
          </a:xfrm>
        </p:grpSpPr>
        <p:sp>
          <p:nvSpPr>
            <p:cNvPr id="4" name="Freeform: Shape 3">
              <a:extLst>
                <a:ext uri="{FF2B5EF4-FFF2-40B4-BE49-F238E27FC236}">
                  <a16:creationId xmlns:a16="http://schemas.microsoft.com/office/drawing/2014/main" id="{2FB952D3-99AC-C6DF-B9C5-20DE924BE0AD}"/>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Oval 4">
              <a:extLst>
                <a:ext uri="{FF2B5EF4-FFF2-40B4-BE49-F238E27FC236}">
                  <a16:creationId xmlns:a16="http://schemas.microsoft.com/office/drawing/2014/main" id="{97C16F85-5D57-0E54-4880-E245A0B44B39}"/>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323891A-6ACB-FC37-F266-B89CB79DB002}"/>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D16ECE0-1427-6C19-55F5-08CBE00E2865}"/>
              </a:ext>
            </a:extLst>
          </p:cNvPr>
          <p:cNvSpPr txBox="1"/>
          <p:nvPr/>
        </p:nvSpPr>
        <p:spPr>
          <a:xfrm>
            <a:off x="13082040" y="1644763"/>
            <a:ext cx="3505793" cy="400110"/>
          </a:xfrm>
          <a:prstGeom prst="rect">
            <a:avLst/>
          </a:prstGeom>
          <a:noFill/>
        </p:spPr>
        <p:txBody>
          <a:bodyPr wrap="square" rtlCol="0">
            <a:spAutoFit/>
          </a:bodyPr>
          <a:lstStyle/>
          <a:p>
            <a:pPr algn="ctr"/>
            <a:r>
              <a:rPr lang="en-US" sz="2000" b="1" dirty="0"/>
              <a:t>Handling Missing Values</a:t>
            </a:r>
          </a:p>
        </p:txBody>
      </p:sp>
      <p:sp>
        <p:nvSpPr>
          <p:cNvPr id="9" name="TextBox 8">
            <a:extLst>
              <a:ext uri="{FF2B5EF4-FFF2-40B4-BE49-F238E27FC236}">
                <a16:creationId xmlns:a16="http://schemas.microsoft.com/office/drawing/2014/main" id="{EA57373B-2E5C-EBE4-DBBB-891810AB7396}"/>
              </a:ext>
            </a:extLst>
          </p:cNvPr>
          <p:cNvSpPr txBox="1"/>
          <p:nvPr/>
        </p:nvSpPr>
        <p:spPr>
          <a:xfrm>
            <a:off x="13287367" y="2126086"/>
            <a:ext cx="3639312" cy="1477328"/>
          </a:xfrm>
          <a:prstGeom prst="rect">
            <a:avLst/>
          </a:prstGeom>
          <a:noFill/>
        </p:spPr>
        <p:txBody>
          <a:bodyPr wrap="square" rtlCol="0">
            <a:spAutoFit/>
          </a:bodyPr>
          <a:lstStyle/>
          <a:p>
            <a:pPr algn="ctr"/>
            <a:r>
              <a:rPr lang="en-US" dirty="0"/>
              <a:t>Missing values can create gaps in analysis and lead to unreliable insights. Identifying and addressing them ensures the dataset remains complete, and accurate.</a:t>
            </a:r>
          </a:p>
        </p:txBody>
      </p:sp>
      <p:sp>
        <p:nvSpPr>
          <p:cNvPr id="11" name="TextBox 10">
            <a:extLst>
              <a:ext uri="{FF2B5EF4-FFF2-40B4-BE49-F238E27FC236}">
                <a16:creationId xmlns:a16="http://schemas.microsoft.com/office/drawing/2014/main" id="{F0A020F3-9463-5D81-A91E-80F768D00C11}"/>
              </a:ext>
            </a:extLst>
          </p:cNvPr>
          <p:cNvSpPr txBox="1"/>
          <p:nvPr/>
        </p:nvSpPr>
        <p:spPr>
          <a:xfrm>
            <a:off x="14040463" y="780696"/>
            <a:ext cx="2152637" cy="769441"/>
          </a:xfrm>
          <a:prstGeom prst="rect">
            <a:avLst/>
          </a:prstGeom>
          <a:noFill/>
        </p:spPr>
        <p:txBody>
          <a:bodyPr wrap="square" rtlCol="0">
            <a:spAutoFit/>
          </a:bodyPr>
          <a:lstStyle/>
          <a:p>
            <a:pPr algn="ctr"/>
            <a:r>
              <a:rPr lang="en-US" sz="4400" b="1" dirty="0">
                <a:latin typeface="+mj-lt"/>
              </a:rPr>
              <a:t>STEP 02</a:t>
            </a:r>
          </a:p>
        </p:txBody>
      </p:sp>
      <p:pic>
        <p:nvPicPr>
          <p:cNvPr id="13" name="Graphic 12" descr="Question Mark with solid fill">
            <a:extLst>
              <a:ext uri="{FF2B5EF4-FFF2-40B4-BE49-F238E27FC236}">
                <a16:creationId xmlns:a16="http://schemas.microsoft.com/office/drawing/2014/main" id="{7A58E74F-CF35-6533-C3B9-89F1BFB925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173243" y="1566441"/>
            <a:ext cx="556753" cy="556753"/>
          </a:xfrm>
          <a:prstGeom prst="rect">
            <a:avLst/>
          </a:prstGeom>
        </p:spPr>
      </p:pic>
      <p:pic>
        <p:nvPicPr>
          <p:cNvPr id="15" name="Picture 14">
            <a:extLst>
              <a:ext uri="{FF2B5EF4-FFF2-40B4-BE49-F238E27FC236}">
                <a16:creationId xmlns:a16="http://schemas.microsoft.com/office/drawing/2014/main" id="{98D2D6B5-88C9-26A3-EE78-6C8D59740F25}"/>
              </a:ext>
            </a:extLst>
          </p:cNvPr>
          <p:cNvPicPr>
            <a:picLocks noChangeAspect="1"/>
          </p:cNvPicPr>
          <p:nvPr/>
        </p:nvPicPr>
        <p:blipFill>
          <a:blip r:embed="rId7"/>
          <a:srcRect b="66491"/>
          <a:stretch>
            <a:fillRect/>
          </a:stretch>
        </p:blipFill>
        <p:spPr>
          <a:xfrm>
            <a:off x="7518400" y="140226"/>
            <a:ext cx="3276600" cy="909638"/>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7" name="Picture 16">
            <a:extLst>
              <a:ext uri="{FF2B5EF4-FFF2-40B4-BE49-F238E27FC236}">
                <a16:creationId xmlns:a16="http://schemas.microsoft.com/office/drawing/2014/main" id="{70168020-2A6E-FE42-0BC1-4ACD8430E5D8}"/>
              </a:ext>
            </a:extLst>
          </p:cNvPr>
          <p:cNvPicPr>
            <a:picLocks noChangeAspect="1"/>
          </p:cNvPicPr>
          <p:nvPr/>
        </p:nvPicPr>
        <p:blipFill>
          <a:blip r:embed="rId8"/>
          <a:srcRect b="66491"/>
          <a:stretch>
            <a:fillRect/>
          </a:stretch>
        </p:blipFill>
        <p:spPr>
          <a:xfrm>
            <a:off x="7518400" y="1804380"/>
            <a:ext cx="3276600" cy="90963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8" name="Picture 27">
            <a:extLst>
              <a:ext uri="{FF2B5EF4-FFF2-40B4-BE49-F238E27FC236}">
                <a16:creationId xmlns:a16="http://schemas.microsoft.com/office/drawing/2014/main" id="{FE3E5209-5ECD-5549-2BCC-51FF8071214E}"/>
              </a:ext>
            </a:extLst>
          </p:cNvPr>
          <p:cNvPicPr>
            <a:picLocks noChangeAspect="1"/>
          </p:cNvPicPr>
          <p:nvPr/>
        </p:nvPicPr>
        <p:blipFill>
          <a:blip r:embed="rId9"/>
          <a:srcRect t="41081"/>
          <a:stretch>
            <a:fillRect/>
          </a:stretch>
        </p:blipFill>
        <p:spPr>
          <a:xfrm>
            <a:off x="457600" y="100690"/>
            <a:ext cx="6238875" cy="141984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F7130749-F970-50AE-7F88-79B0DFB6001A}"/>
              </a:ext>
            </a:extLst>
          </p:cNvPr>
          <p:cNvPicPr>
            <a:picLocks noChangeAspect="1"/>
          </p:cNvPicPr>
          <p:nvPr/>
        </p:nvPicPr>
        <p:blipFill>
          <a:blip r:embed="rId10"/>
          <a:srcRect l="474" b="30725"/>
          <a:stretch>
            <a:fillRect/>
          </a:stretch>
        </p:blipFill>
        <p:spPr>
          <a:xfrm>
            <a:off x="457601" y="1723075"/>
            <a:ext cx="6238875" cy="16694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F8A7990A-9362-6E91-0929-A7C463CD97A7}"/>
              </a:ext>
            </a:extLst>
          </p:cNvPr>
          <p:cNvPicPr>
            <a:picLocks noChangeAspect="1"/>
          </p:cNvPicPr>
          <p:nvPr/>
        </p:nvPicPr>
        <p:blipFill>
          <a:blip r:embed="rId11"/>
          <a:srcRect r="43910"/>
          <a:stretch>
            <a:fillRect/>
          </a:stretch>
        </p:blipFill>
        <p:spPr>
          <a:xfrm>
            <a:off x="457600" y="4173994"/>
            <a:ext cx="5786099" cy="8667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44B5D1AD-AAE3-CD69-BBFF-44EB21CC0820}"/>
              </a:ext>
            </a:extLst>
          </p:cNvPr>
          <p:cNvPicPr>
            <a:picLocks noChangeAspect="1"/>
          </p:cNvPicPr>
          <p:nvPr/>
        </p:nvPicPr>
        <p:blipFill>
          <a:blip r:embed="rId12"/>
          <a:srcRect r="3270" b="10934"/>
          <a:stretch>
            <a:fillRect/>
          </a:stretch>
        </p:blipFill>
        <p:spPr>
          <a:xfrm>
            <a:off x="457600" y="3642020"/>
            <a:ext cx="5786099" cy="305406"/>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8" name="Picture 37">
            <a:extLst>
              <a:ext uri="{FF2B5EF4-FFF2-40B4-BE49-F238E27FC236}">
                <a16:creationId xmlns:a16="http://schemas.microsoft.com/office/drawing/2014/main" id="{CDF8D5DD-5164-4887-7F13-56089BC70CC2}"/>
              </a:ext>
            </a:extLst>
          </p:cNvPr>
          <p:cNvPicPr>
            <a:picLocks noChangeAspect="1"/>
          </p:cNvPicPr>
          <p:nvPr/>
        </p:nvPicPr>
        <p:blipFill>
          <a:blip r:embed="rId13"/>
          <a:srcRect r="35307"/>
          <a:stretch>
            <a:fillRect/>
          </a:stretch>
        </p:blipFill>
        <p:spPr>
          <a:xfrm>
            <a:off x="457600" y="5202338"/>
            <a:ext cx="5786100" cy="1381125"/>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44" name="Straight Arrow Connector 43">
            <a:extLst>
              <a:ext uri="{FF2B5EF4-FFF2-40B4-BE49-F238E27FC236}">
                <a16:creationId xmlns:a16="http://schemas.microsoft.com/office/drawing/2014/main" id="{2ABAA21B-D6CD-D2CA-1940-C3943F2FB378}"/>
              </a:ext>
            </a:extLst>
          </p:cNvPr>
          <p:cNvCxnSpPr>
            <a:stCxn id="15" idx="2"/>
            <a:endCxn id="17" idx="0"/>
          </p:cNvCxnSpPr>
          <p:nvPr/>
        </p:nvCxnSpPr>
        <p:spPr>
          <a:xfrm>
            <a:off x="9156700" y="1049864"/>
            <a:ext cx="0" cy="754516"/>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47" name="Picture 46" descr="A screenshot of a computer&#10;&#10;AI-generated content may be incorrect.">
            <a:hlinkClick r:id="rId14" action="ppaction://hlinksldjump"/>
            <a:extLst>
              <a:ext uri="{FF2B5EF4-FFF2-40B4-BE49-F238E27FC236}">
                <a16:creationId xmlns:a16="http://schemas.microsoft.com/office/drawing/2014/main" id="{0951D0F3-56E0-3927-3ED5-4DA250BF5C13}"/>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898974" y="5202338"/>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8" name="Picture 47" descr="A logo with orange and black text&#10;&#10;AI-generated content may be incorrect.">
            <a:hlinkClick r:id="rId16" action="ppaction://hlinksldjump"/>
            <a:extLst>
              <a:ext uri="{FF2B5EF4-FFF2-40B4-BE49-F238E27FC236}">
                <a16:creationId xmlns:a16="http://schemas.microsoft.com/office/drawing/2014/main" id="{A91FDEFD-7EBC-8FB5-B0C6-E09DC947865A}"/>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711133" y="5202338"/>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9" name="Picture 48" descr="A green square with white x on it&#10;&#10;AI-generated content may be incorrect.">
            <a:hlinkClick r:id="rId18" action="ppaction://hlinksldjump"/>
            <a:extLst>
              <a:ext uri="{FF2B5EF4-FFF2-40B4-BE49-F238E27FC236}">
                <a16:creationId xmlns:a16="http://schemas.microsoft.com/office/drawing/2014/main" id="{BEF71420-E268-4570-AF15-F10711C31AC5}"/>
              </a:ext>
            </a:extLst>
          </p:cNvPr>
          <p:cNvPicPr>
            <a:picLocks noChangeAspect="1"/>
          </p:cNvPicPr>
          <p:nvPr/>
        </p:nvPicPr>
        <p:blipFill>
          <a:blip r:embed="rId19">
            <a:extLst>
              <a:ext uri="{28A0092B-C50C-407E-A947-70E740481C1C}">
                <a14:useLocalDpi xmlns:a14="http://schemas.microsoft.com/office/drawing/2010/main" val="0"/>
              </a:ext>
            </a:extLst>
          </a:blip>
          <a:srcRect l="32131" t="19127" r="30979" b="18817"/>
          <a:stretch>
            <a:fillRect/>
          </a:stretch>
        </p:blipFill>
        <p:spPr>
          <a:xfrm>
            <a:off x="7086814" y="5203959"/>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219302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4421C0-2117-6BF6-E588-9CF4668AE28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4DB65D-089C-6B6F-A356-F4A80ECC7FAC}"/>
              </a:ext>
            </a:extLst>
          </p:cNvPr>
          <p:cNvPicPr>
            <a:picLocks noChangeAspect="1"/>
          </p:cNvPicPr>
          <p:nvPr/>
        </p:nvPicPr>
        <p:blipFill>
          <a:blip r:embed="rId2">
            <a:alphaModFix amt="40000"/>
          </a:blip>
          <a:stretch>
            <a:fillRect/>
          </a:stretch>
        </p:blipFill>
        <p:spPr>
          <a:xfrm>
            <a:off x="0" y="0"/>
            <a:ext cx="12192000" cy="6858000"/>
          </a:xfrm>
          <a:prstGeom prst="rect">
            <a:avLst/>
          </a:prstGeom>
        </p:spPr>
      </p:pic>
      <p:pic>
        <p:nvPicPr>
          <p:cNvPr id="15" name="Picture 14">
            <a:extLst>
              <a:ext uri="{FF2B5EF4-FFF2-40B4-BE49-F238E27FC236}">
                <a16:creationId xmlns:a16="http://schemas.microsoft.com/office/drawing/2014/main" id="{19F8E695-545D-E36D-4959-981996E005CB}"/>
              </a:ext>
            </a:extLst>
          </p:cNvPr>
          <p:cNvPicPr>
            <a:picLocks noChangeAspect="1"/>
          </p:cNvPicPr>
          <p:nvPr/>
        </p:nvPicPr>
        <p:blipFill>
          <a:blip r:embed="rId3"/>
          <a:srcRect b="66491"/>
          <a:stretch>
            <a:fillRect/>
          </a:stretch>
        </p:blipFill>
        <p:spPr>
          <a:xfrm>
            <a:off x="7518400" y="140226"/>
            <a:ext cx="3276600" cy="909638"/>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7" name="Picture 16">
            <a:extLst>
              <a:ext uri="{FF2B5EF4-FFF2-40B4-BE49-F238E27FC236}">
                <a16:creationId xmlns:a16="http://schemas.microsoft.com/office/drawing/2014/main" id="{C5A23179-D852-1BFE-B9B2-C1F67546999E}"/>
              </a:ext>
            </a:extLst>
          </p:cNvPr>
          <p:cNvPicPr>
            <a:picLocks noChangeAspect="1"/>
          </p:cNvPicPr>
          <p:nvPr/>
        </p:nvPicPr>
        <p:blipFill>
          <a:blip r:embed="rId4"/>
          <a:srcRect b="66491"/>
          <a:stretch>
            <a:fillRect/>
          </a:stretch>
        </p:blipFill>
        <p:spPr>
          <a:xfrm>
            <a:off x="7518400" y="1804380"/>
            <a:ext cx="3276600" cy="90963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8" name="Picture 27">
            <a:extLst>
              <a:ext uri="{FF2B5EF4-FFF2-40B4-BE49-F238E27FC236}">
                <a16:creationId xmlns:a16="http://schemas.microsoft.com/office/drawing/2014/main" id="{9188244D-581A-867F-D634-71198144DE9F}"/>
              </a:ext>
            </a:extLst>
          </p:cNvPr>
          <p:cNvPicPr>
            <a:picLocks noChangeAspect="1"/>
          </p:cNvPicPr>
          <p:nvPr/>
        </p:nvPicPr>
        <p:blipFill>
          <a:blip r:embed="rId5"/>
          <a:srcRect t="41081"/>
          <a:stretch>
            <a:fillRect/>
          </a:stretch>
        </p:blipFill>
        <p:spPr>
          <a:xfrm>
            <a:off x="457600" y="100690"/>
            <a:ext cx="6238875" cy="141984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60621D59-AB59-B4A8-B6FB-B06C09078D75}"/>
              </a:ext>
            </a:extLst>
          </p:cNvPr>
          <p:cNvPicPr>
            <a:picLocks noChangeAspect="1"/>
          </p:cNvPicPr>
          <p:nvPr/>
        </p:nvPicPr>
        <p:blipFill>
          <a:blip r:embed="rId6"/>
          <a:srcRect l="474" b="30725"/>
          <a:stretch>
            <a:fillRect/>
          </a:stretch>
        </p:blipFill>
        <p:spPr>
          <a:xfrm>
            <a:off x="457601" y="1723075"/>
            <a:ext cx="6238875" cy="16694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BEC6B54B-5B5B-0D6F-C345-200C1B7381B3}"/>
              </a:ext>
            </a:extLst>
          </p:cNvPr>
          <p:cNvPicPr>
            <a:picLocks noChangeAspect="1"/>
          </p:cNvPicPr>
          <p:nvPr/>
        </p:nvPicPr>
        <p:blipFill>
          <a:blip r:embed="rId7"/>
          <a:srcRect r="43910"/>
          <a:stretch>
            <a:fillRect/>
          </a:stretch>
        </p:blipFill>
        <p:spPr>
          <a:xfrm>
            <a:off x="457600" y="4173994"/>
            <a:ext cx="5786099" cy="8667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40D8F809-398A-12AE-5968-5E12AF44156D}"/>
              </a:ext>
            </a:extLst>
          </p:cNvPr>
          <p:cNvPicPr>
            <a:picLocks noChangeAspect="1"/>
          </p:cNvPicPr>
          <p:nvPr/>
        </p:nvPicPr>
        <p:blipFill>
          <a:blip r:embed="rId8"/>
          <a:srcRect r="3270" b="10934"/>
          <a:stretch>
            <a:fillRect/>
          </a:stretch>
        </p:blipFill>
        <p:spPr>
          <a:xfrm>
            <a:off x="457600" y="3642020"/>
            <a:ext cx="5786099" cy="305406"/>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8" name="Picture 37">
            <a:extLst>
              <a:ext uri="{FF2B5EF4-FFF2-40B4-BE49-F238E27FC236}">
                <a16:creationId xmlns:a16="http://schemas.microsoft.com/office/drawing/2014/main" id="{A3115F65-F8B5-251E-07BD-62E40CB44E1D}"/>
              </a:ext>
            </a:extLst>
          </p:cNvPr>
          <p:cNvPicPr>
            <a:picLocks noChangeAspect="1"/>
          </p:cNvPicPr>
          <p:nvPr/>
        </p:nvPicPr>
        <p:blipFill>
          <a:blip r:embed="rId9"/>
          <a:srcRect r="35307"/>
          <a:stretch>
            <a:fillRect/>
          </a:stretch>
        </p:blipFill>
        <p:spPr>
          <a:xfrm>
            <a:off x="457600" y="5202338"/>
            <a:ext cx="5786100" cy="1381125"/>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44" name="Straight Arrow Connector 43">
            <a:extLst>
              <a:ext uri="{FF2B5EF4-FFF2-40B4-BE49-F238E27FC236}">
                <a16:creationId xmlns:a16="http://schemas.microsoft.com/office/drawing/2014/main" id="{F60DDA1A-140D-9DD8-493F-2C7DFFE6B251}"/>
              </a:ext>
            </a:extLst>
          </p:cNvPr>
          <p:cNvCxnSpPr>
            <a:stCxn id="15" idx="2"/>
            <a:endCxn id="17" idx="0"/>
          </p:cNvCxnSpPr>
          <p:nvPr/>
        </p:nvCxnSpPr>
        <p:spPr>
          <a:xfrm>
            <a:off x="9156700" y="1049864"/>
            <a:ext cx="0" cy="754516"/>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6790A72B-5458-E636-4AD1-0EF6F912DBAC}"/>
              </a:ext>
            </a:extLst>
          </p:cNvPr>
          <p:cNvSpPr txBox="1"/>
          <p:nvPr/>
        </p:nvSpPr>
        <p:spPr>
          <a:xfrm>
            <a:off x="7340979" y="3027202"/>
            <a:ext cx="3746121" cy="400110"/>
          </a:xfrm>
          <a:prstGeom prst="rect">
            <a:avLst/>
          </a:prstGeom>
          <a:noFill/>
        </p:spPr>
        <p:txBody>
          <a:bodyPr wrap="square" rtlCol="0">
            <a:spAutoFit/>
          </a:bodyPr>
          <a:lstStyle/>
          <a:p>
            <a:r>
              <a:rPr lang="en-US" sz="2000" b="1" dirty="0"/>
              <a:t>USING POWER QUERY (EXCEL)</a:t>
            </a:r>
          </a:p>
        </p:txBody>
      </p:sp>
      <p:pic>
        <p:nvPicPr>
          <p:cNvPr id="47" name="Picture 46" descr="A screenshot of a computer&#10;&#10;AI-generated content may be incorrect.">
            <a:hlinkClick r:id="rId10" action="ppaction://hlinksldjump"/>
            <a:extLst>
              <a:ext uri="{FF2B5EF4-FFF2-40B4-BE49-F238E27FC236}">
                <a16:creationId xmlns:a16="http://schemas.microsoft.com/office/drawing/2014/main" id="{434FAFE4-768F-1889-FA95-C4CA1126895C}"/>
              </a:ext>
            </a:extLst>
          </p:cNvPr>
          <p:cNvPicPr>
            <a:picLocks noChangeAspect="1"/>
          </p:cNvPicPr>
          <p:nvPr/>
        </p:nvPicPr>
        <p:blipFill>
          <a:blip r:embed="rId11">
            <a:extLst>
              <a:ext uri="{28A0092B-C50C-407E-A947-70E740481C1C}">
                <a14:useLocalDpi xmlns:a14="http://schemas.microsoft.com/office/drawing/2010/main" val="0"/>
              </a:ext>
            </a:extLst>
          </a:blip>
          <a:srcRect l="40410" t="34307" r="42884" b="33606"/>
          <a:stretch>
            <a:fillRect/>
          </a:stretch>
        </p:blipFill>
        <p:spPr>
          <a:xfrm>
            <a:off x="8898974" y="5202338"/>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8" name="Picture 47" descr="A logo with orange and black text&#10;&#10;AI-generated content may be incorrect.">
            <a:hlinkClick r:id="rId12" action="ppaction://hlinksldjump"/>
            <a:extLst>
              <a:ext uri="{FF2B5EF4-FFF2-40B4-BE49-F238E27FC236}">
                <a16:creationId xmlns:a16="http://schemas.microsoft.com/office/drawing/2014/main" id="{D04A1688-6E42-0F1F-D6F7-533674141DD6}"/>
              </a:ext>
            </a:extLst>
          </p:cNvPr>
          <p:cNvPicPr>
            <a:picLocks noChangeAspect="1"/>
          </p:cNvPicPr>
          <p:nvPr/>
        </p:nvPicPr>
        <p:blipFill>
          <a:blip r:embed="rId13">
            <a:extLst>
              <a:ext uri="{28A0092B-C50C-407E-A947-70E740481C1C}">
                <a14:useLocalDpi xmlns:a14="http://schemas.microsoft.com/office/drawing/2010/main" val="0"/>
              </a:ext>
            </a:extLst>
          </a:blip>
          <a:srcRect l="34318" t="28806" r="36227" b="24754"/>
          <a:stretch>
            <a:fillRect/>
          </a:stretch>
        </p:blipFill>
        <p:spPr>
          <a:xfrm>
            <a:off x="10711133" y="5202338"/>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9" name="Picture 48" descr="A green square with white x on it&#10;&#10;AI-generated content may be incorrect.">
            <a:hlinkClick r:id="rId10" action="ppaction://hlinksldjump"/>
            <a:extLst>
              <a:ext uri="{FF2B5EF4-FFF2-40B4-BE49-F238E27FC236}">
                <a16:creationId xmlns:a16="http://schemas.microsoft.com/office/drawing/2014/main" id="{6B3520AF-EB20-C909-B523-1777B929391C}"/>
              </a:ext>
            </a:extLst>
          </p:cNvPr>
          <p:cNvPicPr>
            <a:picLocks noChangeAspect="1"/>
          </p:cNvPicPr>
          <p:nvPr/>
        </p:nvPicPr>
        <p:blipFill>
          <a:blip r:embed="rId14">
            <a:extLst>
              <a:ext uri="{28A0092B-C50C-407E-A947-70E740481C1C}">
                <a14:useLocalDpi xmlns:a14="http://schemas.microsoft.com/office/drawing/2010/main" val="0"/>
              </a:ext>
            </a:extLst>
          </a:blip>
          <a:srcRect l="32131" t="19127" r="30979" b="18817"/>
          <a:stretch>
            <a:fillRect/>
          </a:stretch>
        </p:blipFill>
        <p:spPr>
          <a:xfrm>
            <a:off x="7086814" y="5203959"/>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0" name="Rectangle 49">
            <a:extLst>
              <a:ext uri="{FF2B5EF4-FFF2-40B4-BE49-F238E27FC236}">
                <a16:creationId xmlns:a16="http://schemas.microsoft.com/office/drawing/2014/main" id="{61C1AA32-A7CF-3836-2C6F-A04E37DC4F39}"/>
              </a:ext>
            </a:extLst>
          </p:cNvPr>
          <p:cNvSpPr/>
          <p:nvPr/>
        </p:nvSpPr>
        <p:spPr>
          <a:xfrm>
            <a:off x="457600" y="100690"/>
            <a:ext cx="6238875" cy="329179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2A87402-9727-E91B-040D-50418F942282}"/>
              </a:ext>
            </a:extLst>
          </p:cNvPr>
          <p:cNvSpPr/>
          <p:nvPr/>
        </p:nvSpPr>
        <p:spPr>
          <a:xfrm>
            <a:off x="457601" y="3645942"/>
            <a:ext cx="5816298" cy="2937522"/>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F3F247C-0E3C-83B6-7FDA-2275F86616FE}"/>
              </a:ext>
            </a:extLst>
          </p:cNvPr>
          <p:cNvSpPr/>
          <p:nvPr/>
        </p:nvSpPr>
        <p:spPr>
          <a:xfrm>
            <a:off x="8892676"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8214D0A-DFA1-426D-02AB-C892FF2A5D39}"/>
              </a:ext>
            </a:extLst>
          </p:cNvPr>
          <p:cNvSpPr/>
          <p:nvPr/>
        </p:nvSpPr>
        <p:spPr>
          <a:xfrm>
            <a:off x="10698674"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hlinkClick r:id="rId15" action="ppaction://hlinksldjump"/>
            <a:extLst>
              <a:ext uri="{FF2B5EF4-FFF2-40B4-BE49-F238E27FC236}">
                <a16:creationId xmlns:a16="http://schemas.microsoft.com/office/drawing/2014/main" id="{A7C702C9-1F2C-34F3-5ECB-16627A4A5B1A}"/>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993547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B0C249-49A2-BFF7-613D-ABF91A40A5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2D2596-5A4E-CCFE-7197-6B45459708C7}"/>
              </a:ext>
            </a:extLst>
          </p:cNvPr>
          <p:cNvPicPr>
            <a:picLocks noChangeAspect="1"/>
          </p:cNvPicPr>
          <p:nvPr/>
        </p:nvPicPr>
        <p:blipFill>
          <a:blip r:embed="rId2">
            <a:alphaModFix amt="40000"/>
          </a:blip>
          <a:stretch>
            <a:fillRect/>
          </a:stretch>
        </p:blipFill>
        <p:spPr>
          <a:xfrm>
            <a:off x="0" y="0"/>
            <a:ext cx="12192000" cy="6858000"/>
          </a:xfrm>
          <a:prstGeom prst="rect">
            <a:avLst/>
          </a:prstGeom>
        </p:spPr>
      </p:pic>
      <p:pic>
        <p:nvPicPr>
          <p:cNvPr id="15" name="Picture 14">
            <a:extLst>
              <a:ext uri="{FF2B5EF4-FFF2-40B4-BE49-F238E27FC236}">
                <a16:creationId xmlns:a16="http://schemas.microsoft.com/office/drawing/2014/main" id="{CF695CE1-C9AB-530C-2E6F-CBAC606AFD0D}"/>
              </a:ext>
            </a:extLst>
          </p:cNvPr>
          <p:cNvPicPr>
            <a:picLocks noChangeAspect="1"/>
          </p:cNvPicPr>
          <p:nvPr/>
        </p:nvPicPr>
        <p:blipFill>
          <a:blip r:embed="rId3"/>
          <a:srcRect b="66491"/>
          <a:stretch>
            <a:fillRect/>
          </a:stretch>
        </p:blipFill>
        <p:spPr>
          <a:xfrm>
            <a:off x="7518400" y="140226"/>
            <a:ext cx="3276600" cy="909638"/>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7" name="Picture 16">
            <a:extLst>
              <a:ext uri="{FF2B5EF4-FFF2-40B4-BE49-F238E27FC236}">
                <a16:creationId xmlns:a16="http://schemas.microsoft.com/office/drawing/2014/main" id="{45DB8298-D6AE-E2DC-0F42-12E9F9B5B327}"/>
              </a:ext>
            </a:extLst>
          </p:cNvPr>
          <p:cNvPicPr>
            <a:picLocks noChangeAspect="1"/>
          </p:cNvPicPr>
          <p:nvPr/>
        </p:nvPicPr>
        <p:blipFill>
          <a:blip r:embed="rId4"/>
          <a:srcRect b="66491"/>
          <a:stretch>
            <a:fillRect/>
          </a:stretch>
        </p:blipFill>
        <p:spPr>
          <a:xfrm>
            <a:off x="7518400" y="1804380"/>
            <a:ext cx="3276600" cy="90963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8" name="Picture 27">
            <a:extLst>
              <a:ext uri="{FF2B5EF4-FFF2-40B4-BE49-F238E27FC236}">
                <a16:creationId xmlns:a16="http://schemas.microsoft.com/office/drawing/2014/main" id="{7495DBAF-F573-9151-D067-DDAE9E78C404}"/>
              </a:ext>
            </a:extLst>
          </p:cNvPr>
          <p:cNvPicPr>
            <a:picLocks noChangeAspect="1"/>
          </p:cNvPicPr>
          <p:nvPr/>
        </p:nvPicPr>
        <p:blipFill>
          <a:blip r:embed="rId5"/>
          <a:srcRect t="41081"/>
          <a:stretch>
            <a:fillRect/>
          </a:stretch>
        </p:blipFill>
        <p:spPr>
          <a:xfrm>
            <a:off x="457600" y="100690"/>
            <a:ext cx="6238875" cy="141984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22F5E201-2B56-5F06-DB2D-12C2321C7734}"/>
              </a:ext>
            </a:extLst>
          </p:cNvPr>
          <p:cNvPicPr>
            <a:picLocks noChangeAspect="1"/>
          </p:cNvPicPr>
          <p:nvPr/>
        </p:nvPicPr>
        <p:blipFill>
          <a:blip r:embed="rId6"/>
          <a:srcRect l="474" b="30725"/>
          <a:stretch>
            <a:fillRect/>
          </a:stretch>
        </p:blipFill>
        <p:spPr>
          <a:xfrm>
            <a:off x="457601" y="1723075"/>
            <a:ext cx="6238875" cy="16694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081396A8-57AC-FC38-6ACA-6462C675D67B}"/>
              </a:ext>
            </a:extLst>
          </p:cNvPr>
          <p:cNvPicPr>
            <a:picLocks noChangeAspect="1"/>
          </p:cNvPicPr>
          <p:nvPr/>
        </p:nvPicPr>
        <p:blipFill>
          <a:blip r:embed="rId7"/>
          <a:srcRect r="43910"/>
          <a:stretch>
            <a:fillRect/>
          </a:stretch>
        </p:blipFill>
        <p:spPr>
          <a:xfrm>
            <a:off x="457600" y="4173994"/>
            <a:ext cx="5786099" cy="8667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90555242-69DE-622A-9DEC-9F1D812D6A57}"/>
              </a:ext>
            </a:extLst>
          </p:cNvPr>
          <p:cNvPicPr>
            <a:picLocks noChangeAspect="1"/>
          </p:cNvPicPr>
          <p:nvPr/>
        </p:nvPicPr>
        <p:blipFill>
          <a:blip r:embed="rId8"/>
          <a:srcRect r="3270" b="10934"/>
          <a:stretch>
            <a:fillRect/>
          </a:stretch>
        </p:blipFill>
        <p:spPr>
          <a:xfrm>
            <a:off x="457600" y="3642020"/>
            <a:ext cx="5786099" cy="305406"/>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8" name="Picture 37">
            <a:extLst>
              <a:ext uri="{FF2B5EF4-FFF2-40B4-BE49-F238E27FC236}">
                <a16:creationId xmlns:a16="http://schemas.microsoft.com/office/drawing/2014/main" id="{7F4E84B5-3A28-ECBC-F71B-2ACE4BBC4EF2}"/>
              </a:ext>
            </a:extLst>
          </p:cNvPr>
          <p:cNvPicPr>
            <a:picLocks noChangeAspect="1"/>
          </p:cNvPicPr>
          <p:nvPr/>
        </p:nvPicPr>
        <p:blipFill>
          <a:blip r:embed="rId9"/>
          <a:srcRect r="35307"/>
          <a:stretch>
            <a:fillRect/>
          </a:stretch>
        </p:blipFill>
        <p:spPr>
          <a:xfrm>
            <a:off x="457600" y="5202338"/>
            <a:ext cx="5786100" cy="1381125"/>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44" name="Straight Arrow Connector 43">
            <a:extLst>
              <a:ext uri="{FF2B5EF4-FFF2-40B4-BE49-F238E27FC236}">
                <a16:creationId xmlns:a16="http://schemas.microsoft.com/office/drawing/2014/main" id="{82C1023B-228C-33E4-89E3-05834BC85CE2}"/>
              </a:ext>
            </a:extLst>
          </p:cNvPr>
          <p:cNvCxnSpPr>
            <a:stCxn id="15" idx="2"/>
            <a:endCxn id="17" idx="0"/>
          </p:cNvCxnSpPr>
          <p:nvPr/>
        </p:nvCxnSpPr>
        <p:spPr>
          <a:xfrm>
            <a:off x="9156700" y="1049864"/>
            <a:ext cx="0" cy="754516"/>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47" name="Picture 46" descr="A screenshot of a computer&#10;&#10;AI-generated content may be incorrect.">
            <a:hlinkClick r:id="rId10" action="ppaction://hlinksldjump"/>
            <a:extLst>
              <a:ext uri="{FF2B5EF4-FFF2-40B4-BE49-F238E27FC236}">
                <a16:creationId xmlns:a16="http://schemas.microsoft.com/office/drawing/2014/main" id="{9A1C52B1-0530-0A64-6CED-FA97A7190CD1}"/>
              </a:ext>
            </a:extLst>
          </p:cNvPr>
          <p:cNvPicPr>
            <a:picLocks noChangeAspect="1"/>
          </p:cNvPicPr>
          <p:nvPr/>
        </p:nvPicPr>
        <p:blipFill>
          <a:blip r:embed="rId11">
            <a:extLst>
              <a:ext uri="{28A0092B-C50C-407E-A947-70E740481C1C}">
                <a14:useLocalDpi xmlns:a14="http://schemas.microsoft.com/office/drawing/2010/main" val="0"/>
              </a:ext>
            </a:extLst>
          </a:blip>
          <a:srcRect l="40410" t="34307" r="42884" b="33606"/>
          <a:stretch>
            <a:fillRect/>
          </a:stretch>
        </p:blipFill>
        <p:spPr>
          <a:xfrm>
            <a:off x="8898974" y="5202338"/>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8" name="Picture 47" descr="A logo with orange and black text&#10;&#10;AI-generated content may be incorrect.">
            <a:hlinkClick r:id="rId12" action="ppaction://hlinksldjump"/>
            <a:extLst>
              <a:ext uri="{FF2B5EF4-FFF2-40B4-BE49-F238E27FC236}">
                <a16:creationId xmlns:a16="http://schemas.microsoft.com/office/drawing/2014/main" id="{54C7007F-487C-C0F2-031E-DA168DCE4D34}"/>
              </a:ext>
            </a:extLst>
          </p:cNvPr>
          <p:cNvPicPr>
            <a:picLocks noChangeAspect="1"/>
          </p:cNvPicPr>
          <p:nvPr/>
        </p:nvPicPr>
        <p:blipFill>
          <a:blip r:embed="rId13">
            <a:extLst>
              <a:ext uri="{28A0092B-C50C-407E-A947-70E740481C1C}">
                <a14:useLocalDpi xmlns:a14="http://schemas.microsoft.com/office/drawing/2010/main" val="0"/>
              </a:ext>
            </a:extLst>
          </a:blip>
          <a:srcRect l="34318" t="28806" r="36227" b="24754"/>
          <a:stretch>
            <a:fillRect/>
          </a:stretch>
        </p:blipFill>
        <p:spPr>
          <a:xfrm>
            <a:off x="10711133" y="5202338"/>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9" name="Picture 48" descr="A green square with white x on it&#10;&#10;AI-generated content may be incorrect.">
            <a:hlinkClick r:id="rId14" action="ppaction://hlinksldjump"/>
            <a:extLst>
              <a:ext uri="{FF2B5EF4-FFF2-40B4-BE49-F238E27FC236}">
                <a16:creationId xmlns:a16="http://schemas.microsoft.com/office/drawing/2014/main" id="{C5175B30-8F4E-A6E6-5755-2FAF43F0C7DB}"/>
              </a:ext>
            </a:extLst>
          </p:cNvPr>
          <p:cNvPicPr>
            <a:picLocks noChangeAspect="1"/>
          </p:cNvPicPr>
          <p:nvPr/>
        </p:nvPicPr>
        <p:blipFill>
          <a:blip r:embed="rId15">
            <a:extLst>
              <a:ext uri="{28A0092B-C50C-407E-A947-70E740481C1C}">
                <a14:useLocalDpi xmlns:a14="http://schemas.microsoft.com/office/drawing/2010/main" val="0"/>
              </a:ext>
            </a:extLst>
          </a:blip>
          <a:srcRect l="32131" t="19127" r="30979" b="18817"/>
          <a:stretch>
            <a:fillRect/>
          </a:stretch>
        </p:blipFill>
        <p:spPr>
          <a:xfrm>
            <a:off x="7086814" y="5203959"/>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0" name="Rectangle 49">
            <a:extLst>
              <a:ext uri="{FF2B5EF4-FFF2-40B4-BE49-F238E27FC236}">
                <a16:creationId xmlns:a16="http://schemas.microsoft.com/office/drawing/2014/main" id="{A5089A42-CA34-4B22-0432-A010A55422F8}"/>
              </a:ext>
            </a:extLst>
          </p:cNvPr>
          <p:cNvSpPr/>
          <p:nvPr/>
        </p:nvSpPr>
        <p:spPr>
          <a:xfrm>
            <a:off x="7518400" y="100690"/>
            <a:ext cx="3391964" cy="261332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5B8E3B33-8282-3910-D7B3-CCBAF52F48A4}"/>
              </a:ext>
            </a:extLst>
          </p:cNvPr>
          <p:cNvSpPr/>
          <p:nvPr/>
        </p:nvSpPr>
        <p:spPr>
          <a:xfrm>
            <a:off x="457601" y="3645942"/>
            <a:ext cx="5816298" cy="2937522"/>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FEAEC7FD-AFC6-EDE2-089C-7A4DB85F5275}"/>
              </a:ext>
            </a:extLst>
          </p:cNvPr>
          <p:cNvSpPr/>
          <p:nvPr/>
        </p:nvSpPr>
        <p:spPr>
          <a:xfrm>
            <a:off x="7056087"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3E279CE-5444-FE69-9B28-44C3F8E4F859}"/>
              </a:ext>
            </a:extLst>
          </p:cNvPr>
          <p:cNvSpPr/>
          <p:nvPr/>
        </p:nvSpPr>
        <p:spPr>
          <a:xfrm>
            <a:off x="10698674"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hlinkClick r:id="rId16" action="ppaction://hlinksldjump"/>
            <a:extLst>
              <a:ext uri="{FF2B5EF4-FFF2-40B4-BE49-F238E27FC236}">
                <a16:creationId xmlns:a16="http://schemas.microsoft.com/office/drawing/2014/main" id="{3F29673D-939A-C646-3F0A-B2EAC9CFDD49}"/>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08754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9F325E-326A-A16B-ED03-ADC9219116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23C087-C172-B3DF-1BDE-BFDB1CBBC0A2}"/>
              </a:ext>
            </a:extLst>
          </p:cNvPr>
          <p:cNvPicPr>
            <a:picLocks noChangeAspect="1"/>
          </p:cNvPicPr>
          <p:nvPr/>
        </p:nvPicPr>
        <p:blipFill>
          <a:blip r:embed="rId2">
            <a:alphaModFix amt="40000"/>
          </a:blip>
          <a:stretch>
            <a:fillRect/>
          </a:stretch>
        </p:blipFill>
        <p:spPr>
          <a:xfrm>
            <a:off x="0" y="0"/>
            <a:ext cx="12192000" cy="6858000"/>
          </a:xfrm>
          <a:prstGeom prst="rect">
            <a:avLst/>
          </a:prstGeom>
        </p:spPr>
      </p:pic>
      <p:pic>
        <p:nvPicPr>
          <p:cNvPr id="15" name="Picture 14">
            <a:extLst>
              <a:ext uri="{FF2B5EF4-FFF2-40B4-BE49-F238E27FC236}">
                <a16:creationId xmlns:a16="http://schemas.microsoft.com/office/drawing/2014/main" id="{0613BB9D-3788-A8CE-AE08-6DA5729A31AF}"/>
              </a:ext>
            </a:extLst>
          </p:cNvPr>
          <p:cNvPicPr>
            <a:picLocks noChangeAspect="1"/>
          </p:cNvPicPr>
          <p:nvPr/>
        </p:nvPicPr>
        <p:blipFill>
          <a:blip r:embed="rId3"/>
          <a:srcRect b="66491"/>
          <a:stretch>
            <a:fillRect/>
          </a:stretch>
        </p:blipFill>
        <p:spPr>
          <a:xfrm>
            <a:off x="7518400" y="140226"/>
            <a:ext cx="3276600" cy="909638"/>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7" name="Picture 16">
            <a:extLst>
              <a:ext uri="{FF2B5EF4-FFF2-40B4-BE49-F238E27FC236}">
                <a16:creationId xmlns:a16="http://schemas.microsoft.com/office/drawing/2014/main" id="{D28A0501-D70C-CD29-1CAE-7A3FFD30AF48}"/>
              </a:ext>
            </a:extLst>
          </p:cNvPr>
          <p:cNvPicPr>
            <a:picLocks noChangeAspect="1"/>
          </p:cNvPicPr>
          <p:nvPr/>
        </p:nvPicPr>
        <p:blipFill>
          <a:blip r:embed="rId4"/>
          <a:srcRect b="66491"/>
          <a:stretch>
            <a:fillRect/>
          </a:stretch>
        </p:blipFill>
        <p:spPr>
          <a:xfrm>
            <a:off x="7518400" y="1804380"/>
            <a:ext cx="3276600" cy="90963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8" name="Picture 27">
            <a:extLst>
              <a:ext uri="{FF2B5EF4-FFF2-40B4-BE49-F238E27FC236}">
                <a16:creationId xmlns:a16="http://schemas.microsoft.com/office/drawing/2014/main" id="{BC58F847-9CD0-5BE7-5F24-6BEC035706BB}"/>
              </a:ext>
            </a:extLst>
          </p:cNvPr>
          <p:cNvPicPr>
            <a:picLocks noChangeAspect="1"/>
          </p:cNvPicPr>
          <p:nvPr/>
        </p:nvPicPr>
        <p:blipFill>
          <a:blip r:embed="rId5"/>
          <a:srcRect t="41081"/>
          <a:stretch>
            <a:fillRect/>
          </a:stretch>
        </p:blipFill>
        <p:spPr>
          <a:xfrm>
            <a:off x="457600" y="100690"/>
            <a:ext cx="6238875" cy="141984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A7553A8B-6E7B-D1F1-728C-CEEC3AA0F42B}"/>
              </a:ext>
            </a:extLst>
          </p:cNvPr>
          <p:cNvPicPr>
            <a:picLocks noChangeAspect="1"/>
          </p:cNvPicPr>
          <p:nvPr/>
        </p:nvPicPr>
        <p:blipFill>
          <a:blip r:embed="rId6"/>
          <a:srcRect l="474" b="30725"/>
          <a:stretch>
            <a:fillRect/>
          </a:stretch>
        </p:blipFill>
        <p:spPr>
          <a:xfrm>
            <a:off x="457601" y="1723075"/>
            <a:ext cx="6238875" cy="16694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353B226F-A05A-366F-F7DE-400CF23D90E9}"/>
              </a:ext>
            </a:extLst>
          </p:cNvPr>
          <p:cNvPicPr>
            <a:picLocks noChangeAspect="1"/>
          </p:cNvPicPr>
          <p:nvPr/>
        </p:nvPicPr>
        <p:blipFill>
          <a:blip r:embed="rId7"/>
          <a:srcRect r="43910"/>
          <a:stretch>
            <a:fillRect/>
          </a:stretch>
        </p:blipFill>
        <p:spPr>
          <a:xfrm>
            <a:off x="457600" y="4173994"/>
            <a:ext cx="5786099" cy="8667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3D2191F9-C2BE-AE38-093E-48484DDE96C5}"/>
              </a:ext>
            </a:extLst>
          </p:cNvPr>
          <p:cNvPicPr>
            <a:picLocks noChangeAspect="1"/>
          </p:cNvPicPr>
          <p:nvPr/>
        </p:nvPicPr>
        <p:blipFill>
          <a:blip r:embed="rId8"/>
          <a:srcRect r="3270" b="10934"/>
          <a:stretch>
            <a:fillRect/>
          </a:stretch>
        </p:blipFill>
        <p:spPr>
          <a:xfrm>
            <a:off x="457600" y="3642020"/>
            <a:ext cx="5786099" cy="305406"/>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8" name="Picture 37">
            <a:extLst>
              <a:ext uri="{FF2B5EF4-FFF2-40B4-BE49-F238E27FC236}">
                <a16:creationId xmlns:a16="http://schemas.microsoft.com/office/drawing/2014/main" id="{29EE8563-A452-E0EF-E008-0A9921DE46A4}"/>
              </a:ext>
            </a:extLst>
          </p:cNvPr>
          <p:cNvPicPr>
            <a:picLocks noChangeAspect="1"/>
          </p:cNvPicPr>
          <p:nvPr/>
        </p:nvPicPr>
        <p:blipFill>
          <a:blip r:embed="rId9"/>
          <a:srcRect r="35307"/>
          <a:stretch>
            <a:fillRect/>
          </a:stretch>
        </p:blipFill>
        <p:spPr>
          <a:xfrm>
            <a:off x="457600" y="5202338"/>
            <a:ext cx="5786100" cy="1381125"/>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44" name="Straight Arrow Connector 43">
            <a:extLst>
              <a:ext uri="{FF2B5EF4-FFF2-40B4-BE49-F238E27FC236}">
                <a16:creationId xmlns:a16="http://schemas.microsoft.com/office/drawing/2014/main" id="{36F9CC66-F451-4F58-B595-01C128D74C6A}"/>
              </a:ext>
            </a:extLst>
          </p:cNvPr>
          <p:cNvCxnSpPr>
            <a:stCxn id="15" idx="2"/>
            <a:endCxn id="17" idx="0"/>
          </p:cNvCxnSpPr>
          <p:nvPr/>
        </p:nvCxnSpPr>
        <p:spPr>
          <a:xfrm>
            <a:off x="9156700" y="1049864"/>
            <a:ext cx="0" cy="754516"/>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47" name="Picture 46" descr="A screenshot of a computer&#10;&#10;AI-generated content may be incorrect.">
            <a:hlinkClick r:id="rId10" action="ppaction://hlinksldjump"/>
            <a:extLst>
              <a:ext uri="{FF2B5EF4-FFF2-40B4-BE49-F238E27FC236}">
                <a16:creationId xmlns:a16="http://schemas.microsoft.com/office/drawing/2014/main" id="{CB81A909-C2A3-E521-4448-E2340B54435C}"/>
              </a:ext>
            </a:extLst>
          </p:cNvPr>
          <p:cNvPicPr>
            <a:picLocks noChangeAspect="1"/>
          </p:cNvPicPr>
          <p:nvPr/>
        </p:nvPicPr>
        <p:blipFill>
          <a:blip r:embed="rId11">
            <a:extLst>
              <a:ext uri="{28A0092B-C50C-407E-A947-70E740481C1C}">
                <a14:useLocalDpi xmlns:a14="http://schemas.microsoft.com/office/drawing/2010/main" val="0"/>
              </a:ext>
            </a:extLst>
          </a:blip>
          <a:srcRect l="40410" t="34307" r="42884" b="33606"/>
          <a:stretch>
            <a:fillRect/>
          </a:stretch>
        </p:blipFill>
        <p:spPr>
          <a:xfrm>
            <a:off x="8898974" y="5202338"/>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8" name="Picture 47" descr="A logo with orange and black text&#10;&#10;AI-generated content may be incorrect.">
            <a:hlinkClick r:id="rId12" action="ppaction://hlinksldjump"/>
            <a:extLst>
              <a:ext uri="{FF2B5EF4-FFF2-40B4-BE49-F238E27FC236}">
                <a16:creationId xmlns:a16="http://schemas.microsoft.com/office/drawing/2014/main" id="{FF25E552-FE59-7AF6-149F-3AF45B975FE9}"/>
              </a:ext>
            </a:extLst>
          </p:cNvPr>
          <p:cNvPicPr>
            <a:picLocks noChangeAspect="1"/>
          </p:cNvPicPr>
          <p:nvPr/>
        </p:nvPicPr>
        <p:blipFill>
          <a:blip r:embed="rId13">
            <a:extLst>
              <a:ext uri="{28A0092B-C50C-407E-A947-70E740481C1C}">
                <a14:useLocalDpi xmlns:a14="http://schemas.microsoft.com/office/drawing/2010/main" val="0"/>
              </a:ext>
            </a:extLst>
          </a:blip>
          <a:srcRect l="34318" t="28806" r="36227" b="24754"/>
          <a:stretch>
            <a:fillRect/>
          </a:stretch>
        </p:blipFill>
        <p:spPr>
          <a:xfrm>
            <a:off x="10711133" y="5202338"/>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9" name="Picture 48" descr="A green square with white x on it&#10;&#10;AI-generated content may be incorrect.">
            <a:hlinkClick r:id="rId14" action="ppaction://hlinksldjump"/>
            <a:extLst>
              <a:ext uri="{FF2B5EF4-FFF2-40B4-BE49-F238E27FC236}">
                <a16:creationId xmlns:a16="http://schemas.microsoft.com/office/drawing/2014/main" id="{9D180370-1CAE-EC09-0EC8-BE60FBB251D3}"/>
              </a:ext>
            </a:extLst>
          </p:cNvPr>
          <p:cNvPicPr>
            <a:picLocks noChangeAspect="1"/>
          </p:cNvPicPr>
          <p:nvPr/>
        </p:nvPicPr>
        <p:blipFill>
          <a:blip r:embed="rId15">
            <a:extLst>
              <a:ext uri="{28A0092B-C50C-407E-A947-70E740481C1C}">
                <a14:useLocalDpi xmlns:a14="http://schemas.microsoft.com/office/drawing/2010/main" val="0"/>
              </a:ext>
            </a:extLst>
          </a:blip>
          <a:srcRect l="32131" t="19127" r="30979" b="18817"/>
          <a:stretch>
            <a:fillRect/>
          </a:stretch>
        </p:blipFill>
        <p:spPr>
          <a:xfrm>
            <a:off x="7086814" y="5203959"/>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0" name="Rectangle 49">
            <a:extLst>
              <a:ext uri="{FF2B5EF4-FFF2-40B4-BE49-F238E27FC236}">
                <a16:creationId xmlns:a16="http://schemas.microsoft.com/office/drawing/2014/main" id="{19247BCA-4B13-5E2B-6609-B9D6432556B7}"/>
              </a:ext>
            </a:extLst>
          </p:cNvPr>
          <p:cNvSpPr/>
          <p:nvPr/>
        </p:nvSpPr>
        <p:spPr>
          <a:xfrm>
            <a:off x="457600" y="100690"/>
            <a:ext cx="6238874" cy="329179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AC25AB2A-C717-7E2D-EF6E-2BB582024049}"/>
              </a:ext>
            </a:extLst>
          </p:cNvPr>
          <p:cNvSpPr/>
          <p:nvPr/>
        </p:nvSpPr>
        <p:spPr>
          <a:xfrm>
            <a:off x="7478662" y="100690"/>
            <a:ext cx="3524238" cy="261332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E114F843-F010-9DFF-EEEC-8B945AAF7D7B}"/>
              </a:ext>
            </a:extLst>
          </p:cNvPr>
          <p:cNvSpPr/>
          <p:nvPr/>
        </p:nvSpPr>
        <p:spPr>
          <a:xfrm>
            <a:off x="7056087"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4A773BB-D6DE-1DC0-D888-9ACDF54B6A68}"/>
              </a:ext>
            </a:extLst>
          </p:cNvPr>
          <p:cNvSpPr/>
          <p:nvPr/>
        </p:nvSpPr>
        <p:spPr>
          <a:xfrm>
            <a:off x="8898973" y="5199246"/>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hlinkClick r:id="rId16" action="ppaction://hlinksldjump"/>
            <a:extLst>
              <a:ext uri="{FF2B5EF4-FFF2-40B4-BE49-F238E27FC236}">
                <a16:creationId xmlns:a16="http://schemas.microsoft.com/office/drawing/2014/main" id="{F14BFBFE-743D-084A-A995-AE1A40E58A6E}"/>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89755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31304-37C1-296B-662C-387AF4E3860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236EB6E-F5D7-C174-B548-58745B330170}"/>
              </a:ext>
            </a:extLst>
          </p:cNvPr>
          <p:cNvPicPr>
            <a:picLocks noChangeAspect="1"/>
          </p:cNvPicPr>
          <p:nvPr/>
        </p:nvPicPr>
        <p:blipFill>
          <a:blip r:embed="rId2">
            <a:alphaModFix amt="40000"/>
          </a:blip>
          <a:stretch>
            <a:fillRect/>
          </a:stretch>
        </p:blipFill>
        <p:spPr>
          <a:xfrm>
            <a:off x="-1654628" y="-465364"/>
            <a:ext cx="13846628" cy="7788728"/>
          </a:xfrm>
          <a:prstGeom prst="rect">
            <a:avLst/>
          </a:prstGeom>
        </p:spPr>
      </p:pic>
      <p:grpSp>
        <p:nvGrpSpPr>
          <p:cNvPr id="24" name="Group 23">
            <a:extLst>
              <a:ext uri="{FF2B5EF4-FFF2-40B4-BE49-F238E27FC236}">
                <a16:creationId xmlns:a16="http://schemas.microsoft.com/office/drawing/2014/main" id="{30B71C8D-B793-9C42-197D-11817B532BDF}"/>
              </a:ext>
            </a:extLst>
          </p:cNvPr>
          <p:cNvGrpSpPr/>
          <p:nvPr/>
        </p:nvGrpSpPr>
        <p:grpSpPr>
          <a:xfrm rot="18900000">
            <a:off x="5019184" y="1064596"/>
            <a:ext cx="10118160" cy="10118160"/>
            <a:chOff x="2176270" y="1528942"/>
            <a:chExt cx="3657600" cy="3657601"/>
          </a:xfrm>
        </p:grpSpPr>
        <p:sp>
          <p:nvSpPr>
            <p:cNvPr id="25" name="Freeform: Shape 24">
              <a:extLst>
                <a:ext uri="{FF2B5EF4-FFF2-40B4-BE49-F238E27FC236}">
                  <a16:creationId xmlns:a16="http://schemas.microsoft.com/office/drawing/2014/main" id="{E969DE2E-2A98-9586-0C40-CF21285A128C}"/>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66D92EA8-FDFA-E52F-61D7-B5717DFD62CC}"/>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55C6BEFB-488C-39FE-0A24-C9AEAF6F3358}"/>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AF88620A-7C6C-1FFE-295B-55D0CFE0CA78}"/>
              </a:ext>
            </a:extLst>
          </p:cNvPr>
          <p:cNvSpPr txBox="1"/>
          <p:nvPr/>
        </p:nvSpPr>
        <p:spPr>
          <a:xfrm>
            <a:off x="8043518" y="1644763"/>
            <a:ext cx="3505793" cy="400110"/>
          </a:xfrm>
          <a:prstGeom prst="rect">
            <a:avLst/>
          </a:prstGeom>
          <a:noFill/>
        </p:spPr>
        <p:txBody>
          <a:bodyPr wrap="square" rtlCol="0">
            <a:spAutoFit/>
          </a:bodyPr>
          <a:lstStyle/>
          <a:p>
            <a:pPr algn="ctr"/>
            <a:r>
              <a:rPr lang="en-US" sz="2000" b="1" dirty="0"/>
              <a:t>Handling Missing Values</a:t>
            </a:r>
          </a:p>
        </p:txBody>
      </p:sp>
      <p:sp>
        <p:nvSpPr>
          <p:cNvPr id="3" name="TextBox 2">
            <a:extLst>
              <a:ext uri="{FF2B5EF4-FFF2-40B4-BE49-F238E27FC236}">
                <a16:creationId xmlns:a16="http://schemas.microsoft.com/office/drawing/2014/main" id="{0C48919F-5936-11ED-94BA-3066167D54D6}"/>
              </a:ext>
            </a:extLst>
          </p:cNvPr>
          <p:cNvSpPr txBox="1"/>
          <p:nvPr/>
        </p:nvSpPr>
        <p:spPr>
          <a:xfrm>
            <a:off x="8248845" y="2126086"/>
            <a:ext cx="3639312" cy="1477328"/>
          </a:xfrm>
          <a:prstGeom prst="rect">
            <a:avLst/>
          </a:prstGeom>
          <a:noFill/>
        </p:spPr>
        <p:txBody>
          <a:bodyPr wrap="square" rtlCol="0">
            <a:spAutoFit/>
          </a:bodyPr>
          <a:lstStyle/>
          <a:p>
            <a:pPr algn="ctr"/>
            <a:r>
              <a:rPr lang="en-US" dirty="0"/>
              <a:t>Missing values can create gaps in analysis and lead to unreliable insights. Identifying and addressing them ensures the dataset remains complete, and accurate.</a:t>
            </a:r>
          </a:p>
        </p:txBody>
      </p:sp>
      <p:sp>
        <p:nvSpPr>
          <p:cNvPr id="38" name="TextBox 37">
            <a:extLst>
              <a:ext uri="{FF2B5EF4-FFF2-40B4-BE49-F238E27FC236}">
                <a16:creationId xmlns:a16="http://schemas.microsoft.com/office/drawing/2014/main" id="{51E77A20-34E5-A077-7F8B-FA7D53EE8CD9}"/>
              </a:ext>
            </a:extLst>
          </p:cNvPr>
          <p:cNvSpPr txBox="1"/>
          <p:nvPr/>
        </p:nvSpPr>
        <p:spPr>
          <a:xfrm>
            <a:off x="9001941" y="780696"/>
            <a:ext cx="2152637" cy="769441"/>
          </a:xfrm>
          <a:prstGeom prst="rect">
            <a:avLst/>
          </a:prstGeom>
          <a:noFill/>
        </p:spPr>
        <p:txBody>
          <a:bodyPr wrap="square" rtlCol="0">
            <a:spAutoFit/>
          </a:bodyPr>
          <a:lstStyle/>
          <a:p>
            <a:pPr algn="ctr"/>
            <a:r>
              <a:rPr lang="en-US" sz="4400" b="1" dirty="0">
                <a:latin typeface="+mj-lt"/>
              </a:rPr>
              <a:t>STEP 02</a:t>
            </a:r>
          </a:p>
        </p:txBody>
      </p:sp>
      <p:sp>
        <p:nvSpPr>
          <p:cNvPr id="52" name="TextBox 51">
            <a:extLst>
              <a:ext uri="{FF2B5EF4-FFF2-40B4-BE49-F238E27FC236}">
                <a16:creationId xmlns:a16="http://schemas.microsoft.com/office/drawing/2014/main" id="{1DE68A2A-F482-DB07-6BFF-8AE179B5F415}"/>
              </a:ext>
            </a:extLst>
          </p:cNvPr>
          <p:cNvSpPr txBox="1"/>
          <p:nvPr/>
        </p:nvSpPr>
        <p:spPr>
          <a:xfrm>
            <a:off x="-160436" y="785700"/>
            <a:ext cx="7542168" cy="4493538"/>
          </a:xfrm>
          <a:prstGeom prst="rect">
            <a:avLst/>
          </a:prstGeom>
          <a:noFill/>
        </p:spPr>
        <p:txBody>
          <a:bodyPr wrap="square" rtlCol="0">
            <a:spAutoFit/>
          </a:bodyPr>
          <a:lstStyle/>
          <a:p>
            <a:pPr lvl="1"/>
            <a:r>
              <a:rPr lang="en-US" sz="2800" b="1" dirty="0"/>
              <a:t>Why?</a:t>
            </a:r>
          </a:p>
          <a:p>
            <a:endParaRPr lang="en-US" dirty="0"/>
          </a:p>
          <a:p>
            <a:pPr lvl="1" algn="just"/>
            <a:r>
              <a:rPr lang="en-US" sz="2400" dirty="0"/>
              <a:t>Missing values can break calculations, disrupt time-based metrics, and create misleading insights. Addressing them ensures the dataset is complete, consistent, and analytically sound. By verifying that no fields are left blank, especially in critical columns such as durations, factors, and timestamps, </a:t>
            </a:r>
            <a:r>
              <a:rPr lang="en-US" sz="2400" dirty="0" err="1"/>
              <a:t>wecan</a:t>
            </a:r>
            <a:r>
              <a:rPr lang="en-US" sz="2400" dirty="0"/>
              <a:t> then guarantee that every KPI and summary truly represents real production performance, without gaps that could distort trends or hide important issues.</a:t>
            </a:r>
            <a:endParaRPr lang="en-US" sz="2000" dirty="0"/>
          </a:p>
        </p:txBody>
      </p:sp>
      <p:pic>
        <p:nvPicPr>
          <p:cNvPr id="10" name="Picture 9" descr="A green square with white x on it&#10;&#10;AI-generated content may be incorrect.">
            <a:extLst>
              <a:ext uri="{FF2B5EF4-FFF2-40B4-BE49-F238E27FC236}">
                <a16:creationId xmlns:a16="http://schemas.microsoft.com/office/drawing/2014/main" id="{E5EEFBE6-6FCD-2ED1-75F9-A6BDFD037EC7}"/>
              </a:ext>
            </a:extLst>
          </p:cNvPr>
          <p:cNvPicPr>
            <a:picLocks noChangeAspect="1"/>
          </p:cNvPicPr>
          <p:nvPr/>
        </p:nvPicPr>
        <p:blipFill>
          <a:blip r:embed="rId3">
            <a:extLst>
              <a:ext uri="{28A0092B-C50C-407E-A947-70E740481C1C}">
                <a14:useLocalDpi xmlns:a14="http://schemas.microsoft.com/office/drawing/2010/main" val="0"/>
              </a:ext>
            </a:extLst>
          </a:blip>
          <a:srcRect l="32131" t="19127" r="30979" b="18817"/>
          <a:stretch>
            <a:fillRect/>
          </a:stretch>
        </p:blipFill>
        <p:spPr>
          <a:xfrm>
            <a:off x="679262" y="5493044"/>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10" descr="A screenshot of a computer&#10;&#10;AI-generated content may be incorrect.">
            <a:extLst>
              <a:ext uri="{FF2B5EF4-FFF2-40B4-BE49-F238E27FC236}">
                <a16:creationId xmlns:a16="http://schemas.microsoft.com/office/drawing/2014/main" id="{824F7C8A-4C09-64CB-89B1-C0050C218DFD}"/>
              </a:ext>
            </a:extLst>
          </p:cNvPr>
          <p:cNvPicPr>
            <a:picLocks noChangeAspect="1"/>
          </p:cNvPicPr>
          <p:nvPr/>
        </p:nvPicPr>
        <p:blipFill>
          <a:blip r:embed="rId4">
            <a:extLst>
              <a:ext uri="{28A0092B-C50C-407E-A947-70E740481C1C}">
                <a14:useLocalDpi xmlns:a14="http://schemas.microsoft.com/office/drawing/2010/main" val="0"/>
              </a:ext>
            </a:extLst>
          </a:blip>
          <a:srcRect l="40410" t="34307" r="42884" b="33606"/>
          <a:stretch>
            <a:fillRect/>
          </a:stretch>
        </p:blipFill>
        <p:spPr>
          <a:xfrm>
            <a:off x="2841230" y="5491423"/>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Picture 11" descr="A logo with orange and black text&#10;&#10;AI-generated content may be incorrect.">
            <a:extLst>
              <a:ext uri="{FF2B5EF4-FFF2-40B4-BE49-F238E27FC236}">
                <a16:creationId xmlns:a16="http://schemas.microsoft.com/office/drawing/2014/main" id="{762BF8C2-29CF-729B-1845-12E96E32888E}"/>
              </a:ext>
            </a:extLst>
          </p:cNvPr>
          <p:cNvPicPr>
            <a:picLocks noChangeAspect="1"/>
          </p:cNvPicPr>
          <p:nvPr/>
        </p:nvPicPr>
        <p:blipFill>
          <a:blip r:embed="rId5">
            <a:extLst>
              <a:ext uri="{28A0092B-C50C-407E-A947-70E740481C1C}">
                <a14:useLocalDpi xmlns:a14="http://schemas.microsoft.com/office/drawing/2010/main" val="0"/>
              </a:ext>
            </a:extLst>
          </a:blip>
          <a:srcRect l="34318" t="28806" r="36227" b="24754"/>
          <a:stretch>
            <a:fillRect/>
          </a:stretch>
        </p:blipFill>
        <p:spPr>
          <a:xfrm>
            <a:off x="5003199" y="5491423"/>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1" name="TextBox 20">
            <a:extLst>
              <a:ext uri="{FF2B5EF4-FFF2-40B4-BE49-F238E27FC236}">
                <a16:creationId xmlns:a16="http://schemas.microsoft.com/office/drawing/2014/main" id="{28DD82AE-8D4A-4918-505F-A2AC67A72732}"/>
              </a:ext>
            </a:extLst>
          </p:cNvPr>
          <p:cNvSpPr txBox="1"/>
          <p:nvPr/>
        </p:nvSpPr>
        <p:spPr>
          <a:xfrm>
            <a:off x="4846135" y="-4789489"/>
            <a:ext cx="7542168" cy="4493538"/>
          </a:xfrm>
          <a:prstGeom prst="rect">
            <a:avLst/>
          </a:prstGeom>
          <a:noFill/>
        </p:spPr>
        <p:txBody>
          <a:bodyPr wrap="square" rtlCol="0">
            <a:spAutoFit/>
          </a:bodyPr>
          <a:lstStyle/>
          <a:p>
            <a:pPr lvl="1"/>
            <a:r>
              <a:rPr lang="en-US" sz="2800" b="1" dirty="0"/>
              <a:t>Why?</a:t>
            </a:r>
          </a:p>
          <a:p>
            <a:endParaRPr lang="en-US" dirty="0"/>
          </a:p>
          <a:p>
            <a:pPr lvl="1"/>
            <a:r>
              <a:rPr lang="en-US" sz="2400" dirty="0"/>
              <a:t>Unpivoting transforms the downtime data from a wide format into a long, factor-level structure. This step takes multiple downtime-factor columns and converts them into individual rows—each representing a single factor and its corresponding delay. By doing this, the dataset becomes fully analysis-ready, allowing accurate aggregation, clearer comparisons across factors, and more meaningful visualizations such as Pareto charts and cause-based breakdowns.</a:t>
            </a:r>
            <a:endParaRPr lang="en-US" sz="2000" dirty="0"/>
          </a:p>
        </p:txBody>
      </p:sp>
      <p:pic>
        <p:nvPicPr>
          <p:cNvPr id="4" name="Graphic 3" descr="Question Mark with solid fill">
            <a:extLst>
              <a:ext uri="{FF2B5EF4-FFF2-40B4-BE49-F238E27FC236}">
                <a16:creationId xmlns:a16="http://schemas.microsoft.com/office/drawing/2014/main" id="{C543C7DE-9150-666B-39FC-09C415AC85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34721" y="1566441"/>
            <a:ext cx="556753" cy="556753"/>
          </a:xfrm>
          <a:prstGeom prst="rect">
            <a:avLst/>
          </a:prstGeom>
        </p:spPr>
      </p:pic>
      <p:grpSp>
        <p:nvGrpSpPr>
          <p:cNvPr id="32" name="Group 31">
            <a:extLst>
              <a:ext uri="{FF2B5EF4-FFF2-40B4-BE49-F238E27FC236}">
                <a16:creationId xmlns:a16="http://schemas.microsoft.com/office/drawing/2014/main" id="{39B7BA4D-9101-3F7D-BC76-3EAC6A66DB67}"/>
              </a:ext>
            </a:extLst>
          </p:cNvPr>
          <p:cNvGrpSpPr/>
          <p:nvPr/>
        </p:nvGrpSpPr>
        <p:grpSpPr>
          <a:xfrm rot="18900000">
            <a:off x="-7916049" y="1064596"/>
            <a:ext cx="10118160" cy="10118160"/>
            <a:chOff x="2176270" y="1528942"/>
            <a:chExt cx="3657600" cy="3657601"/>
          </a:xfrm>
        </p:grpSpPr>
        <p:sp>
          <p:nvSpPr>
            <p:cNvPr id="33" name="Freeform: Shape 32">
              <a:extLst>
                <a:ext uri="{FF2B5EF4-FFF2-40B4-BE49-F238E27FC236}">
                  <a16:creationId xmlns:a16="http://schemas.microsoft.com/office/drawing/2014/main" id="{D92C601C-C554-170C-BFB0-D1BBFB1D49CB}"/>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7BEBC78F-3DEF-EE3E-ACE4-61AC502CBBBF}"/>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71CE46A1-D032-9BF8-F223-F1BF296ECC13}"/>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D5B0E8EC-C99A-4653-D199-E95AB2C56AB5}"/>
              </a:ext>
            </a:extLst>
          </p:cNvPr>
          <p:cNvSpPr txBox="1"/>
          <p:nvPr/>
        </p:nvSpPr>
        <p:spPr>
          <a:xfrm>
            <a:off x="-4552869" y="1548885"/>
            <a:ext cx="2596708" cy="400110"/>
          </a:xfrm>
          <a:prstGeom prst="rect">
            <a:avLst/>
          </a:prstGeom>
          <a:noFill/>
        </p:spPr>
        <p:txBody>
          <a:bodyPr wrap="square" rtlCol="0">
            <a:spAutoFit/>
          </a:bodyPr>
          <a:lstStyle/>
          <a:p>
            <a:pPr algn="ctr"/>
            <a:r>
              <a:rPr lang="en-US" sz="2000" b="1" dirty="0"/>
              <a:t>Data Transformation</a:t>
            </a:r>
          </a:p>
        </p:txBody>
      </p:sp>
      <p:sp>
        <p:nvSpPr>
          <p:cNvPr id="37" name="TextBox 36">
            <a:extLst>
              <a:ext uri="{FF2B5EF4-FFF2-40B4-BE49-F238E27FC236}">
                <a16:creationId xmlns:a16="http://schemas.microsoft.com/office/drawing/2014/main" id="{A7AB2154-E23B-9938-371A-63860ED6C7D4}"/>
              </a:ext>
            </a:extLst>
          </p:cNvPr>
          <p:cNvSpPr txBox="1"/>
          <p:nvPr/>
        </p:nvSpPr>
        <p:spPr>
          <a:xfrm>
            <a:off x="-4686388" y="1941500"/>
            <a:ext cx="3639312" cy="1754326"/>
          </a:xfrm>
          <a:prstGeom prst="rect">
            <a:avLst/>
          </a:prstGeom>
          <a:noFill/>
        </p:spPr>
        <p:txBody>
          <a:bodyPr wrap="square" rtlCol="0">
            <a:spAutoFit/>
          </a:bodyPr>
          <a:lstStyle/>
          <a:p>
            <a:pPr algn="ctr"/>
            <a:r>
              <a:rPr lang="en-US" dirty="0"/>
              <a:t>Data transformation makes raw data usable. It fixes inconsistent formats, units, and column names, ensuring the dataset is clean, structured, and ready for accurate analysis.</a:t>
            </a:r>
          </a:p>
        </p:txBody>
      </p:sp>
      <p:pic>
        <p:nvPicPr>
          <p:cNvPr id="40" name="Graphic 39" descr="Filter outline">
            <a:extLst>
              <a:ext uri="{FF2B5EF4-FFF2-40B4-BE49-F238E27FC236}">
                <a16:creationId xmlns:a16="http://schemas.microsoft.com/office/drawing/2014/main" id="{03E19125-68F4-AF59-3CFD-06829ACB597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38946" y="1551389"/>
            <a:ext cx="445447" cy="445447"/>
          </a:xfrm>
          <a:prstGeom prst="rect">
            <a:avLst/>
          </a:prstGeom>
        </p:spPr>
      </p:pic>
      <p:sp>
        <p:nvSpPr>
          <p:cNvPr id="41" name="TextBox 40">
            <a:extLst>
              <a:ext uri="{FF2B5EF4-FFF2-40B4-BE49-F238E27FC236}">
                <a16:creationId xmlns:a16="http://schemas.microsoft.com/office/drawing/2014/main" id="{FCA3BD0D-DF55-492D-2AC3-76F5BCBEA704}"/>
              </a:ext>
            </a:extLst>
          </p:cNvPr>
          <p:cNvSpPr txBox="1"/>
          <p:nvPr/>
        </p:nvSpPr>
        <p:spPr>
          <a:xfrm>
            <a:off x="-3933292" y="780696"/>
            <a:ext cx="2152637" cy="769441"/>
          </a:xfrm>
          <a:prstGeom prst="rect">
            <a:avLst/>
          </a:prstGeom>
          <a:noFill/>
        </p:spPr>
        <p:txBody>
          <a:bodyPr wrap="square" rtlCol="0">
            <a:spAutoFit/>
          </a:bodyPr>
          <a:lstStyle/>
          <a:p>
            <a:pPr algn="ctr"/>
            <a:r>
              <a:rPr lang="en-US" sz="4400" b="1" dirty="0">
                <a:latin typeface="+mj-lt"/>
              </a:rPr>
              <a:t>STEP 01</a:t>
            </a:r>
          </a:p>
        </p:txBody>
      </p:sp>
    </p:spTree>
    <p:extLst>
      <p:ext uri="{BB962C8B-B14F-4D97-AF65-F5344CB8AC3E}">
        <p14:creationId xmlns:p14="http://schemas.microsoft.com/office/powerpoint/2010/main" val="13638776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C2198-B087-5910-210E-1CA2F9D555F4}"/>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3E02254F-1AC1-41EE-CCC6-C75D790789EA}"/>
              </a:ext>
            </a:extLst>
          </p:cNvPr>
          <p:cNvPicPr>
            <a:picLocks noChangeAspect="1"/>
          </p:cNvPicPr>
          <p:nvPr/>
        </p:nvPicPr>
        <p:blipFill>
          <a:blip r:embed="rId2">
            <a:alphaModFix amt="40000"/>
          </a:blip>
          <a:stretch>
            <a:fillRect/>
          </a:stretch>
        </p:blipFill>
        <p:spPr>
          <a:xfrm>
            <a:off x="-1654628" y="-465364"/>
            <a:ext cx="13846628" cy="7788728"/>
          </a:xfrm>
          <a:prstGeom prst="rect">
            <a:avLst/>
          </a:prstGeom>
        </p:spPr>
      </p:pic>
      <p:grpSp>
        <p:nvGrpSpPr>
          <p:cNvPr id="3" name="Group 2">
            <a:extLst>
              <a:ext uri="{FF2B5EF4-FFF2-40B4-BE49-F238E27FC236}">
                <a16:creationId xmlns:a16="http://schemas.microsoft.com/office/drawing/2014/main" id="{28282F84-5591-B908-45CD-3EC31CBB103B}"/>
              </a:ext>
            </a:extLst>
          </p:cNvPr>
          <p:cNvGrpSpPr/>
          <p:nvPr/>
        </p:nvGrpSpPr>
        <p:grpSpPr>
          <a:xfrm rot="18900000">
            <a:off x="10057706" y="1064596"/>
            <a:ext cx="10118160" cy="10118160"/>
            <a:chOff x="2176270" y="1528942"/>
            <a:chExt cx="3657600" cy="3657601"/>
          </a:xfrm>
        </p:grpSpPr>
        <p:sp>
          <p:nvSpPr>
            <p:cNvPr id="4" name="Freeform: Shape 3">
              <a:extLst>
                <a:ext uri="{FF2B5EF4-FFF2-40B4-BE49-F238E27FC236}">
                  <a16:creationId xmlns:a16="http://schemas.microsoft.com/office/drawing/2014/main" id="{5BF97CDE-471E-30BC-496D-9AB6A413CB8F}"/>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Oval 4">
              <a:extLst>
                <a:ext uri="{FF2B5EF4-FFF2-40B4-BE49-F238E27FC236}">
                  <a16:creationId xmlns:a16="http://schemas.microsoft.com/office/drawing/2014/main" id="{51AA37BD-7695-C5D0-3E8A-2164719CAB29}"/>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AFBF13F-AE57-1BDB-C5AA-F5E8429D88A9}"/>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9E8A72B0-F786-E53D-E9E8-3440FDD471EE}"/>
              </a:ext>
            </a:extLst>
          </p:cNvPr>
          <p:cNvSpPr txBox="1"/>
          <p:nvPr/>
        </p:nvSpPr>
        <p:spPr>
          <a:xfrm>
            <a:off x="13082040" y="1644763"/>
            <a:ext cx="3505793" cy="400110"/>
          </a:xfrm>
          <a:prstGeom prst="rect">
            <a:avLst/>
          </a:prstGeom>
          <a:noFill/>
        </p:spPr>
        <p:txBody>
          <a:bodyPr wrap="square" rtlCol="0">
            <a:spAutoFit/>
          </a:bodyPr>
          <a:lstStyle/>
          <a:p>
            <a:pPr algn="ctr"/>
            <a:r>
              <a:rPr lang="en-US" sz="2000" b="1" dirty="0"/>
              <a:t>Handling Missing Values</a:t>
            </a:r>
          </a:p>
        </p:txBody>
      </p:sp>
      <p:sp>
        <p:nvSpPr>
          <p:cNvPr id="9" name="TextBox 8">
            <a:extLst>
              <a:ext uri="{FF2B5EF4-FFF2-40B4-BE49-F238E27FC236}">
                <a16:creationId xmlns:a16="http://schemas.microsoft.com/office/drawing/2014/main" id="{65DD1480-D6A6-6799-1CFE-A04E4E2E52B0}"/>
              </a:ext>
            </a:extLst>
          </p:cNvPr>
          <p:cNvSpPr txBox="1"/>
          <p:nvPr/>
        </p:nvSpPr>
        <p:spPr>
          <a:xfrm>
            <a:off x="13287367" y="2126086"/>
            <a:ext cx="3639312" cy="1477328"/>
          </a:xfrm>
          <a:prstGeom prst="rect">
            <a:avLst/>
          </a:prstGeom>
          <a:noFill/>
        </p:spPr>
        <p:txBody>
          <a:bodyPr wrap="square" rtlCol="0">
            <a:spAutoFit/>
          </a:bodyPr>
          <a:lstStyle/>
          <a:p>
            <a:pPr algn="ctr"/>
            <a:r>
              <a:rPr lang="en-US" dirty="0"/>
              <a:t>Missing values can create gaps in analysis and lead to unreliable insights. Identifying and addressing them ensures the dataset remains complete, and accurate.</a:t>
            </a:r>
          </a:p>
        </p:txBody>
      </p:sp>
      <p:sp>
        <p:nvSpPr>
          <p:cNvPr id="11" name="TextBox 10">
            <a:extLst>
              <a:ext uri="{FF2B5EF4-FFF2-40B4-BE49-F238E27FC236}">
                <a16:creationId xmlns:a16="http://schemas.microsoft.com/office/drawing/2014/main" id="{ABA01CCA-3BD5-A49D-AB91-D5AE72709FDA}"/>
              </a:ext>
            </a:extLst>
          </p:cNvPr>
          <p:cNvSpPr txBox="1"/>
          <p:nvPr/>
        </p:nvSpPr>
        <p:spPr>
          <a:xfrm>
            <a:off x="14040463" y="780696"/>
            <a:ext cx="2152637" cy="769441"/>
          </a:xfrm>
          <a:prstGeom prst="rect">
            <a:avLst/>
          </a:prstGeom>
          <a:noFill/>
        </p:spPr>
        <p:txBody>
          <a:bodyPr wrap="square" rtlCol="0">
            <a:spAutoFit/>
          </a:bodyPr>
          <a:lstStyle/>
          <a:p>
            <a:pPr algn="ctr"/>
            <a:r>
              <a:rPr lang="en-US" sz="4400" b="1" dirty="0">
                <a:latin typeface="+mj-lt"/>
              </a:rPr>
              <a:t>STEP 02</a:t>
            </a:r>
          </a:p>
        </p:txBody>
      </p:sp>
      <p:pic>
        <p:nvPicPr>
          <p:cNvPr id="13" name="Graphic 12" descr="Question Mark with solid fill">
            <a:extLst>
              <a:ext uri="{FF2B5EF4-FFF2-40B4-BE49-F238E27FC236}">
                <a16:creationId xmlns:a16="http://schemas.microsoft.com/office/drawing/2014/main" id="{A650F979-7DC0-95FF-1002-E31D64B6C3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73243" y="1566441"/>
            <a:ext cx="556753" cy="556753"/>
          </a:xfrm>
          <a:prstGeom prst="rect">
            <a:avLst/>
          </a:prstGeom>
        </p:spPr>
      </p:pic>
      <p:pic>
        <p:nvPicPr>
          <p:cNvPr id="2" name="Picture 1">
            <a:extLst>
              <a:ext uri="{FF2B5EF4-FFF2-40B4-BE49-F238E27FC236}">
                <a16:creationId xmlns:a16="http://schemas.microsoft.com/office/drawing/2014/main" id="{DC5EE43A-A5E8-1C7A-F349-41075D1F8088}"/>
              </a:ext>
            </a:extLst>
          </p:cNvPr>
          <p:cNvPicPr>
            <a:picLocks noChangeAspect="1"/>
          </p:cNvPicPr>
          <p:nvPr/>
        </p:nvPicPr>
        <p:blipFill>
          <a:blip r:embed="rId5"/>
          <a:stretch>
            <a:fillRect/>
          </a:stretch>
        </p:blipFill>
        <p:spPr>
          <a:xfrm>
            <a:off x="255119" y="147942"/>
            <a:ext cx="9239250" cy="8477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8" name="Picture 7">
            <a:extLst>
              <a:ext uri="{FF2B5EF4-FFF2-40B4-BE49-F238E27FC236}">
                <a16:creationId xmlns:a16="http://schemas.microsoft.com/office/drawing/2014/main" id="{1F3A18FA-CBFB-75F5-08AE-B63B1C2FE221}"/>
              </a:ext>
            </a:extLst>
          </p:cNvPr>
          <p:cNvPicPr>
            <a:picLocks noChangeAspect="1"/>
          </p:cNvPicPr>
          <p:nvPr/>
        </p:nvPicPr>
        <p:blipFill>
          <a:blip r:embed="rId6"/>
          <a:stretch>
            <a:fillRect/>
          </a:stretch>
        </p:blipFill>
        <p:spPr>
          <a:xfrm>
            <a:off x="255891" y="1134011"/>
            <a:ext cx="6353175" cy="8572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0" name="Picture 9">
            <a:extLst>
              <a:ext uri="{FF2B5EF4-FFF2-40B4-BE49-F238E27FC236}">
                <a16:creationId xmlns:a16="http://schemas.microsoft.com/office/drawing/2014/main" id="{8C140B00-7DFE-1938-47A5-17887C216705}"/>
              </a:ext>
            </a:extLst>
          </p:cNvPr>
          <p:cNvPicPr>
            <a:picLocks noChangeAspect="1"/>
          </p:cNvPicPr>
          <p:nvPr/>
        </p:nvPicPr>
        <p:blipFill>
          <a:blip r:embed="rId7"/>
          <a:stretch>
            <a:fillRect/>
          </a:stretch>
        </p:blipFill>
        <p:spPr>
          <a:xfrm>
            <a:off x="255119" y="2129605"/>
            <a:ext cx="4610100" cy="83820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2" name="Picture 11">
            <a:extLst>
              <a:ext uri="{FF2B5EF4-FFF2-40B4-BE49-F238E27FC236}">
                <a16:creationId xmlns:a16="http://schemas.microsoft.com/office/drawing/2014/main" id="{31A8635B-473E-BF2C-9F03-F6BD0E3ACE1B}"/>
              </a:ext>
            </a:extLst>
          </p:cNvPr>
          <p:cNvPicPr>
            <a:picLocks noChangeAspect="1"/>
          </p:cNvPicPr>
          <p:nvPr/>
        </p:nvPicPr>
        <p:blipFill>
          <a:blip r:embed="rId8"/>
          <a:stretch>
            <a:fillRect/>
          </a:stretch>
        </p:blipFill>
        <p:spPr>
          <a:xfrm>
            <a:off x="255119" y="3106148"/>
            <a:ext cx="4610100" cy="8096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4" name="Picture 13">
            <a:extLst>
              <a:ext uri="{FF2B5EF4-FFF2-40B4-BE49-F238E27FC236}">
                <a16:creationId xmlns:a16="http://schemas.microsoft.com/office/drawing/2014/main" id="{ADE6CECB-492C-F8B2-7ED2-B03BFCA537DE}"/>
              </a:ext>
            </a:extLst>
          </p:cNvPr>
          <p:cNvPicPr>
            <a:picLocks noChangeAspect="1"/>
          </p:cNvPicPr>
          <p:nvPr/>
        </p:nvPicPr>
        <p:blipFill>
          <a:blip r:embed="rId9"/>
          <a:srcRect r="21222" b="42447"/>
          <a:stretch>
            <a:fillRect/>
          </a:stretch>
        </p:blipFill>
        <p:spPr>
          <a:xfrm>
            <a:off x="220662" y="4656543"/>
            <a:ext cx="5875338" cy="1403383"/>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6" name="Picture 15">
            <a:extLst>
              <a:ext uri="{FF2B5EF4-FFF2-40B4-BE49-F238E27FC236}">
                <a16:creationId xmlns:a16="http://schemas.microsoft.com/office/drawing/2014/main" id="{664E5E53-297B-2D72-1EED-99BC935493AC}"/>
              </a:ext>
            </a:extLst>
          </p:cNvPr>
          <p:cNvPicPr>
            <a:picLocks noChangeAspect="1"/>
          </p:cNvPicPr>
          <p:nvPr/>
        </p:nvPicPr>
        <p:blipFill>
          <a:blip r:embed="rId10"/>
          <a:srcRect t="32751" r="71621" b="44731"/>
          <a:stretch>
            <a:fillRect/>
          </a:stretch>
        </p:blipFill>
        <p:spPr>
          <a:xfrm>
            <a:off x="8300700" y="2873542"/>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8" name="Picture 17">
            <a:extLst>
              <a:ext uri="{FF2B5EF4-FFF2-40B4-BE49-F238E27FC236}">
                <a16:creationId xmlns:a16="http://schemas.microsoft.com/office/drawing/2014/main" id="{70A2BCC5-9A2B-AE3A-CBB4-5AF96B927257}"/>
              </a:ext>
            </a:extLst>
          </p:cNvPr>
          <p:cNvPicPr>
            <a:picLocks noChangeAspect="1"/>
          </p:cNvPicPr>
          <p:nvPr/>
        </p:nvPicPr>
        <p:blipFill>
          <a:blip r:embed="rId11"/>
          <a:srcRect t="36376" r="71528" b="39860"/>
          <a:stretch>
            <a:fillRect/>
          </a:stretch>
        </p:blipFill>
        <p:spPr>
          <a:xfrm>
            <a:off x="8300700" y="2136360"/>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9" name="Picture 18">
            <a:extLst>
              <a:ext uri="{FF2B5EF4-FFF2-40B4-BE49-F238E27FC236}">
                <a16:creationId xmlns:a16="http://schemas.microsoft.com/office/drawing/2014/main" id="{8217F226-C809-2A87-832C-0618B40CB0E6}"/>
              </a:ext>
            </a:extLst>
          </p:cNvPr>
          <p:cNvPicPr>
            <a:picLocks noChangeAspect="1"/>
          </p:cNvPicPr>
          <p:nvPr/>
        </p:nvPicPr>
        <p:blipFill>
          <a:blip r:embed="rId12"/>
          <a:srcRect t="36376" r="71691" b="39860"/>
          <a:stretch>
            <a:fillRect/>
          </a:stretch>
        </p:blipFill>
        <p:spPr>
          <a:xfrm>
            <a:off x="8300700" y="3610725"/>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0" name="Picture 19">
            <a:extLst>
              <a:ext uri="{FF2B5EF4-FFF2-40B4-BE49-F238E27FC236}">
                <a16:creationId xmlns:a16="http://schemas.microsoft.com/office/drawing/2014/main" id="{5BBB7F96-5ADB-9E78-B3E2-6D7C395587BE}"/>
              </a:ext>
            </a:extLst>
          </p:cNvPr>
          <p:cNvPicPr>
            <a:picLocks noChangeAspect="1"/>
          </p:cNvPicPr>
          <p:nvPr/>
        </p:nvPicPr>
        <p:blipFill>
          <a:blip r:embed="rId13"/>
          <a:srcRect t="27881" r="71528" b="52949"/>
          <a:stretch>
            <a:fillRect/>
          </a:stretch>
        </p:blipFill>
        <p:spPr>
          <a:xfrm>
            <a:off x="8300700" y="1399178"/>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1" name="Picture 20" descr="A green square with white x on it&#10;&#10;AI-generated content may be incorrect.">
            <a:hlinkClick r:id="rId14" action="ppaction://hlinksldjump"/>
            <a:extLst>
              <a:ext uri="{FF2B5EF4-FFF2-40B4-BE49-F238E27FC236}">
                <a16:creationId xmlns:a16="http://schemas.microsoft.com/office/drawing/2014/main" id="{E3924677-9415-CA38-A190-CCC6CC8AF820}"/>
              </a:ext>
            </a:extLst>
          </p:cNvPr>
          <p:cNvPicPr>
            <a:picLocks noChangeAspect="1"/>
          </p:cNvPicPr>
          <p:nvPr/>
        </p:nvPicPr>
        <p:blipFill>
          <a:blip r:embed="rId15">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descr="A screenshot of a computer&#10;&#10;AI-generated content may be incorrect.">
            <a:hlinkClick r:id="rId16" action="ppaction://hlinksldjump"/>
            <a:extLst>
              <a:ext uri="{FF2B5EF4-FFF2-40B4-BE49-F238E27FC236}">
                <a16:creationId xmlns:a16="http://schemas.microsoft.com/office/drawing/2014/main" id="{1A4C6E7B-561F-7EAA-A763-51DE6D86E09F}"/>
              </a:ext>
            </a:extLst>
          </p:cNvPr>
          <p:cNvPicPr>
            <a:picLocks noChangeAspect="1"/>
          </p:cNvPicPr>
          <p:nvPr/>
        </p:nvPicPr>
        <p:blipFill>
          <a:blip r:embed="rId17">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Picture 22" descr="A logo with orange and black text&#10;&#10;AI-generated content may be incorrect.">
            <a:hlinkClick r:id="rId18" action="ppaction://hlinksldjump"/>
            <a:extLst>
              <a:ext uri="{FF2B5EF4-FFF2-40B4-BE49-F238E27FC236}">
                <a16:creationId xmlns:a16="http://schemas.microsoft.com/office/drawing/2014/main" id="{B409111E-9211-4F9E-D215-0C08BBC18A40}"/>
              </a:ext>
            </a:extLst>
          </p:cNvPr>
          <p:cNvPicPr>
            <a:picLocks noChangeAspect="1"/>
          </p:cNvPicPr>
          <p:nvPr/>
        </p:nvPicPr>
        <p:blipFill>
          <a:blip r:embed="rId19">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nvGrpSpPr>
          <p:cNvPr id="15" name="!!Group 5">
            <a:extLst>
              <a:ext uri="{FF2B5EF4-FFF2-40B4-BE49-F238E27FC236}">
                <a16:creationId xmlns:a16="http://schemas.microsoft.com/office/drawing/2014/main" id="{7BB9D917-BC17-926A-6A40-241D37FDAD9C}"/>
              </a:ext>
            </a:extLst>
          </p:cNvPr>
          <p:cNvGrpSpPr/>
          <p:nvPr/>
        </p:nvGrpSpPr>
        <p:grpSpPr>
          <a:xfrm rot="18900000">
            <a:off x="-2982630" y="8111464"/>
            <a:ext cx="10118160" cy="10118160"/>
            <a:chOff x="2176270" y="1528942"/>
            <a:chExt cx="3657600" cy="3657601"/>
          </a:xfrm>
        </p:grpSpPr>
        <p:sp>
          <p:nvSpPr>
            <p:cNvPr id="17" name="Freeform: Shape 16">
              <a:extLst>
                <a:ext uri="{FF2B5EF4-FFF2-40B4-BE49-F238E27FC236}">
                  <a16:creationId xmlns:a16="http://schemas.microsoft.com/office/drawing/2014/main" id="{D4D99BFA-E8B1-5816-830C-32C2217152EF}"/>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Oval 23">
              <a:extLst>
                <a:ext uri="{FF2B5EF4-FFF2-40B4-BE49-F238E27FC236}">
                  <a16:creationId xmlns:a16="http://schemas.microsoft.com/office/drawing/2014/main" id="{CF140C42-05A0-1F4F-891D-16DF6C36731F}"/>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0AB06DD-1C42-FF09-24A5-96C6D77C89BF}"/>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59BFCB10-952B-1BF0-88C3-F6D9F2E930BB}"/>
              </a:ext>
            </a:extLst>
          </p:cNvPr>
          <p:cNvSpPr txBox="1"/>
          <p:nvPr/>
        </p:nvSpPr>
        <p:spPr>
          <a:xfrm>
            <a:off x="240837" y="8595753"/>
            <a:ext cx="3072744" cy="400110"/>
          </a:xfrm>
          <a:prstGeom prst="rect">
            <a:avLst/>
          </a:prstGeom>
          <a:noFill/>
        </p:spPr>
        <p:txBody>
          <a:bodyPr wrap="square" rtlCol="0">
            <a:spAutoFit/>
          </a:bodyPr>
          <a:lstStyle/>
          <a:p>
            <a:pPr algn="ctr"/>
            <a:r>
              <a:rPr lang="en-US" sz="2000" b="1" dirty="0"/>
              <a:t>Removing Duplicates</a:t>
            </a:r>
          </a:p>
        </p:txBody>
      </p:sp>
      <p:sp>
        <p:nvSpPr>
          <p:cNvPr id="27" name="TextBox 26">
            <a:extLst>
              <a:ext uri="{FF2B5EF4-FFF2-40B4-BE49-F238E27FC236}">
                <a16:creationId xmlns:a16="http://schemas.microsoft.com/office/drawing/2014/main" id="{21B7FFC6-A2C0-00CD-3A67-E65769E155F7}"/>
              </a:ext>
            </a:extLst>
          </p:cNvPr>
          <p:cNvSpPr txBox="1"/>
          <p:nvPr/>
        </p:nvSpPr>
        <p:spPr>
          <a:xfrm>
            <a:off x="155260" y="9107111"/>
            <a:ext cx="3842369" cy="1477328"/>
          </a:xfrm>
          <a:prstGeom prst="rect">
            <a:avLst/>
          </a:prstGeom>
          <a:noFill/>
        </p:spPr>
        <p:txBody>
          <a:bodyPr wrap="square" rtlCol="0">
            <a:spAutoFit/>
          </a:bodyPr>
          <a:lstStyle/>
          <a:p>
            <a:pPr algn="ctr"/>
            <a:r>
              <a:rPr lang="en-US" dirty="0"/>
              <a:t>Duplicate records inflate counts, distort totals, and lead to inaccurate conclusions. Identifying and removing them ensures the dataset reflects real production activity.</a:t>
            </a:r>
          </a:p>
        </p:txBody>
      </p:sp>
      <p:sp>
        <p:nvSpPr>
          <p:cNvPr id="28" name="TextBox 27">
            <a:extLst>
              <a:ext uri="{FF2B5EF4-FFF2-40B4-BE49-F238E27FC236}">
                <a16:creationId xmlns:a16="http://schemas.microsoft.com/office/drawing/2014/main" id="{520728C6-70F1-8DE3-8807-35C8BC941839}"/>
              </a:ext>
            </a:extLst>
          </p:cNvPr>
          <p:cNvSpPr txBox="1"/>
          <p:nvPr/>
        </p:nvSpPr>
        <p:spPr>
          <a:xfrm>
            <a:off x="1000127" y="7827564"/>
            <a:ext cx="2152637" cy="769441"/>
          </a:xfrm>
          <a:prstGeom prst="rect">
            <a:avLst/>
          </a:prstGeom>
          <a:noFill/>
        </p:spPr>
        <p:txBody>
          <a:bodyPr wrap="square" rtlCol="0">
            <a:spAutoFit/>
          </a:bodyPr>
          <a:lstStyle/>
          <a:p>
            <a:pPr algn="ctr"/>
            <a:r>
              <a:rPr lang="en-US" sz="4400" b="1" dirty="0">
                <a:latin typeface="+mj-lt"/>
              </a:rPr>
              <a:t>STEP 03</a:t>
            </a:r>
          </a:p>
        </p:txBody>
      </p:sp>
      <p:pic>
        <p:nvPicPr>
          <p:cNvPr id="29" name="Graphic 28" descr="Mop and bucket outline">
            <a:extLst>
              <a:ext uri="{FF2B5EF4-FFF2-40B4-BE49-F238E27FC236}">
                <a16:creationId xmlns:a16="http://schemas.microsoft.com/office/drawing/2014/main" id="{4682F61A-F979-B61F-0E0D-77E65972A1C8}"/>
              </a:ext>
            </a:extLst>
          </p:cNvPr>
          <p:cNvPicPr>
            <a:picLocks noChangeAspect="1"/>
          </p:cNvPicPr>
          <p:nvPr/>
        </p:nvPicPr>
        <p:blipFill>
          <a:blip r:embed="rId20">
            <a:extLst>
              <a:ext uri="{96DAC541-7B7A-43D3-8B79-37D633B846F1}">
                <asvg:svgBlip xmlns:asvg="http://schemas.microsoft.com/office/drawing/2016/SVG/main" r:embed="rId21"/>
              </a:ext>
            </a:extLst>
          </a:blip>
          <a:srcRect l="53755" t="28657" r="1551" b="-2604"/>
          <a:stretch>
            <a:fillRect/>
          </a:stretch>
        </p:blipFill>
        <p:spPr>
          <a:xfrm>
            <a:off x="3120328" y="8455365"/>
            <a:ext cx="411529" cy="680885"/>
          </a:xfrm>
          <a:prstGeom prst="rect">
            <a:avLst/>
          </a:prstGeom>
        </p:spPr>
      </p:pic>
    </p:spTree>
    <p:extLst>
      <p:ext uri="{BB962C8B-B14F-4D97-AF65-F5344CB8AC3E}">
        <p14:creationId xmlns:p14="http://schemas.microsoft.com/office/powerpoint/2010/main" val="11345204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A692C4-589E-1393-06D6-77F1A5029A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0406C5-E72B-8C01-9BCC-34992EDC9AD0}"/>
              </a:ext>
            </a:extLst>
          </p:cNvPr>
          <p:cNvPicPr>
            <a:picLocks noChangeAspect="1"/>
          </p:cNvPicPr>
          <p:nvPr/>
        </p:nvPicPr>
        <p:blipFill>
          <a:blip r:embed="rId2">
            <a:alphaModFix amt="40000"/>
          </a:blip>
          <a:stretch>
            <a:fillRect/>
          </a:stretch>
        </p:blipFill>
        <p:spPr>
          <a:xfrm>
            <a:off x="-1654628" y="-465364"/>
            <a:ext cx="13846628" cy="7788728"/>
          </a:xfrm>
          <a:prstGeom prst="rect">
            <a:avLst/>
          </a:prstGeom>
        </p:spPr>
      </p:pic>
      <p:pic>
        <p:nvPicPr>
          <p:cNvPr id="2" name="Picture 1">
            <a:extLst>
              <a:ext uri="{FF2B5EF4-FFF2-40B4-BE49-F238E27FC236}">
                <a16:creationId xmlns:a16="http://schemas.microsoft.com/office/drawing/2014/main" id="{83080C7F-0168-08A9-6874-9F29B29EDB3F}"/>
              </a:ext>
            </a:extLst>
          </p:cNvPr>
          <p:cNvPicPr>
            <a:picLocks noChangeAspect="1"/>
          </p:cNvPicPr>
          <p:nvPr/>
        </p:nvPicPr>
        <p:blipFill>
          <a:blip r:embed="rId3"/>
          <a:stretch>
            <a:fillRect/>
          </a:stretch>
        </p:blipFill>
        <p:spPr>
          <a:xfrm>
            <a:off x="255119" y="147942"/>
            <a:ext cx="9239250" cy="8477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8" name="Picture 7">
            <a:extLst>
              <a:ext uri="{FF2B5EF4-FFF2-40B4-BE49-F238E27FC236}">
                <a16:creationId xmlns:a16="http://schemas.microsoft.com/office/drawing/2014/main" id="{1EA2461D-DE9B-A572-2344-A88282625168}"/>
              </a:ext>
            </a:extLst>
          </p:cNvPr>
          <p:cNvPicPr>
            <a:picLocks noChangeAspect="1"/>
          </p:cNvPicPr>
          <p:nvPr/>
        </p:nvPicPr>
        <p:blipFill>
          <a:blip r:embed="rId4"/>
          <a:stretch>
            <a:fillRect/>
          </a:stretch>
        </p:blipFill>
        <p:spPr>
          <a:xfrm>
            <a:off x="255891" y="1134011"/>
            <a:ext cx="6353175" cy="8572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0" name="Picture 9">
            <a:extLst>
              <a:ext uri="{FF2B5EF4-FFF2-40B4-BE49-F238E27FC236}">
                <a16:creationId xmlns:a16="http://schemas.microsoft.com/office/drawing/2014/main" id="{90061292-EF57-A785-DAA4-B686A5620510}"/>
              </a:ext>
            </a:extLst>
          </p:cNvPr>
          <p:cNvPicPr>
            <a:picLocks noChangeAspect="1"/>
          </p:cNvPicPr>
          <p:nvPr/>
        </p:nvPicPr>
        <p:blipFill>
          <a:blip r:embed="rId5"/>
          <a:stretch>
            <a:fillRect/>
          </a:stretch>
        </p:blipFill>
        <p:spPr>
          <a:xfrm>
            <a:off x="255119" y="2129605"/>
            <a:ext cx="4610100" cy="83820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2" name="Picture 11">
            <a:extLst>
              <a:ext uri="{FF2B5EF4-FFF2-40B4-BE49-F238E27FC236}">
                <a16:creationId xmlns:a16="http://schemas.microsoft.com/office/drawing/2014/main" id="{2E693E57-EA1F-1560-B982-D494B7D33ACE}"/>
              </a:ext>
            </a:extLst>
          </p:cNvPr>
          <p:cNvPicPr>
            <a:picLocks noChangeAspect="1"/>
          </p:cNvPicPr>
          <p:nvPr/>
        </p:nvPicPr>
        <p:blipFill>
          <a:blip r:embed="rId6"/>
          <a:stretch>
            <a:fillRect/>
          </a:stretch>
        </p:blipFill>
        <p:spPr>
          <a:xfrm>
            <a:off x="255119" y="3106148"/>
            <a:ext cx="4610100" cy="8096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4" name="Picture 13">
            <a:extLst>
              <a:ext uri="{FF2B5EF4-FFF2-40B4-BE49-F238E27FC236}">
                <a16:creationId xmlns:a16="http://schemas.microsoft.com/office/drawing/2014/main" id="{EEF6C363-5034-002C-4CFD-0AD71A42FB7E}"/>
              </a:ext>
            </a:extLst>
          </p:cNvPr>
          <p:cNvPicPr>
            <a:picLocks noChangeAspect="1"/>
          </p:cNvPicPr>
          <p:nvPr/>
        </p:nvPicPr>
        <p:blipFill>
          <a:blip r:embed="rId7"/>
          <a:srcRect r="21222" b="42447"/>
          <a:stretch>
            <a:fillRect/>
          </a:stretch>
        </p:blipFill>
        <p:spPr>
          <a:xfrm>
            <a:off x="220662" y="4656543"/>
            <a:ext cx="5875338" cy="1403383"/>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6" name="Picture 15">
            <a:extLst>
              <a:ext uri="{FF2B5EF4-FFF2-40B4-BE49-F238E27FC236}">
                <a16:creationId xmlns:a16="http://schemas.microsoft.com/office/drawing/2014/main" id="{97039E6A-AD59-9DE3-8263-127DA1140EFF}"/>
              </a:ext>
            </a:extLst>
          </p:cNvPr>
          <p:cNvPicPr>
            <a:picLocks noChangeAspect="1"/>
          </p:cNvPicPr>
          <p:nvPr/>
        </p:nvPicPr>
        <p:blipFill>
          <a:blip r:embed="rId8"/>
          <a:srcRect t="32751" r="71621" b="44731"/>
          <a:stretch>
            <a:fillRect/>
          </a:stretch>
        </p:blipFill>
        <p:spPr>
          <a:xfrm>
            <a:off x="8300700" y="2873542"/>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8" name="Picture 17">
            <a:extLst>
              <a:ext uri="{FF2B5EF4-FFF2-40B4-BE49-F238E27FC236}">
                <a16:creationId xmlns:a16="http://schemas.microsoft.com/office/drawing/2014/main" id="{5BB20CC8-94D8-80F1-249D-4FED38DDD993}"/>
              </a:ext>
            </a:extLst>
          </p:cNvPr>
          <p:cNvPicPr>
            <a:picLocks noChangeAspect="1"/>
          </p:cNvPicPr>
          <p:nvPr/>
        </p:nvPicPr>
        <p:blipFill>
          <a:blip r:embed="rId9"/>
          <a:srcRect t="36376" r="71528" b="39860"/>
          <a:stretch>
            <a:fillRect/>
          </a:stretch>
        </p:blipFill>
        <p:spPr>
          <a:xfrm>
            <a:off x="8300700" y="2136360"/>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9" name="Picture 18">
            <a:extLst>
              <a:ext uri="{FF2B5EF4-FFF2-40B4-BE49-F238E27FC236}">
                <a16:creationId xmlns:a16="http://schemas.microsoft.com/office/drawing/2014/main" id="{98D5794D-A29B-A38C-8351-BDE1B3212690}"/>
              </a:ext>
            </a:extLst>
          </p:cNvPr>
          <p:cNvPicPr>
            <a:picLocks noChangeAspect="1"/>
          </p:cNvPicPr>
          <p:nvPr/>
        </p:nvPicPr>
        <p:blipFill>
          <a:blip r:embed="rId10"/>
          <a:srcRect t="36376" r="71691" b="39860"/>
          <a:stretch>
            <a:fillRect/>
          </a:stretch>
        </p:blipFill>
        <p:spPr>
          <a:xfrm>
            <a:off x="8300700" y="3610725"/>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0" name="Picture 19">
            <a:extLst>
              <a:ext uri="{FF2B5EF4-FFF2-40B4-BE49-F238E27FC236}">
                <a16:creationId xmlns:a16="http://schemas.microsoft.com/office/drawing/2014/main" id="{97F9EE37-E0DE-0789-A923-8D82AE8334FF}"/>
              </a:ext>
            </a:extLst>
          </p:cNvPr>
          <p:cNvPicPr>
            <a:picLocks noChangeAspect="1"/>
          </p:cNvPicPr>
          <p:nvPr/>
        </p:nvPicPr>
        <p:blipFill>
          <a:blip r:embed="rId11"/>
          <a:srcRect t="27881" r="71528" b="52949"/>
          <a:stretch>
            <a:fillRect/>
          </a:stretch>
        </p:blipFill>
        <p:spPr>
          <a:xfrm>
            <a:off x="8300700" y="1399178"/>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1" name="Picture 20" descr="A green square with white x on it&#10;&#10;AI-generated content may be incorrect.">
            <a:hlinkClick r:id="rId12" action="ppaction://hlinksldjump"/>
            <a:extLst>
              <a:ext uri="{FF2B5EF4-FFF2-40B4-BE49-F238E27FC236}">
                <a16:creationId xmlns:a16="http://schemas.microsoft.com/office/drawing/2014/main" id="{9844E7B4-BC84-E21C-2031-0E6502AA8A72}"/>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24943"/>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descr="A screenshot of a computer&#10;&#10;AI-generated content may be incorrect.">
            <a:hlinkClick r:id="rId14" action="ppaction://hlinksldjump"/>
            <a:extLst>
              <a:ext uri="{FF2B5EF4-FFF2-40B4-BE49-F238E27FC236}">
                <a16:creationId xmlns:a16="http://schemas.microsoft.com/office/drawing/2014/main" id="{9437BD6A-1D52-865C-816B-BE0BB8BFF31A}"/>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23322"/>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Picture 22" descr="A logo with orange and black text&#10;&#10;AI-generated content may be incorrect.">
            <a:hlinkClick r:id="rId16" action="ppaction://hlinksldjump"/>
            <a:extLst>
              <a:ext uri="{FF2B5EF4-FFF2-40B4-BE49-F238E27FC236}">
                <a16:creationId xmlns:a16="http://schemas.microsoft.com/office/drawing/2014/main" id="{C024BB22-4BE0-3951-756A-CE92D94D3D47}"/>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23322"/>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4" name="TextBox 23">
            <a:extLst>
              <a:ext uri="{FF2B5EF4-FFF2-40B4-BE49-F238E27FC236}">
                <a16:creationId xmlns:a16="http://schemas.microsoft.com/office/drawing/2014/main" id="{7F96F4C9-0166-9381-40E1-2C8825FA3A3D}"/>
              </a:ext>
            </a:extLst>
          </p:cNvPr>
          <p:cNvSpPr txBox="1"/>
          <p:nvPr/>
        </p:nvSpPr>
        <p:spPr>
          <a:xfrm>
            <a:off x="530825" y="4004687"/>
            <a:ext cx="3746121" cy="400110"/>
          </a:xfrm>
          <a:prstGeom prst="rect">
            <a:avLst/>
          </a:prstGeom>
          <a:noFill/>
        </p:spPr>
        <p:txBody>
          <a:bodyPr wrap="square" rtlCol="0">
            <a:spAutoFit/>
          </a:bodyPr>
          <a:lstStyle/>
          <a:p>
            <a:r>
              <a:rPr lang="en-US" sz="2000" b="1" dirty="0"/>
              <a:t>USING POWER QUERY (EXCEL)</a:t>
            </a:r>
          </a:p>
        </p:txBody>
      </p:sp>
      <p:sp>
        <p:nvSpPr>
          <p:cNvPr id="25" name="Rectangle 24">
            <a:extLst>
              <a:ext uri="{FF2B5EF4-FFF2-40B4-BE49-F238E27FC236}">
                <a16:creationId xmlns:a16="http://schemas.microsoft.com/office/drawing/2014/main" id="{7C26F574-3882-7539-47CD-9AE83BD472C2}"/>
              </a:ext>
            </a:extLst>
          </p:cNvPr>
          <p:cNvSpPr/>
          <p:nvPr/>
        </p:nvSpPr>
        <p:spPr>
          <a:xfrm>
            <a:off x="207708" y="4656543"/>
            <a:ext cx="5888292" cy="140338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5F684B7E-7ED6-759A-B790-212DD0AB3469}"/>
              </a:ext>
            </a:extLst>
          </p:cNvPr>
          <p:cNvSpPr/>
          <p:nvPr/>
        </p:nvSpPr>
        <p:spPr>
          <a:xfrm>
            <a:off x="8770371"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A2DAD82A-8EA6-27D4-B9C6-1E4F01AF88DD}"/>
              </a:ext>
            </a:extLst>
          </p:cNvPr>
          <p:cNvSpPr/>
          <p:nvPr/>
        </p:nvSpPr>
        <p:spPr>
          <a:xfrm>
            <a:off x="10920050"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82802D7D-E262-63C7-F45A-8502E92BF11B}"/>
              </a:ext>
            </a:extLst>
          </p:cNvPr>
          <p:cNvSpPr/>
          <p:nvPr/>
        </p:nvSpPr>
        <p:spPr>
          <a:xfrm>
            <a:off x="8191500" y="1354880"/>
            <a:ext cx="3409613" cy="2747014"/>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hlinkClick r:id="rId18" action="ppaction://hlinksldjump"/>
            <a:extLst>
              <a:ext uri="{FF2B5EF4-FFF2-40B4-BE49-F238E27FC236}">
                <a16:creationId xmlns:a16="http://schemas.microsoft.com/office/drawing/2014/main" id="{091DD592-4ECB-D697-34A6-9C2365E5BE6B}"/>
              </a:ext>
            </a:extLst>
          </p:cNvPr>
          <p:cNvSpPr/>
          <p:nvPr/>
        </p:nvSpPr>
        <p:spPr>
          <a:xfrm>
            <a:off x="-5263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585359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49DCC2-E72C-1B75-6782-730670BB0DB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EA6D80-0EDE-E825-3001-9CDD8CEBB50B}"/>
              </a:ext>
            </a:extLst>
          </p:cNvPr>
          <p:cNvPicPr>
            <a:picLocks noChangeAspect="1"/>
          </p:cNvPicPr>
          <p:nvPr/>
        </p:nvPicPr>
        <p:blipFill>
          <a:blip r:embed="rId2">
            <a:alphaModFix amt="40000"/>
          </a:blip>
          <a:stretch>
            <a:fillRect/>
          </a:stretch>
        </p:blipFill>
        <p:spPr>
          <a:xfrm>
            <a:off x="-1654628" y="-465364"/>
            <a:ext cx="13846628" cy="7788728"/>
          </a:xfrm>
          <a:prstGeom prst="rect">
            <a:avLst/>
          </a:prstGeom>
        </p:spPr>
      </p:pic>
      <p:pic>
        <p:nvPicPr>
          <p:cNvPr id="3" name="Picture 2">
            <a:extLst>
              <a:ext uri="{FF2B5EF4-FFF2-40B4-BE49-F238E27FC236}">
                <a16:creationId xmlns:a16="http://schemas.microsoft.com/office/drawing/2014/main" id="{D840A6DC-545D-8703-7ECE-DD5CA48C1B59}"/>
              </a:ext>
            </a:extLst>
          </p:cNvPr>
          <p:cNvPicPr>
            <a:picLocks noChangeAspect="1"/>
          </p:cNvPicPr>
          <p:nvPr/>
        </p:nvPicPr>
        <p:blipFill>
          <a:blip r:embed="rId2">
            <a:alphaModFix amt="40000"/>
          </a:blip>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E5CA7383-048D-9F8A-1DA2-471689965B94}"/>
              </a:ext>
            </a:extLst>
          </p:cNvPr>
          <p:cNvPicPr>
            <a:picLocks noChangeAspect="1"/>
          </p:cNvPicPr>
          <p:nvPr/>
        </p:nvPicPr>
        <p:blipFill>
          <a:blip r:embed="rId3"/>
          <a:stretch>
            <a:fillRect/>
          </a:stretch>
        </p:blipFill>
        <p:spPr>
          <a:xfrm>
            <a:off x="255119" y="147942"/>
            <a:ext cx="9239250" cy="8477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8" name="Picture 7">
            <a:extLst>
              <a:ext uri="{FF2B5EF4-FFF2-40B4-BE49-F238E27FC236}">
                <a16:creationId xmlns:a16="http://schemas.microsoft.com/office/drawing/2014/main" id="{C87F20DD-1161-3A06-7FF8-B6034930D6B7}"/>
              </a:ext>
            </a:extLst>
          </p:cNvPr>
          <p:cNvPicPr>
            <a:picLocks noChangeAspect="1"/>
          </p:cNvPicPr>
          <p:nvPr/>
        </p:nvPicPr>
        <p:blipFill>
          <a:blip r:embed="rId4"/>
          <a:stretch>
            <a:fillRect/>
          </a:stretch>
        </p:blipFill>
        <p:spPr>
          <a:xfrm>
            <a:off x="255891" y="1134011"/>
            <a:ext cx="6353175" cy="8572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0" name="Picture 9">
            <a:extLst>
              <a:ext uri="{FF2B5EF4-FFF2-40B4-BE49-F238E27FC236}">
                <a16:creationId xmlns:a16="http://schemas.microsoft.com/office/drawing/2014/main" id="{D2179121-9265-266E-096B-DEED20BE3783}"/>
              </a:ext>
            </a:extLst>
          </p:cNvPr>
          <p:cNvPicPr>
            <a:picLocks noChangeAspect="1"/>
          </p:cNvPicPr>
          <p:nvPr/>
        </p:nvPicPr>
        <p:blipFill>
          <a:blip r:embed="rId5"/>
          <a:stretch>
            <a:fillRect/>
          </a:stretch>
        </p:blipFill>
        <p:spPr>
          <a:xfrm>
            <a:off x="255119" y="2129605"/>
            <a:ext cx="4610100" cy="83820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2" name="Picture 11">
            <a:extLst>
              <a:ext uri="{FF2B5EF4-FFF2-40B4-BE49-F238E27FC236}">
                <a16:creationId xmlns:a16="http://schemas.microsoft.com/office/drawing/2014/main" id="{C6C2EAF0-84A8-ED59-1304-1AB4584E0517}"/>
              </a:ext>
            </a:extLst>
          </p:cNvPr>
          <p:cNvPicPr>
            <a:picLocks noChangeAspect="1"/>
          </p:cNvPicPr>
          <p:nvPr/>
        </p:nvPicPr>
        <p:blipFill>
          <a:blip r:embed="rId6"/>
          <a:stretch>
            <a:fillRect/>
          </a:stretch>
        </p:blipFill>
        <p:spPr>
          <a:xfrm>
            <a:off x="255119" y="3106148"/>
            <a:ext cx="4610100" cy="8096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4" name="Picture 13">
            <a:extLst>
              <a:ext uri="{FF2B5EF4-FFF2-40B4-BE49-F238E27FC236}">
                <a16:creationId xmlns:a16="http://schemas.microsoft.com/office/drawing/2014/main" id="{E829AB03-42E7-18CE-BA1D-515AE4529AFB}"/>
              </a:ext>
            </a:extLst>
          </p:cNvPr>
          <p:cNvPicPr>
            <a:picLocks noChangeAspect="1"/>
          </p:cNvPicPr>
          <p:nvPr/>
        </p:nvPicPr>
        <p:blipFill>
          <a:blip r:embed="rId7"/>
          <a:srcRect r="21222" b="42447"/>
          <a:stretch>
            <a:fillRect/>
          </a:stretch>
        </p:blipFill>
        <p:spPr>
          <a:xfrm>
            <a:off x="220662" y="4656543"/>
            <a:ext cx="5875338" cy="1403383"/>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6" name="Picture 15">
            <a:extLst>
              <a:ext uri="{FF2B5EF4-FFF2-40B4-BE49-F238E27FC236}">
                <a16:creationId xmlns:a16="http://schemas.microsoft.com/office/drawing/2014/main" id="{81AC1272-C090-DBB8-2F2C-7B5B982AF2D3}"/>
              </a:ext>
            </a:extLst>
          </p:cNvPr>
          <p:cNvPicPr>
            <a:picLocks noChangeAspect="1"/>
          </p:cNvPicPr>
          <p:nvPr/>
        </p:nvPicPr>
        <p:blipFill>
          <a:blip r:embed="rId8"/>
          <a:srcRect t="32751" r="71621" b="44731"/>
          <a:stretch>
            <a:fillRect/>
          </a:stretch>
        </p:blipFill>
        <p:spPr>
          <a:xfrm>
            <a:off x="8300700" y="2873542"/>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8" name="Picture 17">
            <a:extLst>
              <a:ext uri="{FF2B5EF4-FFF2-40B4-BE49-F238E27FC236}">
                <a16:creationId xmlns:a16="http://schemas.microsoft.com/office/drawing/2014/main" id="{6E3E3FD6-CB00-A19D-990B-D85AA1133EA1}"/>
              </a:ext>
            </a:extLst>
          </p:cNvPr>
          <p:cNvPicPr>
            <a:picLocks noChangeAspect="1"/>
          </p:cNvPicPr>
          <p:nvPr/>
        </p:nvPicPr>
        <p:blipFill>
          <a:blip r:embed="rId9"/>
          <a:srcRect t="36376" r="71528" b="39860"/>
          <a:stretch>
            <a:fillRect/>
          </a:stretch>
        </p:blipFill>
        <p:spPr>
          <a:xfrm>
            <a:off x="8300700" y="2136360"/>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9" name="Picture 18">
            <a:extLst>
              <a:ext uri="{FF2B5EF4-FFF2-40B4-BE49-F238E27FC236}">
                <a16:creationId xmlns:a16="http://schemas.microsoft.com/office/drawing/2014/main" id="{B97CCA0B-D60D-FA0D-539D-741D6771D040}"/>
              </a:ext>
            </a:extLst>
          </p:cNvPr>
          <p:cNvPicPr>
            <a:picLocks noChangeAspect="1"/>
          </p:cNvPicPr>
          <p:nvPr/>
        </p:nvPicPr>
        <p:blipFill>
          <a:blip r:embed="rId10"/>
          <a:srcRect t="36376" r="71691" b="39860"/>
          <a:stretch>
            <a:fillRect/>
          </a:stretch>
        </p:blipFill>
        <p:spPr>
          <a:xfrm>
            <a:off x="8300700" y="3610725"/>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0" name="Picture 19">
            <a:extLst>
              <a:ext uri="{FF2B5EF4-FFF2-40B4-BE49-F238E27FC236}">
                <a16:creationId xmlns:a16="http://schemas.microsoft.com/office/drawing/2014/main" id="{53796C2C-2670-F12C-FEB8-286C039D37BC}"/>
              </a:ext>
            </a:extLst>
          </p:cNvPr>
          <p:cNvPicPr>
            <a:picLocks noChangeAspect="1"/>
          </p:cNvPicPr>
          <p:nvPr/>
        </p:nvPicPr>
        <p:blipFill>
          <a:blip r:embed="rId11"/>
          <a:srcRect t="27881" r="71528" b="52949"/>
          <a:stretch>
            <a:fillRect/>
          </a:stretch>
        </p:blipFill>
        <p:spPr>
          <a:xfrm>
            <a:off x="8300700" y="1399178"/>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1" name="Picture 20" descr="A green square with white x on it&#10;&#10;AI-generated content may be incorrect.">
            <a:hlinkClick r:id="rId12" action="ppaction://hlinksldjump"/>
            <a:extLst>
              <a:ext uri="{FF2B5EF4-FFF2-40B4-BE49-F238E27FC236}">
                <a16:creationId xmlns:a16="http://schemas.microsoft.com/office/drawing/2014/main" id="{B8005077-E7B4-3D54-B8D5-08B9B4BDA1E4}"/>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40723"/>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descr="A screenshot of a computer&#10;&#10;AI-generated content may be incorrect.">
            <a:hlinkClick r:id="rId14" action="ppaction://hlinksldjump"/>
            <a:extLst>
              <a:ext uri="{FF2B5EF4-FFF2-40B4-BE49-F238E27FC236}">
                <a16:creationId xmlns:a16="http://schemas.microsoft.com/office/drawing/2014/main" id="{AEB2EC2B-000A-0B17-B480-C17A0BA683D4}"/>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39102"/>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Picture 22" descr="A logo with orange and black text&#10;&#10;AI-generated content may be incorrect.">
            <a:hlinkClick r:id="rId16" action="ppaction://hlinksldjump"/>
            <a:extLst>
              <a:ext uri="{FF2B5EF4-FFF2-40B4-BE49-F238E27FC236}">
                <a16:creationId xmlns:a16="http://schemas.microsoft.com/office/drawing/2014/main" id="{03F743FD-8FD8-AF5C-5C33-CA18A4943BFD}"/>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39102"/>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4" name="TextBox 23">
            <a:extLst>
              <a:ext uri="{FF2B5EF4-FFF2-40B4-BE49-F238E27FC236}">
                <a16:creationId xmlns:a16="http://schemas.microsoft.com/office/drawing/2014/main" id="{456D55E7-38F7-AE57-C51A-6C98F5D4E71A}"/>
              </a:ext>
            </a:extLst>
          </p:cNvPr>
          <p:cNvSpPr txBox="1"/>
          <p:nvPr/>
        </p:nvSpPr>
        <p:spPr>
          <a:xfrm>
            <a:off x="220662" y="6176880"/>
            <a:ext cx="6078241" cy="400110"/>
          </a:xfrm>
          <a:prstGeom prst="rect">
            <a:avLst/>
          </a:prstGeom>
          <a:noFill/>
        </p:spPr>
        <p:txBody>
          <a:bodyPr wrap="square" rtlCol="0">
            <a:spAutoFit/>
          </a:bodyPr>
          <a:lstStyle/>
          <a:p>
            <a:r>
              <a:rPr lang="en-US" sz="2000" b="1" dirty="0"/>
              <a:t>Change table’s and column’s names respectively</a:t>
            </a:r>
          </a:p>
        </p:txBody>
      </p:sp>
      <p:sp>
        <p:nvSpPr>
          <p:cNvPr id="15" name="Oval 14">
            <a:extLst>
              <a:ext uri="{FF2B5EF4-FFF2-40B4-BE49-F238E27FC236}">
                <a16:creationId xmlns:a16="http://schemas.microsoft.com/office/drawing/2014/main" id="{A6909946-ADB3-2FC0-7C91-7D2771E1FB73}"/>
              </a:ext>
            </a:extLst>
          </p:cNvPr>
          <p:cNvSpPr/>
          <p:nvPr/>
        </p:nvSpPr>
        <p:spPr>
          <a:xfrm>
            <a:off x="6589643" y="533910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0A61591-78D8-33B6-8B55-57636CB9CAF2}"/>
              </a:ext>
            </a:extLst>
          </p:cNvPr>
          <p:cNvSpPr/>
          <p:nvPr/>
        </p:nvSpPr>
        <p:spPr>
          <a:xfrm>
            <a:off x="10920050" y="533910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9F58FCCD-DEF9-DFA2-13B9-62B246029AF0}"/>
              </a:ext>
            </a:extLst>
          </p:cNvPr>
          <p:cNvSpPr/>
          <p:nvPr/>
        </p:nvSpPr>
        <p:spPr>
          <a:xfrm>
            <a:off x="207707" y="127933"/>
            <a:ext cx="9286661" cy="914097"/>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E2EB9CC-0336-DA8E-F54C-A5E9A2805956}"/>
              </a:ext>
            </a:extLst>
          </p:cNvPr>
          <p:cNvSpPr/>
          <p:nvPr/>
        </p:nvSpPr>
        <p:spPr>
          <a:xfrm>
            <a:off x="207963" y="1042030"/>
            <a:ext cx="6388404" cy="97062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675D0B5E-276B-3741-5CAD-BDD8A5A6985A}"/>
              </a:ext>
            </a:extLst>
          </p:cNvPr>
          <p:cNvSpPr/>
          <p:nvPr/>
        </p:nvSpPr>
        <p:spPr>
          <a:xfrm>
            <a:off x="192868" y="2007239"/>
            <a:ext cx="4757737" cy="192113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9EEB3161-E2A0-CBD1-FEC0-B8796FDE321A}"/>
              </a:ext>
            </a:extLst>
          </p:cNvPr>
          <p:cNvSpPr/>
          <p:nvPr/>
        </p:nvSpPr>
        <p:spPr>
          <a:xfrm>
            <a:off x="8191500" y="1354880"/>
            <a:ext cx="3409613" cy="2747014"/>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hlinkClick r:id="rId18" action="ppaction://hlinksldjump"/>
            <a:extLst>
              <a:ext uri="{FF2B5EF4-FFF2-40B4-BE49-F238E27FC236}">
                <a16:creationId xmlns:a16="http://schemas.microsoft.com/office/drawing/2014/main" id="{289EA024-BF48-13D6-7D80-55069E0FFD8F}"/>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918121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A0D5C8-F30B-8429-973B-F8507A573B6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C4022E-D35D-3833-D6FE-CABE06B099B8}"/>
              </a:ext>
            </a:extLst>
          </p:cNvPr>
          <p:cNvPicPr>
            <a:picLocks noChangeAspect="1"/>
          </p:cNvPicPr>
          <p:nvPr/>
        </p:nvPicPr>
        <p:blipFill>
          <a:blip r:embed="rId2">
            <a:alphaModFix amt="40000"/>
          </a:blip>
          <a:stretch>
            <a:fillRect/>
          </a:stretch>
        </p:blipFill>
        <p:spPr>
          <a:xfrm>
            <a:off x="-1654628" y="-465364"/>
            <a:ext cx="13846628" cy="7788728"/>
          </a:xfrm>
          <a:prstGeom prst="rect">
            <a:avLst/>
          </a:prstGeom>
        </p:spPr>
      </p:pic>
      <p:pic>
        <p:nvPicPr>
          <p:cNvPr id="3" name="Picture 2">
            <a:extLst>
              <a:ext uri="{FF2B5EF4-FFF2-40B4-BE49-F238E27FC236}">
                <a16:creationId xmlns:a16="http://schemas.microsoft.com/office/drawing/2014/main" id="{0974F873-FB09-3F70-3FF6-1807FED73922}"/>
              </a:ext>
            </a:extLst>
          </p:cNvPr>
          <p:cNvPicPr>
            <a:picLocks noChangeAspect="1"/>
          </p:cNvPicPr>
          <p:nvPr/>
        </p:nvPicPr>
        <p:blipFill>
          <a:blip r:embed="rId2">
            <a:alphaModFix amt="40000"/>
          </a:blip>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9EC25DF1-2422-8FEA-F938-078673ED3D71}"/>
              </a:ext>
            </a:extLst>
          </p:cNvPr>
          <p:cNvPicPr>
            <a:picLocks noChangeAspect="1"/>
          </p:cNvPicPr>
          <p:nvPr/>
        </p:nvPicPr>
        <p:blipFill>
          <a:blip r:embed="rId3"/>
          <a:stretch>
            <a:fillRect/>
          </a:stretch>
        </p:blipFill>
        <p:spPr>
          <a:xfrm>
            <a:off x="255119" y="147942"/>
            <a:ext cx="9239250" cy="8477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8" name="Picture 7">
            <a:extLst>
              <a:ext uri="{FF2B5EF4-FFF2-40B4-BE49-F238E27FC236}">
                <a16:creationId xmlns:a16="http://schemas.microsoft.com/office/drawing/2014/main" id="{79E3B542-D89F-9F58-3E93-578C2B4B6FC4}"/>
              </a:ext>
            </a:extLst>
          </p:cNvPr>
          <p:cNvPicPr>
            <a:picLocks noChangeAspect="1"/>
          </p:cNvPicPr>
          <p:nvPr/>
        </p:nvPicPr>
        <p:blipFill>
          <a:blip r:embed="rId4"/>
          <a:stretch>
            <a:fillRect/>
          </a:stretch>
        </p:blipFill>
        <p:spPr>
          <a:xfrm>
            <a:off x="255891" y="1134011"/>
            <a:ext cx="6353175" cy="8572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0" name="Picture 9">
            <a:extLst>
              <a:ext uri="{FF2B5EF4-FFF2-40B4-BE49-F238E27FC236}">
                <a16:creationId xmlns:a16="http://schemas.microsoft.com/office/drawing/2014/main" id="{750B25C9-83E0-D185-F9D5-C652B4A10DF0}"/>
              </a:ext>
            </a:extLst>
          </p:cNvPr>
          <p:cNvPicPr>
            <a:picLocks noChangeAspect="1"/>
          </p:cNvPicPr>
          <p:nvPr/>
        </p:nvPicPr>
        <p:blipFill>
          <a:blip r:embed="rId5"/>
          <a:stretch>
            <a:fillRect/>
          </a:stretch>
        </p:blipFill>
        <p:spPr>
          <a:xfrm>
            <a:off x="255119" y="2129605"/>
            <a:ext cx="4610100" cy="83820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2" name="Picture 11">
            <a:extLst>
              <a:ext uri="{FF2B5EF4-FFF2-40B4-BE49-F238E27FC236}">
                <a16:creationId xmlns:a16="http://schemas.microsoft.com/office/drawing/2014/main" id="{DDA0AF50-A2D9-FE21-9F2A-67BB00A23074}"/>
              </a:ext>
            </a:extLst>
          </p:cNvPr>
          <p:cNvPicPr>
            <a:picLocks noChangeAspect="1"/>
          </p:cNvPicPr>
          <p:nvPr/>
        </p:nvPicPr>
        <p:blipFill>
          <a:blip r:embed="rId6"/>
          <a:stretch>
            <a:fillRect/>
          </a:stretch>
        </p:blipFill>
        <p:spPr>
          <a:xfrm>
            <a:off x="255119" y="3106148"/>
            <a:ext cx="4610100" cy="8096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4" name="Picture 13">
            <a:extLst>
              <a:ext uri="{FF2B5EF4-FFF2-40B4-BE49-F238E27FC236}">
                <a16:creationId xmlns:a16="http://schemas.microsoft.com/office/drawing/2014/main" id="{28C3FC2C-818C-03F3-E453-47B58953C87A}"/>
              </a:ext>
            </a:extLst>
          </p:cNvPr>
          <p:cNvPicPr>
            <a:picLocks noChangeAspect="1"/>
          </p:cNvPicPr>
          <p:nvPr/>
        </p:nvPicPr>
        <p:blipFill>
          <a:blip r:embed="rId7"/>
          <a:srcRect r="21222" b="42447"/>
          <a:stretch>
            <a:fillRect/>
          </a:stretch>
        </p:blipFill>
        <p:spPr>
          <a:xfrm>
            <a:off x="220662" y="4656543"/>
            <a:ext cx="5875338" cy="1403383"/>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6" name="Picture 15">
            <a:extLst>
              <a:ext uri="{FF2B5EF4-FFF2-40B4-BE49-F238E27FC236}">
                <a16:creationId xmlns:a16="http://schemas.microsoft.com/office/drawing/2014/main" id="{4B4B8FB5-86C9-B8CA-4738-688C373F8527}"/>
              </a:ext>
            </a:extLst>
          </p:cNvPr>
          <p:cNvPicPr>
            <a:picLocks noChangeAspect="1"/>
          </p:cNvPicPr>
          <p:nvPr/>
        </p:nvPicPr>
        <p:blipFill>
          <a:blip r:embed="rId8"/>
          <a:srcRect t="32751" r="71621" b="44731"/>
          <a:stretch>
            <a:fillRect/>
          </a:stretch>
        </p:blipFill>
        <p:spPr>
          <a:xfrm>
            <a:off x="8300700" y="2873542"/>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8" name="Picture 17">
            <a:extLst>
              <a:ext uri="{FF2B5EF4-FFF2-40B4-BE49-F238E27FC236}">
                <a16:creationId xmlns:a16="http://schemas.microsoft.com/office/drawing/2014/main" id="{FEAF2C49-8405-C88A-6F42-1BB3A47AA20C}"/>
              </a:ext>
            </a:extLst>
          </p:cNvPr>
          <p:cNvPicPr>
            <a:picLocks noChangeAspect="1"/>
          </p:cNvPicPr>
          <p:nvPr/>
        </p:nvPicPr>
        <p:blipFill>
          <a:blip r:embed="rId9"/>
          <a:srcRect t="36376" r="71528" b="39860"/>
          <a:stretch>
            <a:fillRect/>
          </a:stretch>
        </p:blipFill>
        <p:spPr>
          <a:xfrm>
            <a:off x="8300700" y="2136360"/>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19" name="Picture 18">
            <a:extLst>
              <a:ext uri="{FF2B5EF4-FFF2-40B4-BE49-F238E27FC236}">
                <a16:creationId xmlns:a16="http://schemas.microsoft.com/office/drawing/2014/main" id="{34C3A09C-9778-9383-C728-F13DE329CD7A}"/>
              </a:ext>
            </a:extLst>
          </p:cNvPr>
          <p:cNvPicPr>
            <a:picLocks noChangeAspect="1"/>
          </p:cNvPicPr>
          <p:nvPr/>
        </p:nvPicPr>
        <p:blipFill>
          <a:blip r:embed="rId10"/>
          <a:srcRect t="36376" r="71691" b="39860"/>
          <a:stretch>
            <a:fillRect/>
          </a:stretch>
        </p:blipFill>
        <p:spPr>
          <a:xfrm>
            <a:off x="8300700" y="3610725"/>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0" name="Picture 19">
            <a:extLst>
              <a:ext uri="{FF2B5EF4-FFF2-40B4-BE49-F238E27FC236}">
                <a16:creationId xmlns:a16="http://schemas.microsoft.com/office/drawing/2014/main" id="{B3C32A54-9DCE-A721-382B-028D1A96A9E5}"/>
              </a:ext>
            </a:extLst>
          </p:cNvPr>
          <p:cNvPicPr>
            <a:picLocks noChangeAspect="1"/>
          </p:cNvPicPr>
          <p:nvPr/>
        </p:nvPicPr>
        <p:blipFill>
          <a:blip r:embed="rId11"/>
          <a:srcRect t="27881" r="71528" b="52949"/>
          <a:stretch>
            <a:fillRect/>
          </a:stretch>
        </p:blipFill>
        <p:spPr>
          <a:xfrm>
            <a:off x="8300700" y="1399178"/>
            <a:ext cx="3300413" cy="49116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1" name="Picture 20" descr="A green square with white x on it&#10;&#10;AI-generated content may be incorrect.">
            <a:hlinkClick r:id="rId12" action="ppaction://hlinksldjump"/>
            <a:extLst>
              <a:ext uri="{FF2B5EF4-FFF2-40B4-BE49-F238E27FC236}">
                <a16:creationId xmlns:a16="http://schemas.microsoft.com/office/drawing/2014/main" id="{132B46BE-B00F-FF1D-6FDD-38310669DA1D}"/>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39067"/>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descr="A screenshot of a computer&#10;&#10;AI-generated content may be incorrect.">
            <a:hlinkClick r:id="rId14" action="ppaction://hlinksldjump"/>
            <a:extLst>
              <a:ext uri="{FF2B5EF4-FFF2-40B4-BE49-F238E27FC236}">
                <a16:creationId xmlns:a16="http://schemas.microsoft.com/office/drawing/2014/main" id="{9786095C-BCC6-F421-2392-5046CB561F6E}"/>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37446"/>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Picture 22" descr="A logo with orange and black text&#10;&#10;AI-generated content may be incorrect.">
            <a:hlinkClick r:id="rId16" action="ppaction://hlinksldjump"/>
            <a:extLst>
              <a:ext uri="{FF2B5EF4-FFF2-40B4-BE49-F238E27FC236}">
                <a16:creationId xmlns:a16="http://schemas.microsoft.com/office/drawing/2014/main" id="{FFB3E271-231F-4192-2A39-8E497D9A88C5}"/>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37446"/>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5" name="Rectangle 14">
            <a:extLst>
              <a:ext uri="{FF2B5EF4-FFF2-40B4-BE49-F238E27FC236}">
                <a16:creationId xmlns:a16="http://schemas.microsoft.com/office/drawing/2014/main" id="{BFFCD8B7-0C8A-ADC9-A754-70CD0BCA493B}"/>
              </a:ext>
            </a:extLst>
          </p:cNvPr>
          <p:cNvSpPr/>
          <p:nvPr/>
        </p:nvSpPr>
        <p:spPr>
          <a:xfrm>
            <a:off x="207707" y="127933"/>
            <a:ext cx="9286661" cy="914097"/>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E92DB0A-E6D6-E84C-9517-5483F5A2AEFB}"/>
              </a:ext>
            </a:extLst>
          </p:cNvPr>
          <p:cNvSpPr/>
          <p:nvPr/>
        </p:nvSpPr>
        <p:spPr>
          <a:xfrm>
            <a:off x="207963" y="1042030"/>
            <a:ext cx="6388404" cy="97062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F398B85-712F-312E-2B67-D0DC2088527A}"/>
              </a:ext>
            </a:extLst>
          </p:cNvPr>
          <p:cNvSpPr/>
          <p:nvPr/>
        </p:nvSpPr>
        <p:spPr>
          <a:xfrm>
            <a:off x="207962" y="1994642"/>
            <a:ext cx="4757737" cy="192113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EDE6FC87-C5C6-7ADB-E64A-242C7C437F82}"/>
              </a:ext>
            </a:extLst>
          </p:cNvPr>
          <p:cNvSpPr/>
          <p:nvPr/>
        </p:nvSpPr>
        <p:spPr>
          <a:xfrm>
            <a:off x="6589643" y="5337445"/>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1F206232-C08F-56AF-9153-8D247D178F3A}"/>
              </a:ext>
            </a:extLst>
          </p:cNvPr>
          <p:cNvSpPr/>
          <p:nvPr/>
        </p:nvSpPr>
        <p:spPr>
          <a:xfrm>
            <a:off x="8751612" y="5337445"/>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CB4FA960-3D8A-7A2C-5335-E1CE3BCB8C5D}"/>
              </a:ext>
            </a:extLst>
          </p:cNvPr>
          <p:cNvSpPr/>
          <p:nvPr/>
        </p:nvSpPr>
        <p:spPr>
          <a:xfrm>
            <a:off x="207708" y="4656543"/>
            <a:ext cx="5888292" cy="140338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hlinkClick r:id="rId18" action="ppaction://hlinksldjump"/>
            <a:extLst>
              <a:ext uri="{FF2B5EF4-FFF2-40B4-BE49-F238E27FC236}">
                <a16:creationId xmlns:a16="http://schemas.microsoft.com/office/drawing/2014/main" id="{E0DEC89E-E5E5-692D-DA24-C6913354C31C}"/>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7033352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5A55-78B8-887D-70D9-D93150785CB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98FF5F6-478E-D545-55D7-9DD625FC183F}"/>
              </a:ext>
            </a:extLst>
          </p:cNvPr>
          <p:cNvPicPr>
            <a:picLocks noChangeAspect="1"/>
          </p:cNvPicPr>
          <p:nvPr/>
        </p:nvPicPr>
        <p:blipFill>
          <a:blip r:embed="rId2">
            <a:alphaModFix amt="40000"/>
          </a:blip>
          <a:stretch>
            <a:fillRect/>
          </a:stretch>
        </p:blipFill>
        <p:spPr>
          <a:xfrm>
            <a:off x="-73663" y="0"/>
            <a:ext cx="13846628" cy="7788728"/>
          </a:xfrm>
          <a:prstGeom prst="rect">
            <a:avLst/>
          </a:prstGeom>
        </p:spPr>
      </p:pic>
      <p:sp>
        <p:nvSpPr>
          <p:cNvPr id="30" name="TextBox 29">
            <a:extLst>
              <a:ext uri="{FF2B5EF4-FFF2-40B4-BE49-F238E27FC236}">
                <a16:creationId xmlns:a16="http://schemas.microsoft.com/office/drawing/2014/main" id="{41E04340-0413-D0A4-C4FC-1AC2271B2C24}"/>
              </a:ext>
            </a:extLst>
          </p:cNvPr>
          <p:cNvSpPr txBox="1"/>
          <p:nvPr/>
        </p:nvSpPr>
        <p:spPr>
          <a:xfrm>
            <a:off x="4340552" y="681112"/>
            <a:ext cx="7707536" cy="4124206"/>
          </a:xfrm>
          <a:prstGeom prst="rect">
            <a:avLst/>
          </a:prstGeom>
          <a:noFill/>
        </p:spPr>
        <p:txBody>
          <a:bodyPr wrap="square" rtlCol="0">
            <a:spAutoFit/>
          </a:bodyPr>
          <a:lstStyle/>
          <a:p>
            <a:pPr lvl="1"/>
            <a:r>
              <a:rPr lang="en-US" sz="2800" b="1" dirty="0"/>
              <a:t>Why?</a:t>
            </a:r>
          </a:p>
          <a:p>
            <a:endParaRPr lang="en-US" dirty="0"/>
          </a:p>
          <a:p>
            <a:pPr lvl="1" algn="just"/>
            <a:r>
              <a:rPr lang="en-US" sz="2400" dirty="0"/>
              <a:t>Duplicate entries can inflate totals, misrepresent downtime, and produce misleading KPIs. Removing them ensures the dataset is accurate, consistent, and reflects true production activity. By confirming that no repeated rows exist, especially for batches, downtime factors, or timestamps, we can then guarantee that all calculations such as total downtime, number of events, and performance metrics remain reliable and free from artificial distortions.</a:t>
            </a:r>
            <a:endParaRPr lang="en-US" sz="2000" dirty="0"/>
          </a:p>
        </p:txBody>
      </p:sp>
      <p:grpSp>
        <p:nvGrpSpPr>
          <p:cNvPr id="21" name="!!Group 5">
            <a:extLst>
              <a:ext uri="{FF2B5EF4-FFF2-40B4-BE49-F238E27FC236}">
                <a16:creationId xmlns:a16="http://schemas.microsoft.com/office/drawing/2014/main" id="{13B82F22-43C1-6D4D-05AA-C190E6EB8C78}"/>
              </a:ext>
            </a:extLst>
          </p:cNvPr>
          <p:cNvGrpSpPr/>
          <p:nvPr/>
        </p:nvGrpSpPr>
        <p:grpSpPr>
          <a:xfrm rot="18900000">
            <a:off x="-2982631" y="1061736"/>
            <a:ext cx="10118160" cy="10118160"/>
            <a:chOff x="2176270" y="1528942"/>
            <a:chExt cx="3657600" cy="3657601"/>
          </a:xfrm>
        </p:grpSpPr>
        <p:sp>
          <p:nvSpPr>
            <p:cNvPr id="23" name="Freeform: Shape 22">
              <a:extLst>
                <a:ext uri="{FF2B5EF4-FFF2-40B4-BE49-F238E27FC236}">
                  <a16:creationId xmlns:a16="http://schemas.microsoft.com/office/drawing/2014/main" id="{042CE76B-545C-F879-AB47-87B67031313D}"/>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79F9256D-FABB-2017-08A1-189954A8A07B}"/>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257E11-03BB-50B2-24E0-915A9455B6EC}"/>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FEA3BE2-D752-38D8-2D4F-2E9BEEA07DD1}"/>
              </a:ext>
            </a:extLst>
          </p:cNvPr>
          <p:cNvSpPr txBox="1"/>
          <p:nvPr/>
        </p:nvSpPr>
        <p:spPr>
          <a:xfrm>
            <a:off x="240836" y="1546025"/>
            <a:ext cx="3072744" cy="400110"/>
          </a:xfrm>
          <a:prstGeom prst="rect">
            <a:avLst/>
          </a:prstGeom>
          <a:noFill/>
        </p:spPr>
        <p:txBody>
          <a:bodyPr wrap="square" rtlCol="0">
            <a:spAutoFit/>
          </a:bodyPr>
          <a:lstStyle/>
          <a:p>
            <a:pPr algn="ctr"/>
            <a:r>
              <a:rPr lang="en-US" sz="2000" b="1" dirty="0"/>
              <a:t>Removing Duplicates</a:t>
            </a:r>
          </a:p>
        </p:txBody>
      </p:sp>
      <p:sp>
        <p:nvSpPr>
          <p:cNvPr id="29" name="TextBox 28">
            <a:extLst>
              <a:ext uri="{FF2B5EF4-FFF2-40B4-BE49-F238E27FC236}">
                <a16:creationId xmlns:a16="http://schemas.microsoft.com/office/drawing/2014/main" id="{980ED578-A7F2-E41A-7642-3C2AD28240C0}"/>
              </a:ext>
            </a:extLst>
          </p:cNvPr>
          <p:cNvSpPr txBox="1"/>
          <p:nvPr/>
        </p:nvSpPr>
        <p:spPr>
          <a:xfrm>
            <a:off x="155259" y="2057383"/>
            <a:ext cx="3842369" cy="1477328"/>
          </a:xfrm>
          <a:prstGeom prst="rect">
            <a:avLst/>
          </a:prstGeom>
          <a:noFill/>
        </p:spPr>
        <p:txBody>
          <a:bodyPr wrap="square" rtlCol="0">
            <a:spAutoFit/>
          </a:bodyPr>
          <a:lstStyle/>
          <a:p>
            <a:pPr algn="ctr"/>
            <a:r>
              <a:rPr lang="en-US" dirty="0"/>
              <a:t>Duplicate records inflate counts, distort totals, and lead to inaccurate conclusions. Identifying and removing them ensures the dataset reflects real production activity.</a:t>
            </a:r>
          </a:p>
        </p:txBody>
      </p:sp>
      <p:sp>
        <p:nvSpPr>
          <p:cNvPr id="31" name="TextBox 30">
            <a:extLst>
              <a:ext uri="{FF2B5EF4-FFF2-40B4-BE49-F238E27FC236}">
                <a16:creationId xmlns:a16="http://schemas.microsoft.com/office/drawing/2014/main" id="{E084F2FE-9957-B599-E4D1-612398E2CEA6}"/>
              </a:ext>
            </a:extLst>
          </p:cNvPr>
          <p:cNvSpPr txBox="1"/>
          <p:nvPr/>
        </p:nvSpPr>
        <p:spPr>
          <a:xfrm>
            <a:off x="1000126" y="777836"/>
            <a:ext cx="2152637" cy="769441"/>
          </a:xfrm>
          <a:prstGeom prst="rect">
            <a:avLst/>
          </a:prstGeom>
          <a:noFill/>
        </p:spPr>
        <p:txBody>
          <a:bodyPr wrap="square" rtlCol="0">
            <a:spAutoFit/>
          </a:bodyPr>
          <a:lstStyle/>
          <a:p>
            <a:pPr algn="ctr"/>
            <a:r>
              <a:rPr lang="en-US" sz="4400" b="1" dirty="0">
                <a:latin typeface="+mj-lt"/>
              </a:rPr>
              <a:t>STEP 03</a:t>
            </a:r>
          </a:p>
        </p:txBody>
      </p:sp>
      <p:pic>
        <p:nvPicPr>
          <p:cNvPr id="32" name="Graphic 31" descr="Mop and bucket outline">
            <a:extLst>
              <a:ext uri="{FF2B5EF4-FFF2-40B4-BE49-F238E27FC236}">
                <a16:creationId xmlns:a16="http://schemas.microsoft.com/office/drawing/2014/main" id="{611FB884-E361-E1D2-1BE4-3CF04B6DA14F}"/>
              </a:ext>
            </a:extLst>
          </p:cNvPr>
          <p:cNvPicPr>
            <a:picLocks noChangeAspect="1"/>
          </p:cNvPicPr>
          <p:nvPr/>
        </p:nvPicPr>
        <p:blipFill>
          <a:blip r:embed="rId3">
            <a:extLst>
              <a:ext uri="{96DAC541-7B7A-43D3-8B79-37D633B846F1}">
                <asvg:svgBlip xmlns:asvg="http://schemas.microsoft.com/office/drawing/2016/SVG/main" r:embed="rId4"/>
              </a:ext>
            </a:extLst>
          </a:blip>
          <a:srcRect l="53755" t="28657" r="1551" b="-2604"/>
          <a:stretch>
            <a:fillRect/>
          </a:stretch>
        </p:blipFill>
        <p:spPr>
          <a:xfrm>
            <a:off x="3120327" y="1405637"/>
            <a:ext cx="411529" cy="680885"/>
          </a:xfrm>
          <a:prstGeom prst="rect">
            <a:avLst/>
          </a:prstGeom>
        </p:spPr>
      </p:pic>
      <p:pic>
        <p:nvPicPr>
          <p:cNvPr id="48" name="Picture 47" descr="A green square with white x on it&#10;&#10;AI-generated content may be incorrect.">
            <a:extLst>
              <a:ext uri="{FF2B5EF4-FFF2-40B4-BE49-F238E27FC236}">
                <a16:creationId xmlns:a16="http://schemas.microsoft.com/office/drawing/2014/main" id="{FE92E2AF-A07B-5E2C-E30A-F8096E9F91D7}"/>
              </a:ext>
            </a:extLst>
          </p:cNvPr>
          <p:cNvPicPr>
            <a:picLocks noChangeAspect="1"/>
          </p:cNvPicPr>
          <p:nvPr/>
        </p:nvPicPr>
        <p:blipFill>
          <a:blip r:embed="rId5">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9" name="Picture 48" descr="A screenshot of a computer&#10;&#10;AI-generated content may be incorrect.">
            <a:extLst>
              <a:ext uri="{FF2B5EF4-FFF2-40B4-BE49-F238E27FC236}">
                <a16:creationId xmlns:a16="http://schemas.microsoft.com/office/drawing/2014/main" id="{5E0DBE9E-4458-C02D-BC72-A593920F1C10}"/>
              </a:ext>
            </a:extLst>
          </p:cNvPr>
          <p:cNvPicPr>
            <a:picLocks noChangeAspect="1"/>
          </p:cNvPicPr>
          <p:nvPr/>
        </p:nvPicPr>
        <p:blipFill>
          <a:blip r:embed="rId6">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0" name="Picture 49" descr="A logo with orange and black text&#10;&#10;AI-generated content may be incorrect.">
            <a:extLst>
              <a:ext uri="{FF2B5EF4-FFF2-40B4-BE49-F238E27FC236}">
                <a16:creationId xmlns:a16="http://schemas.microsoft.com/office/drawing/2014/main" id="{70EB4B1C-1BD1-9A56-99D1-370209723A93}"/>
              </a:ext>
            </a:extLst>
          </p:cNvPr>
          <p:cNvPicPr>
            <a:picLocks noChangeAspect="1"/>
          </p:cNvPicPr>
          <p:nvPr/>
        </p:nvPicPr>
        <p:blipFill>
          <a:blip r:embed="rId7">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8509781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2A4C0-90E7-4BA4-3268-B48A8DD8EA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82FBC8-FBF3-AF3C-FE6C-8E2D5198FBD8}"/>
              </a:ext>
            </a:extLst>
          </p:cNvPr>
          <p:cNvPicPr>
            <a:picLocks noChangeAspect="1"/>
          </p:cNvPicPr>
          <p:nvPr/>
        </p:nvPicPr>
        <p:blipFill>
          <a:blip r:embed="rId2">
            <a:alphaModFix amt="40000"/>
          </a:blip>
          <a:stretch>
            <a:fillRect/>
          </a:stretch>
        </p:blipFill>
        <p:spPr>
          <a:xfrm>
            <a:off x="-73663" y="0"/>
            <a:ext cx="13846628" cy="7788728"/>
          </a:xfrm>
          <a:prstGeom prst="rect">
            <a:avLst/>
          </a:prstGeom>
        </p:spPr>
      </p:pic>
      <p:sp>
        <p:nvSpPr>
          <p:cNvPr id="28" name="TextBox 27">
            <a:extLst>
              <a:ext uri="{FF2B5EF4-FFF2-40B4-BE49-F238E27FC236}">
                <a16:creationId xmlns:a16="http://schemas.microsoft.com/office/drawing/2014/main" id="{22B759B0-120F-89EE-D898-CD8902A1D58B}"/>
              </a:ext>
            </a:extLst>
          </p:cNvPr>
          <p:cNvSpPr txBox="1"/>
          <p:nvPr/>
        </p:nvSpPr>
        <p:spPr>
          <a:xfrm>
            <a:off x="11917009" y="681112"/>
            <a:ext cx="7707536" cy="4124206"/>
          </a:xfrm>
          <a:prstGeom prst="rect">
            <a:avLst/>
          </a:prstGeom>
          <a:noFill/>
        </p:spPr>
        <p:txBody>
          <a:bodyPr wrap="square" rtlCol="0">
            <a:spAutoFit/>
          </a:bodyPr>
          <a:lstStyle/>
          <a:p>
            <a:pPr lvl="1"/>
            <a:r>
              <a:rPr lang="en-US" sz="2800" b="1" dirty="0"/>
              <a:t>Why?</a:t>
            </a:r>
          </a:p>
          <a:p>
            <a:endParaRPr lang="en-US" dirty="0"/>
          </a:p>
          <a:p>
            <a:pPr lvl="1"/>
            <a:r>
              <a:rPr lang="en-US" sz="2400" dirty="0"/>
              <a:t>Duplicate entries can inflate totals, misrepresent downtime, and produce misleading KPIs. Removing them ensures the dataset is accurate, consistent, and reflects true production activity. By confirming that no repeated rows exist, especially for batches, downtime factors, or timestamps, we can then guarantee that all calculations such as total downtime, number of events, and performance metrics remain reliable and free from artificial distortions.</a:t>
            </a:r>
            <a:endParaRPr lang="en-US" sz="2000" dirty="0"/>
          </a:p>
        </p:txBody>
      </p:sp>
      <p:grpSp>
        <p:nvGrpSpPr>
          <p:cNvPr id="2" name="!!Group 5">
            <a:extLst>
              <a:ext uri="{FF2B5EF4-FFF2-40B4-BE49-F238E27FC236}">
                <a16:creationId xmlns:a16="http://schemas.microsoft.com/office/drawing/2014/main" id="{6427D195-9B32-E12E-745B-3CBAB348DF17}"/>
              </a:ext>
            </a:extLst>
          </p:cNvPr>
          <p:cNvGrpSpPr/>
          <p:nvPr/>
        </p:nvGrpSpPr>
        <p:grpSpPr>
          <a:xfrm rot="18900000">
            <a:off x="-7729238" y="1061736"/>
            <a:ext cx="10118160" cy="10118160"/>
            <a:chOff x="2176270" y="1528942"/>
            <a:chExt cx="3657600" cy="3657601"/>
          </a:xfrm>
        </p:grpSpPr>
        <p:sp>
          <p:nvSpPr>
            <p:cNvPr id="11" name="Freeform: Shape 10">
              <a:extLst>
                <a:ext uri="{FF2B5EF4-FFF2-40B4-BE49-F238E27FC236}">
                  <a16:creationId xmlns:a16="http://schemas.microsoft.com/office/drawing/2014/main" id="{6EF4488F-051F-3E76-B060-774930B8A76B}"/>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950F4824-B759-CA8E-E036-0DBB20B3B900}"/>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EAFE4C51-F1FF-07BF-1C0B-F143CBE17497}"/>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E9224EC4-6D17-5E7F-9961-7529A5939BB7}"/>
              </a:ext>
            </a:extLst>
          </p:cNvPr>
          <p:cNvSpPr txBox="1"/>
          <p:nvPr/>
        </p:nvSpPr>
        <p:spPr>
          <a:xfrm>
            <a:off x="-4505771" y="1546025"/>
            <a:ext cx="3072744" cy="400110"/>
          </a:xfrm>
          <a:prstGeom prst="rect">
            <a:avLst/>
          </a:prstGeom>
          <a:noFill/>
        </p:spPr>
        <p:txBody>
          <a:bodyPr wrap="square" rtlCol="0">
            <a:spAutoFit/>
          </a:bodyPr>
          <a:lstStyle/>
          <a:p>
            <a:pPr algn="ctr"/>
            <a:r>
              <a:rPr lang="en-US" sz="2000" b="1" dirty="0"/>
              <a:t>Removing Duplicates</a:t>
            </a:r>
          </a:p>
        </p:txBody>
      </p:sp>
      <p:sp>
        <p:nvSpPr>
          <p:cNvPr id="17" name="TextBox 16">
            <a:extLst>
              <a:ext uri="{FF2B5EF4-FFF2-40B4-BE49-F238E27FC236}">
                <a16:creationId xmlns:a16="http://schemas.microsoft.com/office/drawing/2014/main" id="{B0D3E1AC-2ED1-AC39-6A24-530120E39905}"/>
              </a:ext>
            </a:extLst>
          </p:cNvPr>
          <p:cNvSpPr txBox="1"/>
          <p:nvPr/>
        </p:nvSpPr>
        <p:spPr>
          <a:xfrm>
            <a:off x="-4591348" y="2057383"/>
            <a:ext cx="3842369" cy="1477328"/>
          </a:xfrm>
          <a:prstGeom prst="rect">
            <a:avLst/>
          </a:prstGeom>
          <a:noFill/>
        </p:spPr>
        <p:txBody>
          <a:bodyPr wrap="square" rtlCol="0">
            <a:spAutoFit/>
          </a:bodyPr>
          <a:lstStyle/>
          <a:p>
            <a:pPr algn="ctr"/>
            <a:r>
              <a:rPr lang="en-US" dirty="0"/>
              <a:t>Duplicate records inflate counts, distort totals, and lead to inaccurate conclusions. Identifying and removing them ensures the dataset reflects real production activity.</a:t>
            </a:r>
          </a:p>
        </p:txBody>
      </p:sp>
      <p:sp>
        <p:nvSpPr>
          <p:cNvPr id="18" name="TextBox 17">
            <a:extLst>
              <a:ext uri="{FF2B5EF4-FFF2-40B4-BE49-F238E27FC236}">
                <a16:creationId xmlns:a16="http://schemas.microsoft.com/office/drawing/2014/main" id="{50D65893-482A-1D5C-7C30-A5EA8A5963B2}"/>
              </a:ext>
            </a:extLst>
          </p:cNvPr>
          <p:cNvSpPr txBox="1"/>
          <p:nvPr/>
        </p:nvSpPr>
        <p:spPr>
          <a:xfrm>
            <a:off x="-3746481" y="777836"/>
            <a:ext cx="2152637" cy="769441"/>
          </a:xfrm>
          <a:prstGeom prst="rect">
            <a:avLst/>
          </a:prstGeom>
          <a:noFill/>
        </p:spPr>
        <p:txBody>
          <a:bodyPr wrap="square" rtlCol="0">
            <a:spAutoFit/>
          </a:bodyPr>
          <a:lstStyle/>
          <a:p>
            <a:pPr algn="ctr"/>
            <a:r>
              <a:rPr lang="en-US" sz="4400" b="1" dirty="0">
                <a:latin typeface="+mj-lt"/>
              </a:rPr>
              <a:t>STEP 03</a:t>
            </a:r>
          </a:p>
        </p:txBody>
      </p:sp>
      <p:pic>
        <p:nvPicPr>
          <p:cNvPr id="19" name="Graphic 18" descr="Mop and bucket outline">
            <a:extLst>
              <a:ext uri="{FF2B5EF4-FFF2-40B4-BE49-F238E27FC236}">
                <a16:creationId xmlns:a16="http://schemas.microsoft.com/office/drawing/2014/main" id="{73350530-239E-7E82-B391-FE098F325D1E}"/>
              </a:ext>
            </a:extLst>
          </p:cNvPr>
          <p:cNvPicPr>
            <a:picLocks noChangeAspect="1"/>
          </p:cNvPicPr>
          <p:nvPr/>
        </p:nvPicPr>
        <p:blipFill>
          <a:blip r:embed="rId3">
            <a:extLst>
              <a:ext uri="{96DAC541-7B7A-43D3-8B79-37D633B846F1}">
                <asvg:svgBlip xmlns:asvg="http://schemas.microsoft.com/office/drawing/2016/SVG/main" r:embed="rId4"/>
              </a:ext>
            </a:extLst>
          </a:blip>
          <a:srcRect l="53755" t="28657" r="1551" b="-2604"/>
          <a:stretch>
            <a:fillRect/>
          </a:stretch>
        </p:blipFill>
        <p:spPr>
          <a:xfrm>
            <a:off x="-1626280" y="1405637"/>
            <a:ext cx="411529" cy="680885"/>
          </a:xfrm>
          <a:prstGeom prst="rect">
            <a:avLst/>
          </a:prstGeom>
        </p:spPr>
      </p:pic>
      <p:pic>
        <p:nvPicPr>
          <p:cNvPr id="20" name="Picture 19">
            <a:extLst>
              <a:ext uri="{FF2B5EF4-FFF2-40B4-BE49-F238E27FC236}">
                <a16:creationId xmlns:a16="http://schemas.microsoft.com/office/drawing/2014/main" id="{3867695A-DBC1-47D5-2FEE-47ABC0228D84}"/>
              </a:ext>
            </a:extLst>
          </p:cNvPr>
          <p:cNvPicPr>
            <a:picLocks noChangeAspect="1"/>
          </p:cNvPicPr>
          <p:nvPr/>
        </p:nvPicPr>
        <p:blipFill>
          <a:blip r:embed="rId5"/>
          <a:srcRect t="-1" r="71621" b="64356"/>
          <a:stretch>
            <a:fillRect/>
          </a:stretch>
        </p:blipFill>
        <p:spPr>
          <a:xfrm>
            <a:off x="7678449" y="3177068"/>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048D1382-B2FF-4B0F-2179-103F97D8F200}"/>
              </a:ext>
            </a:extLst>
          </p:cNvPr>
          <p:cNvPicPr>
            <a:picLocks noChangeAspect="1"/>
          </p:cNvPicPr>
          <p:nvPr/>
        </p:nvPicPr>
        <p:blipFill>
          <a:blip r:embed="rId6"/>
          <a:srcRect t="-2" r="71527" b="62386"/>
          <a:stretch>
            <a:fillRect/>
          </a:stretch>
        </p:blipFill>
        <p:spPr>
          <a:xfrm>
            <a:off x="7678449" y="4194941"/>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447CBD4D-6212-B64D-1F72-417FAFF8730B}"/>
              </a:ext>
            </a:extLst>
          </p:cNvPr>
          <p:cNvPicPr>
            <a:picLocks noChangeAspect="1"/>
          </p:cNvPicPr>
          <p:nvPr/>
        </p:nvPicPr>
        <p:blipFill>
          <a:blip r:embed="rId7"/>
          <a:srcRect t="2" r="71691" b="61975"/>
          <a:stretch>
            <a:fillRect/>
          </a:stretch>
        </p:blipFill>
        <p:spPr>
          <a:xfrm>
            <a:off x="7678449" y="1142158"/>
            <a:ext cx="3300413" cy="78588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B418CE20-B482-7D47-660C-A461F7AEBD15}"/>
              </a:ext>
            </a:extLst>
          </p:cNvPr>
          <p:cNvPicPr>
            <a:picLocks noChangeAspect="1"/>
          </p:cNvPicPr>
          <p:nvPr/>
        </p:nvPicPr>
        <p:blipFill>
          <a:blip r:embed="rId8"/>
          <a:srcRect l="-543" t="1000" r="72072" b="69015"/>
          <a:stretch>
            <a:fillRect/>
          </a:stretch>
        </p:blipFill>
        <p:spPr>
          <a:xfrm>
            <a:off x="7678449" y="2168412"/>
            <a:ext cx="3300413" cy="768291"/>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2" name="Picture 31">
            <a:extLst>
              <a:ext uri="{FF2B5EF4-FFF2-40B4-BE49-F238E27FC236}">
                <a16:creationId xmlns:a16="http://schemas.microsoft.com/office/drawing/2014/main" id="{33A6FFB8-A231-CD1C-2C5F-D0D0071B86A3}"/>
              </a:ext>
            </a:extLst>
          </p:cNvPr>
          <p:cNvPicPr>
            <a:picLocks noChangeAspect="1"/>
          </p:cNvPicPr>
          <p:nvPr/>
        </p:nvPicPr>
        <p:blipFill>
          <a:blip r:embed="rId9"/>
          <a:srcRect l="1" t="57135" r="34333"/>
          <a:stretch>
            <a:fillRect/>
          </a:stretch>
        </p:blipFill>
        <p:spPr>
          <a:xfrm>
            <a:off x="505563" y="4581294"/>
            <a:ext cx="4897437" cy="10452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3" name="Picture 32">
            <a:extLst>
              <a:ext uri="{FF2B5EF4-FFF2-40B4-BE49-F238E27FC236}">
                <a16:creationId xmlns:a16="http://schemas.microsoft.com/office/drawing/2014/main" id="{6D5A3F26-D2FA-462B-58E9-336D54F7A848}"/>
              </a:ext>
            </a:extLst>
          </p:cNvPr>
          <p:cNvPicPr>
            <a:picLocks noChangeAspect="1"/>
          </p:cNvPicPr>
          <p:nvPr/>
        </p:nvPicPr>
        <p:blipFill>
          <a:blip r:embed="rId10"/>
          <a:stretch>
            <a:fillRect/>
          </a:stretch>
        </p:blipFill>
        <p:spPr>
          <a:xfrm>
            <a:off x="515778" y="154573"/>
            <a:ext cx="9225736" cy="6286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8283ECF5-28CC-E336-BDF6-AD19A27706BF}"/>
              </a:ext>
            </a:extLst>
          </p:cNvPr>
          <p:cNvPicPr>
            <a:picLocks noChangeAspect="1"/>
          </p:cNvPicPr>
          <p:nvPr/>
        </p:nvPicPr>
        <p:blipFill>
          <a:blip r:embed="rId11"/>
          <a:stretch>
            <a:fillRect/>
          </a:stretch>
        </p:blipFill>
        <p:spPr>
          <a:xfrm>
            <a:off x="505563" y="1011150"/>
            <a:ext cx="6377283" cy="7429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5" name="Picture 34">
            <a:extLst>
              <a:ext uri="{FF2B5EF4-FFF2-40B4-BE49-F238E27FC236}">
                <a16:creationId xmlns:a16="http://schemas.microsoft.com/office/drawing/2014/main" id="{1181415A-D440-446E-0D40-5D8B31FEEA2E}"/>
              </a:ext>
            </a:extLst>
          </p:cNvPr>
          <p:cNvPicPr>
            <a:picLocks noChangeAspect="1"/>
          </p:cNvPicPr>
          <p:nvPr/>
        </p:nvPicPr>
        <p:blipFill>
          <a:blip r:embed="rId12"/>
          <a:stretch>
            <a:fillRect/>
          </a:stretch>
        </p:blipFill>
        <p:spPr>
          <a:xfrm>
            <a:off x="512010" y="1982027"/>
            <a:ext cx="4626989" cy="6953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6" name="Picture 35">
            <a:extLst>
              <a:ext uri="{FF2B5EF4-FFF2-40B4-BE49-F238E27FC236}">
                <a16:creationId xmlns:a16="http://schemas.microsoft.com/office/drawing/2014/main" id="{85CFC2A2-E144-EB70-50EE-5A00C71CF547}"/>
              </a:ext>
            </a:extLst>
          </p:cNvPr>
          <p:cNvPicPr>
            <a:picLocks noChangeAspect="1"/>
          </p:cNvPicPr>
          <p:nvPr/>
        </p:nvPicPr>
        <p:blipFill>
          <a:blip r:embed="rId13"/>
          <a:stretch>
            <a:fillRect/>
          </a:stretch>
        </p:blipFill>
        <p:spPr>
          <a:xfrm>
            <a:off x="505563" y="2905280"/>
            <a:ext cx="4596586" cy="6572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7" name="Picture 36" descr="A green square with white x on it&#10;&#10;AI-generated content may be incorrect.">
            <a:hlinkClick r:id="rId14" action="ppaction://hlinksldjump"/>
            <a:extLst>
              <a:ext uri="{FF2B5EF4-FFF2-40B4-BE49-F238E27FC236}">
                <a16:creationId xmlns:a16="http://schemas.microsoft.com/office/drawing/2014/main" id="{0F9A0AAC-9315-0022-0836-7A7AF8E3117E}"/>
              </a:ext>
            </a:extLst>
          </p:cNvPr>
          <p:cNvPicPr>
            <a:picLocks noChangeAspect="1"/>
          </p:cNvPicPr>
          <p:nvPr/>
        </p:nvPicPr>
        <p:blipFill>
          <a:blip r:embed="rId15">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8" name="Picture 37" descr="A screenshot of a computer&#10;&#10;AI-generated content may be incorrect.">
            <a:hlinkClick r:id="rId16" action="ppaction://hlinksldjump"/>
            <a:extLst>
              <a:ext uri="{FF2B5EF4-FFF2-40B4-BE49-F238E27FC236}">
                <a16:creationId xmlns:a16="http://schemas.microsoft.com/office/drawing/2014/main" id="{1EA277F1-8C92-3EAA-22CC-A98DD690EA74}"/>
              </a:ext>
            </a:extLst>
          </p:cNvPr>
          <p:cNvPicPr>
            <a:picLocks noChangeAspect="1"/>
          </p:cNvPicPr>
          <p:nvPr/>
        </p:nvPicPr>
        <p:blipFill>
          <a:blip r:embed="rId17">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9" name="Picture 38" descr="A logo with orange and black text&#10;&#10;AI-generated content may be incorrect.">
            <a:hlinkClick r:id="rId18" action="ppaction://hlinksldjump"/>
            <a:extLst>
              <a:ext uri="{FF2B5EF4-FFF2-40B4-BE49-F238E27FC236}">
                <a16:creationId xmlns:a16="http://schemas.microsoft.com/office/drawing/2014/main" id="{1683435C-D23A-72E1-243F-B3C93ABCB7D5}"/>
              </a:ext>
            </a:extLst>
          </p:cNvPr>
          <p:cNvPicPr>
            <a:picLocks noChangeAspect="1"/>
          </p:cNvPicPr>
          <p:nvPr/>
        </p:nvPicPr>
        <p:blipFill>
          <a:blip r:embed="rId19">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nvGrpSpPr>
          <p:cNvPr id="60" name="!!Group 6">
            <a:extLst>
              <a:ext uri="{FF2B5EF4-FFF2-40B4-BE49-F238E27FC236}">
                <a16:creationId xmlns:a16="http://schemas.microsoft.com/office/drawing/2014/main" id="{FD659F73-9D4F-7817-8D1E-0CEFF565D727}"/>
              </a:ext>
            </a:extLst>
          </p:cNvPr>
          <p:cNvGrpSpPr/>
          <p:nvPr/>
        </p:nvGrpSpPr>
        <p:grpSpPr>
          <a:xfrm rot="18900000">
            <a:off x="-2982632" y="8136491"/>
            <a:ext cx="10118160" cy="10118160"/>
            <a:chOff x="2176270" y="1528942"/>
            <a:chExt cx="3657600" cy="3657601"/>
          </a:xfrm>
        </p:grpSpPr>
        <p:sp>
          <p:nvSpPr>
            <p:cNvPr id="61" name="Freeform: Shape 60">
              <a:extLst>
                <a:ext uri="{FF2B5EF4-FFF2-40B4-BE49-F238E27FC236}">
                  <a16:creationId xmlns:a16="http://schemas.microsoft.com/office/drawing/2014/main" id="{0C1AD528-B9FB-02A1-9E5A-C514A17DA5B9}"/>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Oval 61">
              <a:extLst>
                <a:ext uri="{FF2B5EF4-FFF2-40B4-BE49-F238E27FC236}">
                  <a16:creationId xmlns:a16="http://schemas.microsoft.com/office/drawing/2014/main" id="{09B62FA4-85E8-1A7D-2631-CE7921DF33AC}"/>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CF57A316-B75C-538C-25F7-65416FA59FC6}"/>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17">
            <a:extLst>
              <a:ext uri="{FF2B5EF4-FFF2-40B4-BE49-F238E27FC236}">
                <a16:creationId xmlns:a16="http://schemas.microsoft.com/office/drawing/2014/main" id="{54D059A2-8662-BB8C-8384-2F27A3764F6E}"/>
              </a:ext>
            </a:extLst>
          </p:cNvPr>
          <p:cNvSpPr txBox="1"/>
          <p:nvPr/>
        </p:nvSpPr>
        <p:spPr>
          <a:xfrm>
            <a:off x="380548" y="8620780"/>
            <a:ext cx="2628536" cy="400110"/>
          </a:xfrm>
          <a:prstGeom prst="rect">
            <a:avLst/>
          </a:prstGeom>
          <a:noFill/>
        </p:spPr>
        <p:txBody>
          <a:bodyPr wrap="square" rtlCol="0">
            <a:spAutoFit/>
          </a:bodyPr>
          <a:lstStyle/>
          <a:p>
            <a:pPr algn="ctr"/>
            <a:r>
              <a:rPr lang="en-US" sz="2000" b="1" dirty="0"/>
              <a:t>Unpivoting Columns</a:t>
            </a:r>
          </a:p>
        </p:txBody>
      </p:sp>
      <p:sp>
        <p:nvSpPr>
          <p:cNvPr id="65" name="!!TextBox 14">
            <a:extLst>
              <a:ext uri="{FF2B5EF4-FFF2-40B4-BE49-F238E27FC236}">
                <a16:creationId xmlns:a16="http://schemas.microsoft.com/office/drawing/2014/main" id="{201BAD95-4448-4462-B08F-2D452CBBF7B8}"/>
              </a:ext>
            </a:extLst>
          </p:cNvPr>
          <p:cNvSpPr txBox="1"/>
          <p:nvPr/>
        </p:nvSpPr>
        <p:spPr>
          <a:xfrm>
            <a:off x="247029" y="9132138"/>
            <a:ext cx="3639312" cy="1754326"/>
          </a:xfrm>
          <a:prstGeom prst="rect">
            <a:avLst/>
          </a:prstGeom>
          <a:noFill/>
        </p:spPr>
        <p:txBody>
          <a:bodyPr wrap="square" rtlCol="0">
            <a:spAutoFit/>
          </a:bodyPr>
          <a:lstStyle/>
          <a:p>
            <a:pPr algn="ctr"/>
            <a:r>
              <a:rPr lang="en-US" dirty="0"/>
              <a:t>Unpivoting converts wide downtime columns into factor-level rows, enabling detailed analysis of each downtime cause, proper aggregations, and more meaningful visualizations</a:t>
            </a:r>
          </a:p>
        </p:txBody>
      </p:sp>
      <p:sp>
        <p:nvSpPr>
          <p:cNvPr id="66" name="!!TextBox 19">
            <a:extLst>
              <a:ext uri="{FF2B5EF4-FFF2-40B4-BE49-F238E27FC236}">
                <a16:creationId xmlns:a16="http://schemas.microsoft.com/office/drawing/2014/main" id="{9157E0E4-B9B6-01FD-9F17-ABC30F8C8A0E}"/>
              </a:ext>
            </a:extLst>
          </p:cNvPr>
          <p:cNvSpPr txBox="1"/>
          <p:nvPr/>
        </p:nvSpPr>
        <p:spPr>
          <a:xfrm>
            <a:off x="1000125" y="7852591"/>
            <a:ext cx="2152637" cy="769441"/>
          </a:xfrm>
          <a:prstGeom prst="rect">
            <a:avLst/>
          </a:prstGeom>
          <a:noFill/>
        </p:spPr>
        <p:txBody>
          <a:bodyPr wrap="square" rtlCol="0">
            <a:spAutoFit/>
          </a:bodyPr>
          <a:lstStyle/>
          <a:p>
            <a:pPr algn="ctr"/>
            <a:r>
              <a:rPr lang="en-US" sz="4400" b="1" dirty="0">
                <a:latin typeface="+mj-lt"/>
              </a:rPr>
              <a:t>STEP 04</a:t>
            </a:r>
          </a:p>
        </p:txBody>
      </p:sp>
      <p:pic>
        <p:nvPicPr>
          <p:cNvPr id="67" name="!!Graphic 20" descr="Branching diagram outline">
            <a:extLst>
              <a:ext uri="{FF2B5EF4-FFF2-40B4-BE49-F238E27FC236}">
                <a16:creationId xmlns:a16="http://schemas.microsoft.com/office/drawing/2014/main" id="{5D01F2B6-E451-A325-745D-ADA89F6BF59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009084" y="8620780"/>
            <a:ext cx="519510" cy="519510"/>
          </a:xfrm>
          <a:prstGeom prst="rect">
            <a:avLst/>
          </a:prstGeom>
        </p:spPr>
      </p:pic>
    </p:spTree>
    <p:extLst>
      <p:ext uri="{BB962C8B-B14F-4D97-AF65-F5344CB8AC3E}">
        <p14:creationId xmlns:p14="http://schemas.microsoft.com/office/powerpoint/2010/main" val="32695789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273AD3-2F98-0AD4-EF93-DD4E9B5494D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3BE1303-D9AD-CF85-45C1-0CF54B81A144}"/>
              </a:ext>
            </a:extLst>
          </p:cNvPr>
          <p:cNvPicPr>
            <a:picLocks noChangeAspect="1"/>
          </p:cNvPicPr>
          <p:nvPr/>
        </p:nvPicPr>
        <p:blipFill>
          <a:blip r:embed="rId2">
            <a:alphaModFix amt="40000"/>
          </a:blip>
          <a:stretch>
            <a:fillRect/>
          </a:stretch>
        </p:blipFill>
        <p:spPr>
          <a:xfrm>
            <a:off x="-73663" y="0"/>
            <a:ext cx="13846628" cy="7788728"/>
          </a:xfrm>
          <a:prstGeom prst="rect">
            <a:avLst/>
          </a:prstGeom>
        </p:spPr>
      </p:pic>
      <p:sp>
        <p:nvSpPr>
          <p:cNvPr id="28" name="TextBox 27">
            <a:extLst>
              <a:ext uri="{FF2B5EF4-FFF2-40B4-BE49-F238E27FC236}">
                <a16:creationId xmlns:a16="http://schemas.microsoft.com/office/drawing/2014/main" id="{669E04B5-1F59-2BA9-3B96-E08DDBD6DBD2}"/>
              </a:ext>
            </a:extLst>
          </p:cNvPr>
          <p:cNvSpPr txBox="1"/>
          <p:nvPr/>
        </p:nvSpPr>
        <p:spPr>
          <a:xfrm>
            <a:off x="11917009" y="681112"/>
            <a:ext cx="7707536" cy="4124206"/>
          </a:xfrm>
          <a:prstGeom prst="rect">
            <a:avLst/>
          </a:prstGeom>
          <a:noFill/>
        </p:spPr>
        <p:txBody>
          <a:bodyPr wrap="square" rtlCol="0">
            <a:spAutoFit/>
          </a:bodyPr>
          <a:lstStyle/>
          <a:p>
            <a:pPr lvl="1"/>
            <a:r>
              <a:rPr lang="en-US" sz="2800" b="1" dirty="0"/>
              <a:t>Why?</a:t>
            </a:r>
          </a:p>
          <a:p>
            <a:endParaRPr lang="en-US" dirty="0"/>
          </a:p>
          <a:p>
            <a:pPr lvl="1"/>
            <a:r>
              <a:rPr lang="en-US" sz="2400" dirty="0"/>
              <a:t>Duplicate entries can inflate totals, misrepresent downtime, and produce misleading KPIs. Removing them ensures the dataset is accurate, consistent, and reflects true production activity. By confirming that no repeated rows exist, especially for batches, downtime factors, or timestamps, we can then guarantee that all calculations such as total downtime, number of events, and performance metrics remain reliable and free from artificial distortions.</a:t>
            </a:r>
            <a:endParaRPr lang="en-US" sz="2000" dirty="0"/>
          </a:p>
        </p:txBody>
      </p:sp>
      <p:pic>
        <p:nvPicPr>
          <p:cNvPr id="20" name="Picture 19">
            <a:extLst>
              <a:ext uri="{FF2B5EF4-FFF2-40B4-BE49-F238E27FC236}">
                <a16:creationId xmlns:a16="http://schemas.microsoft.com/office/drawing/2014/main" id="{EBB9174B-0341-13FC-2167-A2C28CAEE98E}"/>
              </a:ext>
            </a:extLst>
          </p:cNvPr>
          <p:cNvPicPr>
            <a:picLocks noChangeAspect="1"/>
          </p:cNvPicPr>
          <p:nvPr/>
        </p:nvPicPr>
        <p:blipFill>
          <a:blip r:embed="rId3"/>
          <a:srcRect t="-1" r="71621" b="64356"/>
          <a:stretch>
            <a:fillRect/>
          </a:stretch>
        </p:blipFill>
        <p:spPr>
          <a:xfrm>
            <a:off x="7678449" y="3177068"/>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D2D6A66D-27B6-58FE-CED6-1E5ABA6334FE}"/>
              </a:ext>
            </a:extLst>
          </p:cNvPr>
          <p:cNvPicPr>
            <a:picLocks noChangeAspect="1"/>
          </p:cNvPicPr>
          <p:nvPr/>
        </p:nvPicPr>
        <p:blipFill>
          <a:blip r:embed="rId4"/>
          <a:srcRect t="-2" r="71527" b="62386"/>
          <a:stretch>
            <a:fillRect/>
          </a:stretch>
        </p:blipFill>
        <p:spPr>
          <a:xfrm>
            <a:off x="7678449" y="4194941"/>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20BE30EA-4088-A550-EA16-29E397ADDCE2}"/>
              </a:ext>
            </a:extLst>
          </p:cNvPr>
          <p:cNvPicPr>
            <a:picLocks noChangeAspect="1"/>
          </p:cNvPicPr>
          <p:nvPr/>
        </p:nvPicPr>
        <p:blipFill>
          <a:blip r:embed="rId5"/>
          <a:srcRect t="2" r="71691" b="61975"/>
          <a:stretch>
            <a:fillRect/>
          </a:stretch>
        </p:blipFill>
        <p:spPr>
          <a:xfrm>
            <a:off x="7678449" y="1142158"/>
            <a:ext cx="3300413" cy="78588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2367FA76-15A3-7D49-7954-6FBAC5416FE4}"/>
              </a:ext>
            </a:extLst>
          </p:cNvPr>
          <p:cNvPicPr>
            <a:picLocks noChangeAspect="1"/>
          </p:cNvPicPr>
          <p:nvPr/>
        </p:nvPicPr>
        <p:blipFill>
          <a:blip r:embed="rId6"/>
          <a:srcRect l="-543" t="1000" r="72072" b="69015"/>
          <a:stretch>
            <a:fillRect/>
          </a:stretch>
        </p:blipFill>
        <p:spPr>
          <a:xfrm>
            <a:off x="7678449" y="2168412"/>
            <a:ext cx="3300413" cy="768291"/>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2" name="Picture 31">
            <a:extLst>
              <a:ext uri="{FF2B5EF4-FFF2-40B4-BE49-F238E27FC236}">
                <a16:creationId xmlns:a16="http://schemas.microsoft.com/office/drawing/2014/main" id="{27823228-5ADA-1C8D-629D-9B7E84516D9F}"/>
              </a:ext>
            </a:extLst>
          </p:cNvPr>
          <p:cNvPicPr>
            <a:picLocks noChangeAspect="1"/>
          </p:cNvPicPr>
          <p:nvPr/>
        </p:nvPicPr>
        <p:blipFill>
          <a:blip r:embed="rId7"/>
          <a:srcRect l="1" t="57135" r="34333"/>
          <a:stretch>
            <a:fillRect/>
          </a:stretch>
        </p:blipFill>
        <p:spPr>
          <a:xfrm>
            <a:off x="505563" y="4581294"/>
            <a:ext cx="4897437" cy="10452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3" name="Picture 32">
            <a:extLst>
              <a:ext uri="{FF2B5EF4-FFF2-40B4-BE49-F238E27FC236}">
                <a16:creationId xmlns:a16="http://schemas.microsoft.com/office/drawing/2014/main" id="{C101438C-4C20-4D48-0279-C134236AE044}"/>
              </a:ext>
            </a:extLst>
          </p:cNvPr>
          <p:cNvPicPr>
            <a:picLocks noChangeAspect="1"/>
          </p:cNvPicPr>
          <p:nvPr/>
        </p:nvPicPr>
        <p:blipFill>
          <a:blip r:embed="rId8"/>
          <a:stretch>
            <a:fillRect/>
          </a:stretch>
        </p:blipFill>
        <p:spPr>
          <a:xfrm>
            <a:off x="515778" y="154573"/>
            <a:ext cx="9225736" cy="6286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00535E00-AB82-599A-69CD-94787F879AC3}"/>
              </a:ext>
            </a:extLst>
          </p:cNvPr>
          <p:cNvPicPr>
            <a:picLocks noChangeAspect="1"/>
          </p:cNvPicPr>
          <p:nvPr/>
        </p:nvPicPr>
        <p:blipFill>
          <a:blip r:embed="rId9"/>
          <a:stretch>
            <a:fillRect/>
          </a:stretch>
        </p:blipFill>
        <p:spPr>
          <a:xfrm>
            <a:off x="505563" y="1011150"/>
            <a:ext cx="6377283" cy="7429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5" name="Picture 34">
            <a:extLst>
              <a:ext uri="{FF2B5EF4-FFF2-40B4-BE49-F238E27FC236}">
                <a16:creationId xmlns:a16="http://schemas.microsoft.com/office/drawing/2014/main" id="{BAAFBB8F-7AB9-6E2E-A3C1-D38ECAE4897C}"/>
              </a:ext>
            </a:extLst>
          </p:cNvPr>
          <p:cNvPicPr>
            <a:picLocks noChangeAspect="1"/>
          </p:cNvPicPr>
          <p:nvPr/>
        </p:nvPicPr>
        <p:blipFill>
          <a:blip r:embed="rId10"/>
          <a:stretch>
            <a:fillRect/>
          </a:stretch>
        </p:blipFill>
        <p:spPr>
          <a:xfrm>
            <a:off x="512010" y="1982027"/>
            <a:ext cx="4626989" cy="6953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6" name="Picture 35">
            <a:extLst>
              <a:ext uri="{FF2B5EF4-FFF2-40B4-BE49-F238E27FC236}">
                <a16:creationId xmlns:a16="http://schemas.microsoft.com/office/drawing/2014/main" id="{840CFD94-95DC-898C-2C63-E1334879AE51}"/>
              </a:ext>
            </a:extLst>
          </p:cNvPr>
          <p:cNvPicPr>
            <a:picLocks noChangeAspect="1"/>
          </p:cNvPicPr>
          <p:nvPr/>
        </p:nvPicPr>
        <p:blipFill>
          <a:blip r:embed="rId11"/>
          <a:stretch>
            <a:fillRect/>
          </a:stretch>
        </p:blipFill>
        <p:spPr>
          <a:xfrm>
            <a:off x="505563" y="2905280"/>
            <a:ext cx="4596586" cy="657225"/>
          </a:xfrm>
          <a:prstGeom prst="rect">
            <a:avLst/>
          </a:prstGeom>
          <a:ln w="19050">
            <a:solidFill>
              <a:srgbClr val="112250"/>
            </a:solidFill>
          </a:ln>
          <a:effectLst>
            <a:outerShdw blurRad="203200" dist="38100" dir="5400000" sx="101000" sy="101000" algn="t" rotWithShape="0">
              <a:prstClr val="black">
                <a:alpha val="40000"/>
              </a:prstClr>
            </a:outerShdw>
          </a:effectLst>
        </p:spPr>
      </p:pic>
      <p:sp>
        <p:nvSpPr>
          <p:cNvPr id="3" name="TextBox 2">
            <a:extLst>
              <a:ext uri="{FF2B5EF4-FFF2-40B4-BE49-F238E27FC236}">
                <a16:creationId xmlns:a16="http://schemas.microsoft.com/office/drawing/2014/main" id="{800C885A-5063-1203-B353-DB6B38C24FA0}"/>
              </a:ext>
            </a:extLst>
          </p:cNvPr>
          <p:cNvSpPr txBox="1"/>
          <p:nvPr/>
        </p:nvSpPr>
        <p:spPr>
          <a:xfrm>
            <a:off x="530825" y="3750202"/>
            <a:ext cx="3746121" cy="400110"/>
          </a:xfrm>
          <a:prstGeom prst="rect">
            <a:avLst/>
          </a:prstGeom>
          <a:noFill/>
        </p:spPr>
        <p:txBody>
          <a:bodyPr wrap="square" rtlCol="0">
            <a:spAutoFit/>
          </a:bodyPr>
          <a:lstStyle/>
          <a:p>
            <a:r>
              <a:rPr lang="en-US" sz="2000" b="1" dirty="0"/>
              <a:t>USING POWER QUERY (EXCEL)</a:t>
            </a:r>
          </a:p>
        </p:txBody>
      </p:sp>
      <p:pic>
        <p:nvPicPr>
          <p:cNvPr id="4" name="Picture 3" descr="A green square with white x on it&#10;&#10;AI-generated content may be incorrect.">
            <a:hlinkClick r:id="rId12" action="ppaction://hlinksldjump"/>
            <a:extLst>
              <a:ext uri="{FF2B5EF4-FFF2-40B4-BE49-F238E27FC236}">
                <a16:creationId xmlns:a16="http://schemas.microsoft.com/office/drawing/2014/main" id="{8DD07F61-BC32-352F-9923-B2C7B083EE44}"/>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A screenshot of a computer&#10;&#10;AI-generated content may be incorrect.">
            <a:hlinkClick r:id="rId14" action="ppaction://hlinksldjump"/>
            <a:extLst>
              <a:ext uri="{FF2B5EF4-FFF2-40B4-BE49-F238E27FC236}">
                <a16:creationId xmlns:a16="http://schemas.microsoft.com/office/drawing/2014/main" id="{E636ABD2-54CC-6FB0-B21A-B59479CE8E1F}"/>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A logo with orange and black text&#10;&#10;AI-generated content may be incorrect.">
            <a:hlinkClick r:id="rId16" action="ppaction://hlinksldjump"/>
            <a:extLst>
              <a:ext uri="{FF2B5EF4-FFF2-40B4-BE49-F238E27FC236}">
                <a16:creationId xmlns:a16="http://schemas.microsoft.com/office/drawing/2014/main" id="{493A699B-C1B0-448F-A94F-8FB7BA4650BD}"/>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0" name="Rectangle 39">
            <a:extLst>
              <a:ext uri="{FF2B5EF4-FFF2-40B4-BE49-F238E27FC236}">
                <a16:creationId xmlns:a16="http://schemas.microsoft.com/office/drawing/2014/main" id="{66AD3F99-A491-1805-3F3D-9C81B035517D}"/>
              </a:ext>
            </a:extLst>
          </p:cNvPr>
          <p:cNvSpPr/>
          <p:nvPr/>
        </p:nvSpPr>
        <p:spPr>
          <a:xfrm>
            <a:off x="476821" y="4564731"/>
            <a:ext cx="4945788" cy="1061777"/>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83D01486-40E1-75CC-3733-0B71B8B9CEC3}"/>
              </a:ext>
            </a:extLst>
          </p:cNvPr>
          <p:cNvSpPr/>
          <p:nvPr/>
        </p:nvSpPr>
        <p:spPr>
          <a:xfrm>
            <a:off x="8770371"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C0AB6D85-BADB-3584-A8DB-254FCB28DBE6}"/>
              </a:ext>
            </a:extLst>
          </p:cNvPr>
          <p:cNvSpPr/>
          <p:nvPr/>
        </p:nvSpPr>
        <p:spPr>
          <a:xfrm>
            <a:off x="10920050"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6B7D9450-2DEA-B936-1555-428073D25A1E}"/>
              </a:ext>
            </a:extLst>
          </p:cNvPr>
          <p:cNvSpPr/>
          <p:nvPr/>
        </p:nvSpPr>
        <p:spPr>
          <a:xfrm>
            <a:off x="7676499" y="1123796"/>
            <a:ext cx="3300413" cy="384865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hlinkClick r:id="rId18" action="ppaction://hlinksldjump"/>
            <a:extLst>
              <a:ext uri="{FF2B5EF4-FFF2-40B4-BE49-F238E27FC236}">
                <a16:creationId xmlns:a16="http://schemas.microsoft.com/office/drawing/2014/main" id="{9D37E1E5-6BEE-AD19-E794-F818E75F3102}"/>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370651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FB123-647B-A69E-8E61-3BF295AC78B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CA08B97-BDBB-2A97-9B33-AE7DA8876E3E}"/>
              </a:ext>
            </a:extLst>
          </p:cNvPr>
          <p:cNvPicPr>
            <a:picLocks noChangeAspect="1"/>
          </p:cNvPicPr>
          <p:nvPr/>
        </p:nvPicPr>
        <p:blipFill>
          <a:blip r:embed="rId2">
            <a:alphaModFix amt="40000"/>
          </a:blip>
          <a:stretch>
            <a:fillRect/>
          </a:stretch>
        </p:blipFill>
        <p:spPr>
          <a:xfrm>
            <a:off x="-73663" y="0"/>
            <a:ext cx="13846628" cy="7788728"/>
          </a:xfrm>
          <a:prstGeom prst="rect">
            <a:avLst/>
          </a:prstGeom>
        </p:spPr>
      </p:pic>
      <p:sp>
        <p:nvSpPr>
          <p:cNvPr id="28" name="TextBox 27">
            <a:extLst>
              <a:ext uri="{FF2B5EF4-FFF2-40B4-BE49-F238E27FC236}">
                <a16:creationId xmlns:a16="http://schemas.microsoft.com/office/drawing/2014/main" id="{4CB5E4E5-A4AB-1040-535B-E9F9B7D459FA}"/>
              </a:ext>
            </a:extLst>
          </p:cNvPr>
          <p:cNvSpPr txBox="1"/>
          <p:nvPr/>
        </p:nvSpPr>
        <p:spPr>
          <a:xfrm>
            <a:off x="11917009" y="681112"/>
            <a:ext cx="7707536" cy="4124206"/>
          </a:xfrm>
          <a:prstGeom prst="rect">
            <a:avLst/>
          </a:prstGeom>
          <a:noFill/>
        </p:spPr>
        <p:txBody>
          <a:bodyPr wrap="square" rtlCol="0">
            <a:spAutoFit/>
          </a:bodyPr>
          <a:lstStyle/>
          <a:p>
            <a:pPr lvl="1"/>
            <a:r>
              <a:rPr lang="en-US" sz="2800" b="1" dirty="0"/>
              <a:t>Why?</a:t>
            </a:r>
          </a:p>
          <a:p>
            <a:endParaRPr lang="en-US" dirty="0"/>
          </a:p>
          <a:p>
            <a:pPr lvl="1"/>
            <a:r>
              <a:rPr lang="en-US" sz="2400" dirty="0"/>
              <a:t>Duplicate entries can inflate totals, misrepresent downtime, and produce misleading KPIs. Removing them ensures the dataset is accurate, consistent, and reflects true production activity. By confirming that no repeated rows exist, especially for batches, downtime factors, or timestamps, we can then guarantee that all calculations such as total downtime, number of events, and performance metrics remain reliable and free from artificial distortions.</a:t>
            </a:r>
            <a:endParaRPr lang="en-US" sz="2000" dirty="0"/>
          </a:p>
        </p:txBody>
      </p:sp>
      <p:pic>
        <p:nvPicPr>
          <p:cNvPr id="20" name="Picture 19">
            <a:extLst>
              <a:ext uri="{FF2B5EF4-FFF2-40B4-BE49-F238E27FC236}">
                <a16:creationId xmlns:a16="http://schemas.microsoft.com/office/drawing/2014/main" id="{1E8FA9B9-8CBF-9420-0720-2F8810D1C1EC}"/>
              </a:ext>
            </a:extLst>
          </p:cNvPr>
          <p:cNvPicPr>
            <a:picLocks noChangeAspect="1"/>
          </p:cNvPicPr>
          <p:nvPr/>
        </p:nvPicPr>
        <p:blipFill>
          <a:blip r:embed="rId3"/>
          <a:srcRect t="-1" r="71621" b="64356"/>
          <a:stretch>
            <a:fillRect/>
          </a:stretch>
        </p:blipFill>
        <p:spPr>
          <a:xfrm>
            <a:off x="7678449" y="3177068"/>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99983C01-B181-AC9A-7B32-96D477A4E63A}"/>
              </a:ext>
            </a:extLst>
          </p:cNvPr>
          <p:cNvPicPr>
            <a:picLocks noChangeAspect="1"/>
          </p:cNvPicPr>
          <p:nvPr/>
        </p:nvPicPr>
        <p:blipFill>
          <a:blip r:embed="rId4"/>
          <a:srcRect t="-2" r="71527" b="62386"/>
          <a:stretch>
            <a:fillRect/>
          </a:stretch>
        </p:blipFill>
        <p:spPr>
          <a:xfrm>
            <a:off x="7678449" y="4194941"/>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F3C46A20-EE41-6BB1-A735-70837982FCCF}"/>
              </a:ext>
            </a:extLst>
          </p:cNvPr>
          <p:cNvPicPr>
            <a:picLocks noChangeAspect="1"/>
          </p:cNvPicPr>
          <p:nvPr/>
        </p:nvPicPr>
        <p:blipFill>
          <a:blip r:embed="rId5"/>
          <a:srcRect t="2" r="71691" b="61975"/>
          <a:stretch>
            <a:fillRect/>
          </a:stretch>
        </p:blipFill>
        <p:spPr>
          <a:xfrm>
            <a:off x="7678449" y="1142158"/>
            <a:ext cx="3300413" cy="78588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E7C37DEC-48BE-5613-075E-D954AB58B7F3}"/>
              </a:ext>
            </a:extLst>
          </p:cNvPr>
          <p:cNvPicPr>
            <a:picLocks noChangeAspect="1"/>
          </p:cNvPicPr>
          <p:nvPr/>
        </p:nvPicPr>
        <p:blipFill>
          <a:blip r:embed="rId6"/>
          <a:srcRect l="-543" t="1000" r="72072" b="69015"/>
          <a:stretch>
            <a:fillRect/>
          </a:stretch>
        </p:blipFill>
        <p:spPr>
          <a:xfrm>
            <a:off x="7678449" y="2168412"/>
            <a:ext cx="3300413" cy="768291"/>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2" name="Picture 31">
            <a:extLst>
              <a:ext uri="{FF2B5EF4-FFF2-40B4-BE49-F238E27FC236}">
                <a16:creationId xmlns:a16="http://schemas.microsoft.com/office/drawing/2014/main" id="{897E386C-0EE3-AA5B-864C-727999184624}"/>
              </a:ext>
            </a:extLst>
          </p:cNvPr>
          <p:cNvPicPr>
            <a:picLocks noChangeAspect="1"/>
          </p:cNvPicPr>
          <p:nvPr/>
        </p:nvPicPr>
        <p:blipFill>
          <a:blip r:embed="rId7"/>
          <a:srcRect l="1" t="57135" r="34333"/>
          <a:stretch>
            <a:fillRect/>
          </a:stretch>
        </p:blipFill>
        <p:spPr>
          <a:xfrm>
            <a:off x="505563" y="4581294"/>
            <a:ext cx="4897437" cy="10452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3" name="Picture 32">
            <a:extLst>
              <a:ext uri="{FF2B5EF4-FFF2-40B4-BE49-F238E27FC236}">
                <a16:creationId xmlns:a16="http://schemas.microsoft.com/office/drawing/2014/main" id="{536FE049-E3AC-784E-8800-94DC00F74DCB}"/>
              </a:ext>
            </a:extLst>
          </p:cNvPr>
          <p:cNvPicPr>
            <a:picLocks noChangeAspect="1"/>
          </p:cNvPicPr>
          <p:nvPr/>
        </p:nvPicPr>
        <p:blipFill>
          <a:blip r:embed="rId8"/>
          <a:stretch>
            <a:fillRect/>
          </a:stretch>
        </p:blipFill>
        <p:spPr>
          <a:xfrm>
            <a:off x="515778" y="154573"/>
            <a:ext cx="9225736" cy="6286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357E0254-052B-2A09-4F35-161A73D36183}"/>
              </a:ext>
            </a:extLst>
          </p:cNvPr>
          <p:cNvPicPr>
            <a:picLocks noChangeAspect="1"/>
          </p:cNvPicPr>
          <p:nvPr/>
        </p:nvPicPr>
        <p:blipFill>
          <a:blip r:embed="rId9"/>
          <a:stretch>
            <a:fillRect/>
          </a:stretch>
        </p:blipFill>
        <p:spPr>
          <a:xfrm>
            <a:off x="505563" y="1011150"/>
            <a:ext cx="6377283" cy="7429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5" name="Picture 34">
            <a:extLst>
              <a:ext uri="{FF2B5EF4-FFF2-40B4-BE49-F238E27FC236}">
                <a16:creationId xmlns:a16="http://schemas.microsoft.com/office/drawing/2014/main" id="{1D66DB55-E6D1-B321-81BE-020C722EAD82}"/>
              </a:ext>
            </a:extLst>
          </p:cNvPr>
          <p:cNvPicPr>
            <a:picLocks noChangeAspect="1"/>
          </p:cNvPicPr>
          <p:nvPr/>
        </p:nvPicPr>
        <p:blipFill>
          <a:blip r:embed="rId10"/>
          <a:stretch>
            <a:fillRect/>
          </a:stretch>
        </p:blipFill>
        <p:spPr>
          <a:xfrm>
            <a:off x="512010" y="1982027"/>
            <a:ext cx="4626989" cy="6953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6" name="Picture 35">
            <a:extLst>
              <a:ext uri="{FF2B5EF4-FFF2-40B4-BE49-F238E27FC236}">
                <a16:creationId xmlns:a16="http://schemas.microsoft.com/office/drawing/2014/main" id="{0FC6F77C-6F4F-55FF-360A-1CC20CFD893D}"/>
              </a:ext>
            </a:extLst>
          </p:cNvPr>
          <p:cNvPicPr>
            <a:picLocks noChangeAspect="1"/>
          </p:cNvPicPr>
          <p:nvPr/>
        </p:nvPicPr>
        <p:blipFill>
          <a:blip r:embed="rId11"/>
          <a:stretch>
            <a:fillRect/>
          </a:stretch>
        </p:blipFill>
        <p:spPr>
          <a:xfrm>
            <a:off x="505563" y="2905280"/>
            <a:ext cx="4596586" cy="6572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4" name="Picture 3" descr="A green square with white x on it&#10;&#10;AI-generated content may be incorrect.">
            <a:hlinkClick r:id="rId12" action="ppaction://hlinksldjump"/>
            <a:extLst>
              <a:ext uri="{FF2B5EF4-FFF2-40B4-BE49-F238E27FC236}">
                <a16:creationId xmlns:a16="http://schemas.microsoft.com/office/drawing/2014/main" id="{6F07E355-18ED-8F5C-6BED-0D1122D9A56B}"/>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A screenshot of a computer&#10;&#10;AI-generated content may be incorrect.">
            <a:hlinkClick r:id="rId14" action="ppaction://hlinksldjump"/>
            <a:extLst>
              <a:ext uri="{FF2B5EF4-FFF2-40B4-BE49-F238E27FC236}">
                <a16:creationId xmlns:a16="http://schemas.microsoft.com/office/drawing/2014/main" id="{0452A131-0364-26CB-132F-694AF70F08C9}"/>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A logo with orange and black text&#10;&#10;AI-generated content may be incorrect.">
            <a:hlinkClick r:id="rId16" action="ppaction://hlinksldjump"/>
            <a:extLst>
              <a:ext uri="{FF2B5EF4-FFF2-40B4-BE49-F238E27FC236}">
                <a16:creationId xmlns:a16="http://schemas.microsoft.com/office/drawing/2014/main" id="{332EC0B2-B97B-CB9A-7EA2-902E761E6807}"/>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0" name="Rectangle 39">
            <a:extLst>
              <a:ext uri="{FF2B5EF4-FFF2-40B4-BE49-F238E27FC236}">
                <a16:creationId xmlns:a16="http://schemas.microsoft.com/office/drawing/2014/main" id="{77DF2896-CD46-33AC-D813-091BE209CAAA}"/>
              </a:ext>
            </a:extLst>
          </p:cNvPr>
          <p:cNvSpPr/>
          <p:nvPr/>
        </p:nvSpPr>
        <p:spPr>
          <a:xfrm>
            <a:off x="476820" y="133683"/>
            <a:ext cx="9264693" cy="657225"/>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208CAA7B-E339-7208-84F5-1D245C928B8F}"/>
              </a:ext>
            </a:extLst>
          </p:cNvPr>
          <p:cNvSpPr/>
          <p:nvPr/>
        </p:nvSpPr>
        <p:spPr>
          <a:xfrm>
            <a:off x="6622018"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2A56F52F-99A3-0330-9665-891337719DAF}"/>
              </a:ext>
            </a:extLst>
          </p:cNvPr>
          <p:cNvSpPr/>
          <p:nvPr/>
        </p:nvSpPr>
        <p:spPr>
          <a:xfrm>
            <a:off x="10920050"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F7D337ED-AED8-17CF-F12A-B77B2E4902DE}"/>
              </a:ext>
            </a:extLst>
          </p:cNvPr>
          <p:cNvSpPr/>
          <p:nvPr/>
        </p:nvSpPr>
        <p:spPr>
          <a:xfrm>
            <a:off x="7676499" y="1123796"/>
            <a:ext cx="3300413" cy="3848651"/>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97EADEB-84B9-D5FD-554F-C1087FEC3BB6}"/>
              </a:ext>
            </a:extLst>
          </p:cNvPr>
          <p:cNvSpPr/>
          <p:nvPr/>
        </p:nvSpPr>
        <p:spPr>
          <a:xfrm>
            <a:off x="476821" y="1011149"/>
            <a:ext cx="6406026"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A1D89FED-98AC-DDF7-EEEC-B75FD535B306}"/>
              </a:ext>
            </a:extLst>
          </p:cNvPr>
          <p:cNvSpPr/>
          <p:nvPr/>
        </p:nvSpPr>
        <p:spPr>
          <a:xfrm>
            <a:off x="476821" y="1950145"/>
            <a:ext cx="4662178"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16F0CD7-7C93-3F48-DFC2-E09738056D31}"/>
              </a:ext>
            </a:extLst>
          </p:cNvPr>
          <p:cNvSpPr/>
          <p:nvPr/>
        </p:nvSpPr>
        <p:spPr>
          <a:xfrm>
            <a:off x="476821" y="2862417"/>
            <a:ext cx="4662178"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hlinkClick r:id="rId18" action="ppaction://hlinksldjump"/>
            <a:extLst>
              <a:ext uri="{FF2B5EF4-FFF2-40B4-BE49-F238E27FC236}">
                <a16:creationId xmlns:a16="http://schemas.microsoft.com/office/drawing/2014/main" id="{812A90D8-6331-654E-8EC7-899BEC1D67C1}"/>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05444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C8E282-2B32-CABE-5F96-D166EEE416C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46A0695-2B65-7845-A632-0458F60A7E81}"/>
              </a:ext>
            </a:extLst>
          </p:cNvPr>
          <p:cNvPicPr>
            <a:picLocks noChangeAspect="1"/>
          </p:cNvPicPr>
          <p:nvPr/>
        </p:nvPicPr>
        <p:blipFill>
          <a:blip r:embed="rId2">
            <a:alphaModFix amt="40000"/>
          </a:blip>
          <a:stretch>
            <a:fillRect/>
          </a:stretch>
        </p:blipFill>
        <p:spPr>
          <a:xfrm>
            <a:off x="-73663" y="0"/>
            <a:ext cx="13846628" cy="7788728"/>
          </a:xfrm>
          <a:prstGeom prst="rect">
            <a:avLst/>
          </a:prstGeom>
        </p:spPr>
      </p:pic>
      <p:sp>
        <p:nvSpPr>
          <p:cNvPr id="28" name="TextBox 27">
            <a:extLst>
              <a:ext uri="{FF2B5EF4-FFF2-40B4-BE49-F238E27FC236}">
                <a16:creationId xmlns:a16="http://schemas.microsoft.com/office/drawing/2014/main" id="{96F2F95D-139D-8F9C-E310-6C6F7A476661}"/>
              </a:ext>
            </a:extLst>
          </p:cNvPr>
          <p:cNvSpPr txBox="1"/>
          <p:nvPr/>
        </p:nvSpPr>
        <p:spPr>
          <a:xfrm>
            <a:off x="11917009" y="681112"/>
            <a:ext cx="7707536" cy="4124206"/>
          </a:xfrm>
          <a:prstGeom prst="rect">
            <a:avLst/>
          </a:prstGeom>
          <a:noFill/>
        </p:spPr>
        <p:txBody>
          <a:bodyPr wrap="square" rtlCol="0">
            <a:spAutoFit/>
          </a:bodyPr>
          <a:lstStyle/>
          <a:p>
            <a:pPr lvl="1"/>
            <a:r>
              <a:rPr lang="en-US" sz="2800" b="1" dirty="0"/>
              <a:t>Why?</a:t>
            </a:r>
          </a:p>
          <a:p>
            <a:endParaRPr lang="en-US" dirty="0"/>
          </a:p>
          <a:p>
            <a:pPr lvl="1"/>
            <a:r>
              <a:rPr lang="en-US" sz="2400" dirty="0"/>
              <a:t>Duplicate entries can inflate totals, misrepresent downtime, and produce misleading KPIs. Removing them ensures the dataset is accurate, consistent, and reflects true production activity. By confirming that no repeated rows exist, especially for batches, downtime factors, or timestamps, we can then guarantee that all calculations such as total downtime, number of events, and performance metrics remain reliable and free from artificial distortions.</a:t>
            </a:r>
            <a:endParaRPr lang="en-US" sz="2000" dirty="0"/>
          </a:p>
        </p:txBody>
      </p:sp>
      <p:pic>
        <p:nvPicPr>
          <p:cNvPr id="20" name="Picture 19">
            <a:extLst>
              <a:ext uri="{FF2B5EF4-FFF2-40B4-BE49-F238E27FC236}">
                <a16:creationId xmlns:a16="http://schemas.microsoft.com/office/drawing/2014/main" id="{546B02A1-07F0-825B-1ABC-180F66AFFB5B}"/>
              </a:ext>
            </a:extLst>
          </p:cNvPr>
          <p:cNvPicPr>
            <a:picLocks noChangeAspect="1"/>
          </p:cNvPicPr>
          <p:nvPr/>
        </p:nvPicPr>
        <p:blipFill>
          <a:blip r:embed="rId3"/>
          <a:srcRect t="-1" r="71621" b="64356"/>
          <a:stretch>
            <a:fillRect/>
          </a:stretch>
        </p:blipFill>
        <p:spPr>
          <a:xfrm>
            <a:off x="7678449" y="3177068"/>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9" name="Picture 28">
            <a:extLst>
              <a:ext uri="{FF2B5EF4-FFF2-40B4-BE49-F238E27FC236}">
                <a16:creationId xmlns:a16="http://schemas.microsoft.com/office/drawing/2014/main" id="{3D4CD1DC-9767-4427-A6AE-A0D56D6A5862}"/>
              </a:ext>
            </a:extLst>
          </p:cNvPr>
          <p:cNvPicPr>
            <a:picLocks noChangeAspect="1"/>
          </p:cNvPicPr>
          <p:nvPr/>
        </p:nvPicPr>
        <p:blipFill>
          <a:blip r:embed="rId4"/>
          <a:srcRect t="-2" r="71527" b="62386"/>
          <a:stretch>
            <a:fillRect/>
          </a:stretch>
        </p:blipFill>
        <p:spPr>
          <a:xfrm>
            <a:off x="7678449" y="4194941"/>
            <a:ext cx="3300413" cy="777507"/>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0" name="Picture 29">
            <a:extLst>
              <a:ext uri="{FF2B5EF4-FFF2-40B4-BE49-F238E27FC236}">
                <a16:creationId xmlns:a16="http://schemas.microsoft.com/office/drawing/2014/main" id="{A5AF3795-5EF7-627E-3A3F-E06DED63F406}"/>
              </a:ext>
            </a:extLst>
          </p:cNvPr>
          <p:cNvPicPr>
            <a:picLocks noChangeAspect="1"/>
          </p:cNvPicPr>
          <p:nvPr/>
        </p:nvPicPr>
        <p:blipFill>
          <a:blip r:embed="rId5"/>
          <a:srcRect t="2" r="71691" b="61975"/>
          <a:stretch>
            <a:fillRect/>
          </a:stretch>
        </p:blipFill>
        <p:spPr>
          <a:xfrm>
            <a:off x="7678449" y="1142158"/>
            <a:ext cx="3300413" cy="785889"/>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1" name="Picture 30">
            <a:extLst>
              <a:ext uri="{FF2B5EF4-FFF2-40B4-BE49-F238E27FC236}">
                <a16:creationId xmlns:a16="http://schemas.microsoft.com/office/drawing/2014/main" id="{42368EAC-D7EC-C261-E00F-8A0C8D2A5EE2}"/>
              </a:ext>
            </a:extLst>
          </p:cNvPr>
          <p:cNvPicPr>
            <a:picLocks noChangeAspect="1"/>
          </p:cNvPicPr>
          <p:nvPr/>
        </p:nvPicPr>
        <p:blipFill>
          <a:blip r:embed="rId6"/>
          <a:srcRect l="-543" t="1000" r="72072" b="69015"/>
          <a:stretch>
            <a:fillRect/>
          </a:stretch>
        </p:blipFill>
        <p:spPr>
          <a:xfrm>
            <a:off x="7678449" y="2168412"/>
            <a:ext cx="3300413" cy="768291"/>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2" name="Picture 31">
            <a:extLst>
              <a:ext uri="{FF2B5EF4-FFF2-40B4-BE49-F238E27FC236}">
                <a16:creationId xmlns:a16="http://schemas.microsoft.com/office/drawing/2014/main" id="{54168883-D48F-1DF2-23F1-929C2C6261D8}"/>
              </a:ext>
            </a:extLst>
          </p:cNvPr>
          <p:cNvPicPr>
            <a:picLocks noChangeAspect="1"/>
          </p:cNvPicPr>
          <p:nvPr/>
        </p:nvPicPr>
        <p:blipFill>
          <a:blip r:embed="rId7"/>
          <a:srcRect l="1" t="57135" r="34333"/>
          <a:stretch>
            <a:fillRect/>
          </a:stretch>
        </p:blipFill>
        <p:spPr>
          <a:xfrm>
            <a:off x="505563" y="4581294"/>
            <a:ext cx="4897437" cy="1045214"/>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3" name="Picture 32">
            <a:extLst>
              <a:ext uri="{FF2B5EF4-FFF2-40B4-BE49-F238E27FC236}">
                <a16:creationId xmlns:a16="http://schemas.microsoft.com/office/drawing/2014/main" id="{505742B0-1004-7838-14C1-527A03E8FF42}"/>
              </a:ext>
            </a:extLst>
          </p:cNvPr>
          <p:cNvPicPr>
            <a:picLocks noChangeAspect="1"/>
          </p:cNvPicPr>
          <p:nvPr/>
        </p:nvPicPr>
        <p:blipFill>
          <a:blip r:embed="rId8"/>
          <a:stretch>
            <a:fillRect/>
          </a:stretch>
        </p:blipFill>
        <p:spPr>
          <a:xfrm>
            <a:off x="515778" y="154573"/>
            <a:ext cx="9225736" cy="6286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60A7559E-D406-7F99-8995-0B8312B49010}"/>
              </a:ext>
            </a:extLst>
          </p:cNvPr>
          <p:cNvPicPr>
            <a:picLocks noChangeAspect="1"/>
          </p:cNvPicPr>
          <p:nvPr/>
        </p:nvPicPr>
        <p:blipFill>
          <a:blip r:embed="rId9"/>
          <a:stretch>
            <a:fillRect/>
          </a:stretch>
        </p:blipFill>
        <p:spPr>
          <a:xfrm>
            <a:off x="505563" y="1011150"/>
            <a:ext cx="6377283" cy="742950"/>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5" name="Picture 34">
            <a:extLst>
              <a:ext uri="{FF2B5EF4-FFF2-40B4-BE49-F238E27FC236}">
                <a16:creationId xmlns:a16="http://schemas.microsoft.com/office/drawing/2014/main" id="{47180FFF-B7E5-86E7-A2AD-DA9B7F9BDE0D}"/>
              </a:ext>
            </a:extLst>
          </p:cNvPr>
          <p:cNvPicPr>
            <a:picLocks noChangeAspect="1"/>
          </p:cNvPicPr>
          <p:nvPr/>
        </p:nvPicPr>
        <p:blipFill>
          <a:blip r:embed="rId10"/>
          <a:stretch>
            <a:fillRect/>
          </a:stretch>
        </p:blipFill>
        <p:spPr>
          <a:xfrm>
            <a:off x="512010" y="1982027"/>
            <a:ext cx="4626989" cy="6953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6" name="Picture 35">
            <a:extLst>
              <a:ext uri="{FF2B5EF4-FFF2-40B4-BE49-F238E27FC236}">
                <a16:creationId xmlns:a16="http://schemas.microsoft.com/office/drawing/2014/main" id="{5AD89B25-734C-B092-EE25-DA84D545977F}"/>
              </a:ext>
            </a:extLst>
          </p:cNvPr>
          <p:cNvPicPr>
            <a:picLocks noChangeAspect="1"/>
          </p:cNvPicPr>
          <p:nvPr/>
        </p:nvPicPr>
        <p:blipFill>
          <a:blip r:embed="rId11"/>
          <a:stretch>
            <a:fillRect/>
          </a:stretch>
        </p:blipFill>
        <p:spPr>
          <a:xfrm>
            <a:off x="505563" y="2905280"/>
            <a:ext cx="4596586" cy="65722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4" name="Picture 3" descr="A green square with white x on it&#10;&#10;AI-generated content may be incorrect.">
            <a:hlinkClick r:id="rId12" action="ppaction://hlinksldjump"/>
            <a:extLst>
              <a:ext uri="{FF2B5EF4-FFF2-40B4-BE49-F238E27FC236}">
                <a16:creationId xmlns:a16="http://schemas.microsoft.com/office/drawing/2014/main" id="{45A80873-4E66-489A-BF16-F0AAD1DC9DB0}"/>
              </a:ext>
            </a:extLst>
          </p:cNvPr>
          <p:cNvPicPr>
            <a:picLocks noChangeAspect="1"/>
          </p:cNvPicPr>
          <p:nvPr/>
        </p:nvPicPr>
        <p:blipFill>
          <a:blip r:embed="rId13">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A screenshot of a computer&#10;&#10;AI-generated content may be incorrect.">
            <a:hlinkClick r:id="rId14" action="ppaction://hlinksldjump"/>
            <a:extLst>
              <a:ext uri="{FF2B5EF4-FFF2-40B4-BE49-F238E27FC236}">
                <a16:creationId xmlns:a16="http://schemas.microsoft.com/office/drawing/2014/main" id="{EAE14D16-4BAA-5A64-04E5-4B07F7BAA470}"/>
              </a:ext>
            </a:extLst>
          </p:cNvPr>
          <p:cNvPicPr>
            <a:picLocks noChangeAspect="1"/>
          </p:cNvPicPr>
          <p:nvPr/>
        </p:nvPicPr>
        <p:blipFill>
          <a:blip r:embed="rId15">
            <a:extLst>
              <a:ext uri="{28A0092B-C50C-407E-A947-70E740481C1C}">
                <a14:useLocalDpi xmlns:a14="http://schemas.microsoft.com/office/drawing/2010/main" val="0"/>
              </a:ext>
            </a:extLst>
          </a:blip>
          <a:srcRect l="40410" t="34307" r="42884" b="33606"/>
          <a:stretch>
            <a:fillRect/>
          </a:stretch>
        </p:blipFill>
        <p:spPr>
          <a:xfrm>
            <a:off x="8771034" y="5323321"/>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A logo with orange and black text&#10;&#10;AI-generated content may be incorrect.">
            <a:hlinkClick r:id="rId16" action="ppaction://hlinksldjump"/>
            <a:extLst>
              <a:ext uri="{FF2B5EF4-FFF2-40B4-BE49-F238E27FC236}">
                <a16:creationId xmlns:a16="http://schemas.microsoft.com/office/drawing/2014/main" id="{B5162443-3B27-A5B9-5921-E2CC343B4D0B}"/>
              </a:ext>
            </a:extLst>
          </p:cNvPr>
          <p:cNvPicPr>
            <a:picLocks noChangeAspect="1"/>
          </p:cNvPicPr>
          <p:nvPr/>
        </p:nvPicPr>
        <p:blipFill>
          <a:blip r:embed="rId17">
            <a:extLst>
              <a:ext uri="{28A0092B-C50C-407E-A947-70E740481C1C}">
                <a14:useLocalDpi xmlns:a14="http://schemas.microsoft.com/office/drawing/2010/main" val="0"/>
              </a:ext>
            </a:extLst>
          </a:blip>
          <a:srcRect l="34318" t="28806" r="36227" b="24754"/>
          <a:stretch>
            <a:fillRect/>
          </a:stretch>
        </p:blipFill>
        <p:spPr>
          <a:xfrm>
            <a:off x="1093300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2" name="Rectangle 21">
            <a:extLst>
              <a:ext uri="{FF2B5EF4-FFF2-40B4-BE49-F238E27FC236}">
                <a16:creationId xmlns:a16="http://schemas.microsoft.com/office/drawing/2014/main" id="{CFCA5AA1-F2F1-3311-4B02-36B60AC8E032}"/>
              </a:ext>
            </a:extLst>
          </p:cNvPr>
          <p:cNvSpPr/>
          <p:nvPr/>
        </p:nvSpPr>
        <p:spPr>
          <a:xfrm>
            <a:off x="476820" y="133683"/>
            <a:ext cx="9264693" cy="657225"/>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EC89DC45-35DC-7B46-F81E-25D6AA5379A4}"/>
              </a:ext>
            </a:extLst>
          </p:cNvPr>
          <p:cNvSpPr/>
          <p:nvPr/>
        </p:nvSpPr>
        <p:spPr>
          <a:xfrm>
            <a:off x="476821" y="1011149"/>
            <a:ext cx="6406026"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B3E5233-1D5A-3CBF-514B-C5751B3978B5}"/>
              </a:ext>
            </a:extLst>
          </p:cNvPr>
          <p:cNvSpPr/>
          <p:nvPr/>
        </p:nvSpPr>
        <p:spPr>
          <a:xfrm>
            <a:off x="476821" y="1950145"/>
            <a:ext cx="4662178"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DA534127-7E88-4D3A-C76F-588A52F9A89C}"/>
              </a:ext>
            </a:extLst>
          </p:cNvPr>
          <p:cNvSpPr/>
          <p:nvPr/>
        </p:nvSpPr>
        <p:spPr>
          <a:xfrm>
            <a:off x="476821" y="2862417"/>
            <a:ext cx="4662178" cy="74295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0FFBCFD-D747-0601-6794-8E98BE2ECC88}"/>
              </a:ext>
            </a:extLst>
          </p:cNvPr>
          <p:cNvSpPr/>
          <p:nvPr/>
        </p:nvSpPr>
        <p:spPr>
          <a:xfrm>
            <a:off x="480379" y="4591190"/>
            <a:ext cx="4942230" cy="1045215"/>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CE63E45A-9110-8EBA-2D21-90B303422DA1}"/>
              </a:ext>
            </a:extLst>
          </p:cNvPr>
          <p:cNvSpPr/>
          <p:nvPr/>
        </p:nvSpPr>
        <p:spPr>
          <a:xfrm>
            <a:off x="6622018"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0A4FD5E5-EC45-1964-FBF1-F3A93E70B261}"/>
              </a:ext>
            </a:extLst>
          </p:cNvPr>
          <p:cNvSpPr/>
          <p:nvPr/>
        </p:nvSpPr>
        <p:spPr>
          <a:xfrm>
            <a:off x="8771034"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hlinkClick r:id="rId18" action="ppaction://hlinksldjump"/>
            <a:extLst>
              <a:ext uri="{FF2B5EF4-FFF2-40B4-BE49-F238E27FC236}">
                <a16:creationId xmlns:a16="http://schemas.microsoft.com/office/drawing/2014/main" id="{94C00F3F-AE06-D87D-0124-DD78CFBB7C61}"/>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886977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2B8B-3C21-C656-08DE-0640A57464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20A46EF-C90F-A1BD-2182-F34E2DC9E563}"/>
              </a:ext>
            </a:extLst>
          </p:cNvPr>
          <p:cNvPicPr>
            <a:picLocks noChangeAspect="1"/>
          </p:cNvPicPr>
          <p:nvPr/>
        </p:nvPicPr>
        <p:blipFill>
          <a:blip r:embed="rId2">
            <a:alphaModFix amt="40000"/>
          </a:blip>
          <a:stretch>
            <a:fillRect/>
          </a:stretch>
        </p:blipFill>
        <p:spPr>
          <a:xfrm>
            <a:off x="0" y="-930728"/>
            <a:ext cx="13846628" cy="7788728"/>
          </a:xfrm>
          <a:prstGeom prst="rect">
            <a:avLst/>
          </a:prstGeom>
        </p:spPr>
      </p:pic>
      <p:sp>
        <p:nvSpPr>
          <p:cNvPr id="34" name="TextBox 33">
            <a:extLst>
              <a:ext uri="{FF2B5EF4-FFF2-40B4-BE49-F238E27FC236}">
                <a16:creationId xmlns:a16="http://schemas.microsoft.com/office/drawing/2014/main" id="{E2DFA52B-B7FB-5E38-E33B-790BA0AD536A}"/>
              </a:ext>
            </a:extLst>
          </p:cNvPr>
          <p:cNvSpPr txBox="1"/>
          <p:nvPr/>
        </p:nvSpPr>
        <p:spPr>
          <a:xfrm>
            <a:off x="4680767" y="690637"/>
            <a:ext cx="7542168" cy="4493538"/>
          </a:xfrm>
          <a:prstGeom prst="rect">
            <a:avLst/>
          </a:prstGeom>
          <a:noFill/>
        </p:spPr>
        <p:txBody>
          <a:bodyPr wrap="square" rtlCol="0">
            <a:spAutoFit/>
          </a:bodyPr>
          <a:lstStyle/>
          <a:p>
            <a:pPr lvl="1"/>
            <a:r>
              <a:rPr lang="en-US" sz="2800" b="1" dirty="0"/>
              <a:t>Why?</a:t>
            </a:r>
          </a:p>
          <a:p>
            <a:endParaRPr lang="en-US" dirty="0"/>
          </a:p>
          <a:p>
            <a:pPr lvl="1" algn="just"/>
            <a:r>
              <a:rPr lang="en-US" sz="2400" dirty="0"/>
              <a:t>Unpivoting transforms the downtime data from a wide format into a long, factor-level structure. This step takes multiple downtime-factor columns and converts them into individual rows, each representing a single factor and its corresponding delay. By doing this, the dataset becomes fully analysis-ready, allowing accurate aggregation, clearer comparisons across factors, and more meaningful visualizations such as Pareto charts and cause-based breakdowns.</a:t>
            </a:r>
            <a:endParaRPr lang="en-US" sz="2000" dirty="0"/>
          </a:p>
        </p:txBody>
      </p:sp>
      <p:pic>
        <p:nvPicPr>
          <p:cNvPr id="2" name="Picture 1" descr="A green square with white x on it&#10;&#10;AI-generated content may be incorrect.">
            <a:extLst>
              <a:ext uri="{FF2B5EF4-FFF2-40B4-BE49-F238E27FC236}">
                <a16:creationId xmlns:a16="http://schemas.microsoft.com/office/drawing/2014/main" id="{66796E4B-A5CD-1A92-139F-4C231DE82193}"/>
              </a:ext>
            </a:extLst>
          </p:cNvPr>
          <p:cNvPicPr>
            <a:picLocks noChangeAspect="1"/>
          </p:cNvPicPr>
          <p:nvPr/>
        </p:nvPicPr>
        <p:blipFill>
          <a:blip r:embed="rId3">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2" descr="A screenshot of a computer&#10;&#10;AI-generated content may be incorrect.">
            <a:hlinkClick r:id="rId4" action="ppaction://hlinksldjump"/>
            <a:extLst>
              <a:ext uri="{FF2B5EF4-FFF2-40B4-BE49-F238E27FC236}">
                <a16:creationId xmlns:a16="http://schemas.microsoft.com/office/drawing/2014/main" id="{71016960-EAFC-2D27-1E57-622F450F6AB5}"/>
              </a:ext>
            </a:extLst>
          </p:cNvPr>
          <p:cNvPicPr>
            <a:picLocks noChangeAspect="1"/>
          </p:cNvPicPr>
          <p:nvPr/>
        </p:nvPicPr>
        <p:blipFill>
          <a:blip r:embed="rId5">
            <a:extLst>
              <a:ext uri="{28A0092B-C50C-407E-A947-70E740481C1C}">
                <a14:useLocalDpi xmlns:a14="http://schemas.microsoft.com/office/drawing/2010/main" val="0"/>
              </a:ext>
            </a:extLst>
          </a:blip>
          <a:srcRect l="40410" t="34307" r="42884" b="33606"/>
          <a:stretch>
            <a:fillRect/>
          </a:stretch>
        </p:blipFill>
        <p:spPr>
          <a:xfrm>
            <a:off x="8771034" y="11465059"/>
            <a:ext cx="845151"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A logo with orange and black text&#10;&#10;AI-generated content may be incorrect.">
            <a:extLst>
              <a:ext uri="{FF2B5EF4-FFF2-40B4-BE49-F238E27FC236}">
                <a16:creationId xmlns:a16="http://schemas.microsoft.com/office/drawing/2014/main" id="{8B86076A-9839-0A13-0F9E-60FD05919623}"/>
              </a:ext>
            </a:extLst>
          </p:cNvPr>
          <p:cNvPicPr>
            <a:picLocks noChangeAspect="1"/>
          </p:cNvPicPr>
          <p:nvPr/>
        </p:nvPicPr>
        <p:blipFill>
          <a:blip r:embed="rId6">
            <a:extLst>
              <a:ext uri="{28A0092B-C50C-407E-A947-70E740481C1C}">
                <a14:useLocalDpi xmlns:a14="http://schemas.microsoft.com/office/drawing/2010/main" val="0"/>
              </a:ext>
            </a:extLst>
          </a:blip>
          <a:srcRect l="34318" t="28806" r="36227" b="24754"/>
          <a:stretch>
            <a:fillRect/>
          </a:stretch>
        </p:blipFill>
        <p:spPr>
          <a:xfrm>
            <a:off x="877103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nvGrpSpPr>
          <p:cNvPr id="6" name="!!Group 6">
            <a:extLst>
              <a:ext uri="{FF2B5EF4-FFF2-40B4-BE49-F238E27FC236}">
                <a16:creationId xmlns:a16="http://schemas.microsoft.com/office/drawing/2014/main" id="{E4EA4C08-9108-D1CC-A9DB-6451A681D763}"/>
              </a:ext>
            </a:extLst>
          </p:cNvPr>
          <p:cNvGrpSpPr/>
          <p:nvPr/>
        </p:nvGrpSpPr>
        <p:grpSpPr>
          <a:xfrm rot="18900000">
            <a:off x="-2982632" y="1065576"/>
            <a:ext cx="10118160" cy="10118160"/>
            <a:chOff x="2176270" y="1528942"/>
            <a:chExt cx="3657600" cy="3657601"/>
          </a:xfrm>
        </p:grpSpPr>
        <p:sp>
          <p:nvSpPr>
            <p:cNvPr id="7" name="Freeform: Shape 6">
              <a:extLst>
                <a:ext uri="{FF2B5EF4-FFF2-40B4-BE49-F238E27FC236}">
                  <a16:creationId xmlns:a16="http://schemas.microsoft.com/office/drawing/2014/main" id="{DDC241D7-63DA-1250-1686-010AB1F78986}"/>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CCA34568-94A2-749C-CF1F-9F5A01953145}"/>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C9C1A334-7BFD-A21F-C3D9-C445AC5B9B57}"/>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4D54B21-F073-FD1B-2AA1-64BB3F8B5CF4}"/>
              </a:ext>
            </a:extLst>
          </p:cNvPr>
          <p:cNvSpPr txBox="1"/>
          <p:nvPr/>
        </p:nvSpPr>
        <p:spPr>
          <a:xfrm>
            <a:off x="380548" y="1549865"/>
            <a:ext cx="2628536" cy="400110"/>
          </a:xfrm>
          <a:prstGeom prst="rect">
            <a:avLst/>
          </a:prstGeom>
          <a:noFill/>
        </p:spPr>
        <p:txBody>
          <a:bodyPr wrap="square" rtlCol="0">
            <a:spAutoFit/>
          </a:bodyPr>
          <a:lstStyle/>
          <a:p>
            <a:pPr algn="ctr"/>
            <a:r>
              <a:rPr lang="en-US" sz="2000" b="1" dirty="0"/>
              <a:t>Unpivoting Columns</a:t>
            </a:r>
          </a:p>
        </p:txBody>
      </p:sp>
      <p:sp>
        <p:nvSpPr>
          <p:cNvPr id="19" name="!!TextBox 14">
            <a:extLst>
              <a:ext uri="{FF2B5EF4-FFF2-40B4-BE49-F238E27FC236}">
                <a16:creationId xmlns:a16="http://schemas.microsoft.com/office/drawing/2014/main" id="{4B1EDB5C-B3D9-7EE8-A2C4-DE1B8B982D12}"/>
              </a:ext>
            </a:extLst>
          </p:cNvPr>
          <p:cNvSpPr txBox="1"/>
          <p:nvPr/>
        </p:nvSpPr>
        <p:spPr>
          <a:xfrm>
            <a:off x="247029" y="2061223"/>
            <a:ext cx="3639312" cy="1754326"/>
          </a:xfrm>
          <a:prstGeom prst="rect">
            <a:avLst/>
          </a:prstGeom>
          <a:noFill/>
        </p:spPr>
        <p:txBody>
          <a:bodyPr wrap="square" rtlCol="0">
            <a:spAutoFit/>
          </a:bodyPr>
          <a:lstStyle/>
          <a:p>
            <a:pPr algn="ctr"/>
            <a:r>
              <a:rPr lang="en-US" dirty="0"/>
              <a:t>Unpivoting converts wide downtime columns into factor-level rows, enabling detailed analysis of each downtime cause, proper aggregations, and more meaningful visualizations</a:t>
            </a:r>
          </a:p>
        </p:txBody>
      </p:sp>
      <p:sp>
        <p:nvSpPr>
          <p:cNvPr id="20" name="!!TextBox 19">
            <a:extLst>
              <a:ext uri="{FF2B5EF4-FFF2-40B4-BE49-F238E27FC236}">
                <a16:creationId xmlns:a16="http://schemas.microsoft.com/office/drawing/2014/main" id="{B8272F5B-D1E0-B6BD-A3F6-F2A3C2E5DC05}"/>
              </a:ext>
            </a:extLst>
          </p:cNvPr>
          <p:cNvSpPr txBox="1"/>
          <p:nvPr/>
        </p:nvSpPr>
        <p:spPr>
          <a:xfrm>
            <a:off x="1000125" y="781676"/>
            <a:ext cx="2152637" cy="769441"/>
          </a:xfrm>
          <a:prstGeom prst="rect">
            <a:avLst/>
          </a:prstGeom>
          <a:noFill/>
        </p:spPr>
        <p:txBody>
          <a:bodyPr wrap="square" rtlCol="0">
            <a:spAutoFit/>
          </a:bodyPr>
          <a:lstStyle/>
          <a:p>
            <a:pPr algn="ctr"/>
            <a:r>
              <a:rPr lang="en-US" sz="4400" b="1" dirty="0">
                <a:latin typeface="+mj-lt"/>
              </a:rPr>
              <a:t>STEP 04</a:t>
            </a:r>
          </a:p>
        </p:txBody>
      </p:sp>
      <p:pic>
        <p:nvPicPr>
          <p:cNvPr id="21" name="!!Graphic 20" descr="Branching diagram outline">
            <a:extLst>
              <a:ext uri="{FF2B5EF4-FFF2-40B4-BE49-F238E27FC236}">
                <a16:creationId xmlns:a16="http://schemas.microsoft.com/office/drawing/2014/main" id="{8B498F79-E58D-7ED8-138E-9A425D8EB6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09084" y="1549865"/>
            <a:ext cx="519510" cy="519510"/>
          </a:xfrm>
          <a:prstGeom prst="rect">
            <a:avLst/>
          </a:prstGeom>
        </p:spPr>
      </p:pic>
    </p:spTree>
    <p:extLst>
      <p:ext uri="{BB962C8B-B14F-4D97-AF65-F5344CB8AC3E}">
        <p14:creationId xmlns:p14="http://schemas.microsoft.com/office/powerpoint/2010/main" val="34385740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F6AC4-3E7E-3665-CCE0-7B2C09717AE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53BE2F-7D07-178C-7FE6-02E1F5380AE0}"/>
              </a:ext>
            </a:extLst>
          </p:cNvPr>
          <p:cNvPicPr>
            <a:picLocks noChangeAspect="1"/>
          </p:cNvPicPr>
          <p:nvPr/>
        </p:nvPicPr>
        <p:blipFill>
          <a:blip r:embed="rId2">
            <a:alphaModFix amt="40000"/>
          </a:blip>
          <a:stretch>
            <a:fillRect/>
          </a:stretch>
        </p:blipFill>
        <p:spPr>
          <a:xfrm>
            <a:off x="0" y="-930728"/>
            <a:ext cx="13846628" cy="7788728"/>
          </a:xfrm>
          <a:prstGeom prst="rect">
            <a:avLst/>
          </a:prstGeom>
        </p:spPr>
      </p:pic>
      <p:sp>
        <p:nvSpPr>
          <p:cNvPr id="28" name="TextBox 27">
            <a:extLst>
              <a:ext uri="{FF2B5EF4-FFF2-40B4-BE49-F238E27FC236}">
                <a16:creationId xmlns:a16="http://schemas.microsoft.com/office/drawing/2014/main" id="{2BA2F1D3-D46E-AB21-1830-AACEC11D7215}"/>
              </a:ext>
            </a:extLst>
          </p:cNvPr>
          <p:cNvSpPr txBox="1"/>
          <p:nvPr/>
        </p:nvSpPr>
        <p:spPr>
          <a:xfrm>
            <a:off x="11824517" y="690637"/>
            <a:ext cx="7542168" cy="4493538"/>
          </a:xfrm>
          <a:prstGeom prst="rect">
            <a:avLst/>
          </a:prstGeom>
          <a:noFill/>
        </p:spPr>
        <p:txBody>
          <a:bodyPr wrap="square" rtlCol="0">
            <a:spAutoFit/>
          </a:bodyPr>
          <a:lstStyle/>
          <a:p>
            <a:pPr lvl="1"/>
            <a:r>
              <a:rPr lang="en-US" sz="2800" b="1" dirty="0"/>
              <a:t>Why?</a:t>
            </a:r>
          </a:p>
          <a:p>
            <a:endParaRPr lang="en-US" dirty="0"/>
          </a:p>
          <a:p>
            <a:pPr lvl="1"/>
            <a:r>
              <a:rPr lang="en-US" sz="2400" dirty="0"/>
              <a:t>Unpivoting transforms the downtime data from a wide format into a long, factor-level structure. This step takes multiple downtime-factor columns and converts them into individual rows, each representing a single factor and its corresponding delay. By doing this, the dataset becomes fully analysis-ready, allowing accurate aggregation, clearer comparisons across factors, and more meaningful visualizations such as Pareto charts and cause-based breakdowns.</a:t>
            </a:r>
            <a:endParaRPr lang="en-US" sz="2000" dirty="0"/>
          </a:p>
        </p:txBody>
      </p:sp>
      <p:pic>
        <p:nvPicPr>
          <p:cNvPr id="33" name="Picture 32">
            <a:extLst>
              <a:ext uri="{FF2B5EF4-FFF2-40B4-BE49-F238E27FC236}">
                <a16:creationId xmlns:a16="http://schemas.microsoft.com/office/drawing/2014/main" id="{846F0E60-ACCA-BFF2-10CC-D8F9DC4109CB}"/>
              </a:ext>
            </a:extLst>
          </p:cNvPr>
          <p:cNvPicPr>
            <a:picLocks noChangeAspect="1"/>
          </p:cNvPicPr>
          <p:nvPr/>
        </p:nvPicPr>
        <p:blipFill>
          <a:blip r:embed="rId3"/>
          <a:srcRect r="27032"/>
          <a:stretch>
            <a:fillRect/>
          </a:stretch>
        </p:blipFill>
        <p:spPr>
          <a:xfrm>
            <a:off x="200768" y="141220"/>
            <a:ext cx="6991757" cy="16223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DE62CB45-52AF-E0A1-0FFA-35F25962B2D0}"/>
              </a:ext>
            </a:extLst>
          </p:cNvPr>
          <p:cNvPicPr>
            <a:picLocks noChangeAspect="1"/>
          </p:cNvPicPr>
          <p:nvPr/>
        </p:nvPicPr>
        <p:blipFill>
          <a:blip r:embed="rId4"/>
          <a:srcRect b="56766"/>
          <a:stretch>
            <a:fillRect/>
          </a:stretch>
        </p:blipFill>
        <p:spPr>
          <a:xfrm>
            <a:off x="200768" y="2365019"/>
            <a:ext cx="4648200" cy="1449550"/>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35" name="Straight Arrow Connector 34">
            <a:extLst>
              <a:ext uri="{FF2B5EF4-FFF2-40B4-BE49-F238E27FC236}">
                <a16:creationId xmlns:a16="http://schemas.microsoft.com/office/drawing/2014/main" id="{EF8CFB72-28AF-76BB-7CF0-5599FF0D8883}"/>
              </a:ext>
            </a:extLst>
          </p:cNvPr>
          <p:cNvCxnSpPr>
            <a:cxnSpLocks/>
          </p:cNvCxnSpPr>
          <p:nvPr/>
        </p:nvCxnSpPr>
        <p:spPr>
          <a:xfrm>
            <a:off x="2512911" y="1763595"/>
            <a:ext cx="0" cy="601424"/>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38" name="Picture 37" descr="A green square with white x on it&#10;&#10;AI-generated content may be incorrect.">
            <a:hlinkClick r:id="rId5" action="ppaction://hlinksldjump"/>
            <a:extLst>
              <a:ext uri="{FF2B5EF4-FFF2-40B4-BE49-F238E27FC236}">
                <a16:creationId xmlns:a16="http://schemas.microsoft.com/office/drawing/2014/main" id="{E03FA693-1AC0-4C81-5B66-5FD014AA3F4D}"/>
              </a:ext>
            </a:extLst>
          </p:cNvPr>
          <p:cNvPicPr>
            <a:picLocks noChangeAspect="1"/>
          </p:cNvPicPr>
          <p:nvPr/>
        </p:nvPicPr>
        <p:blipFill>
          <a:blip r:embed="rId6">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9" name="Picture 38" descr="A logo with orange and black text&#10;&#10;AI-generated content may be incorrect.">
            <a:hlinkClick r:id="rId7" action="ppaction://hlinksldjump"/>
            <a:extLst>
              <a:ext uri="{FF2B5EF4-FFF2-40B4-BE49-F238E27FC236}">
                <a16:creationId xmlns:a16="http://schemas.microsoft.com/office/drawing/2014/main" id="{598D90C6-12A0-DDE6-0644-CC78E18723D8}"/>
              </a:ext>
            </a:extLst>
          </p:cNvPr>
          <p:cNvPicPr>
            <a:picLocks noChangeAspect="1"/>
          </p:cNvPicPr>
          <p:nvPr/>
        </p:nvPicPr>
        <p:blipFill>
          <a:blip r:embed="rId8">
            <a:extLst>
              <a:ext uri="{28A0092B-C50C-407E-A947-70E740481C1C}">
                <a14:useLocalDpi xmlns:a14="http://schemas.microsoft.com/office/drawing/2010/main" val="0"/>
              </a:ext>
            </a:extLst>
          </a:blip>
          <a:srcRect l="34318" t="28806" r="36227" b="24754"/>
          <a:stretch>
            <a:fillRect/>
          </a:stretch>
        </p:blipFill>
        <p:spPr>
          <a:xfrm>
            <a:off x="877103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0" name="Picture 39">
            <a:extLst>
              <a:ext uri="{FF2B5EF4-FFF2-40B4-BE49-F238E27FC236}">
                <a16:creationId xmlns:a16="http://schemas.microsoft.com/office/drawing/2014/main" id="{99F2FEFC-C626-0775-6962-FF8C3BCAA186}"/>
              </a:ext>
            </a:extLst>
          </p:cNvPr>
          <p:cNvPicPr>
            <a:picLocks noChangeAspect="1"/>
          </p:cNvPicPr>
          <p:nvPr/>
        </p:nvPicPr>
        <p:blipFill>
          <a:blip r:embed="rId9"/>
          <a:srcRect r="70121"/>
          <a:stretch>
            <a:fillRect/>
          </a:stretch>
        </p:blipFill>
        <p:spPr>
          <a:xfrm>
            <a:off x="7967335" y="141220"/>
            <a:ext cx="3463580" cy="2886075"/>
          </a:xfrm>
          <a:prstGeom prst="rect">
            <a:avLst/>
          </a:prstGeom>
          <a:ln w="19050">
            <a:solidFill>
              <a:srgbClr val="112250"/>
            </a:solidFill>
          </a:ln>
          <a:effectLst>
            <a:outerShdw blurRad="203200" dist="38100" dir="5400000" sx="101000" sy="101000" algn="t" rotWithShape="0">
              <a:prstClr val="black">
                <a:alpha val="40000"/>
              </a:prstClr>
            </a:outerShdw>
          </a:effectLst>
        </p:spPr>
      </p:pic>
      <p:grpSp>
        <p:nvGrpSpPr>
          <p:cNvPr id="41" name="!!Group 6">
            <a:extLst>
              <a:ext uri="{FF2B5EF4-FFF2-40B4-BE49-F238E27FC236}">
                <a16:creationId xmlns:a16="http://schemas.microsoft.com/office/drawing/2014/main" id="{684ACEA6-4138-AA73-C213-8F401D9A374D}"/>
              </a:ext>
            </a:extLst>
          </p:cNvPr>
          <p:cNvGrpSpPr/>
          <p:nvPr/>
        </p:nvGrpSpPr>
        <p:grpSpPr>
          <a:xfrm rot="18900000">
            <a:off x="-2982632" y="8136491"/>
            <a:ext cx="10118160" cy="10118160"/>
            <a:chOff x="2176270" y="1528942"/>
            <a:chExt cx="3657600" cy="3657601"/>
          </a:xfrm>
        </p:grpSpPr>
        <p:sp>
          <p:nvSpPr>
            <p:cNvPr id="42" name="Freeform: Shape 41">
              <a:extLst>
                <a:ext uri="{FF2B5EF4-FFF2-40B4-BE49-F238E27FC236}">
                  <a16:creationId xmlns:a16="http://schemas.microsoft.com/office/drawing/2014/main" id="{9B146586-638E-3CF2-6E1D-713AB97A812F}"/>
                </a:ext>
              </a:extLst>
            </p:cNvPr>
            <p:cNvSpPr/>
            <p:nvPr/>
          </p:nvSpPr>
          <p:spPr>
            <a:xfrm>
              <a:off x="2176270" y="1528942"/>
              <a:ext cx="3657600" cy="3657601"/>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398782 w 3657600"/>
                <a:gd name="connsiteY3" fmla="*/ 1828800 h 3657600"/>
                <a:gd name="connsiteX4" fmla="*/ 1828800 w 3657600"/>
                <a:gd name="connsiteY4" fmla="*/ 2398782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58818 w 3657600"/>
                <a:gd name="connsiteY9" fmla="*/ 1828800 h 3657600"/>
                <a:gd name="connsiteX10" fmla="*/ 1828800 w 3657600"/>
                <a:gd name="connsiteY10" fmla="*/ 1258818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398782" y="1828800"/>
                  </a:lnTo>
                  <a:cubicBezTo>
                    <a:pt x="2083990" y="1828800"/>
                    <a:pt x="1828800" y="2083990"/>
                    <a:pt x="1828800" y="2398782"/>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58818" y="1828800"/>
                  </a:lnTo>
                  <a:cubicBezTo>
                    <a:pt x="1573610" y="1828800"/>
                    <a:pt x="1828800" y="1573610"/>
                    <a:pt x="1828800" y="1258818"/>
                  </a:cubicBezTo>
                  <a:lnTo>
                    <a:pt x="1828800" y="914400"/>
                  </a:lnTo>
                  <a:cubicBezTo>
                    <a:pt x="1828800" y="409391"/>
                    <a:pt x="2238191" y="0"/>
                    <a:pt x="2743200" y="0"/>
                  </a:cubicBezTo>
                  <a:close/>
                </a:path>
              </a:pathLst>
            </a:custGeom>
            <a:solidFill>
              <a:srgbClr val="1122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21DD5F22-82EC-7B18-0B59-988665DA14CC}"/>
                </a:ext>
              </a:extLst>
            </p:cNvPr>
            <p:cNvSpPr/>
            <p:nvPr/>
          </p:nvSpPr>
          <p:spPr>
            <a:xfrm rot="2700000">
              <a:off x="4152437" y="1655895"/>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EC0ADF3C-3404-A361-364F-09409BAFAA8A}"/>
                </a:ext>
              </a:extLst>
            </p:cNvPr>
            <p:cNvSpPr/>
            <p:nvPr/>
          </p:nvSpPr>
          <p:spPr>
            <a:xfrm rot="2700000">
              <a:off x="2309689" y="3498642"/>
              <a:ext cx="1554480" cy="1554480"/>
            </a:xfrm>
            <a:prstGeom prst="ellipse">
              <a:avLst/>
            </a:prstGeom>
            <a:solidFill>
              <a:srgbClr val="F5F0EA"/>
            </a:solidFill>
            <a:effectLst>
              <a:innerShdw blurRad="292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17">
            <a:extLst>
              <a:ext uri="{FF2B5EF4-FFF2-40B4-BE49-F238E27FC236}">
                <a16:creationId xmlns:a16="http://schemas.microsoft.com/office/drawing/2014/main" id="{F352EF24-EC59-7524-8379-40E20574DFD0}"/>
              </a:ext>
            </a:extLst>
          </p:cNvPr>
          <p:cNvSpPr txBox="1"/>
          <p:nvPr/>
        </p:nvSpPr>
        <p:spPr>
          <a:xfrm>
            <a:off x="380548" y="8620780"/>
            <a:ext cx="2628536" cy="400110"/>
          </a:xfrm>
          <a:prstGeom prst="rect">
            <a:avLst/>
          </a:prstGeom>
          <a:noFill/>
        </p:spPr>
        <p:txBody>
          <a:bodyPr wrap="square" rtlCol="0">
            <a:spAutoFit/>
          </a:bodyPr>
          <a:lstStyle/>
          <a:p>
            <a:pPr algn="ctr"/>
            <a:r>
              <a:rPr lang="en-US" sz="2000" b="1" dirty="0"/>
              <a:t>Unpivoting Columns</a:t>
            </a:r>
          </a:p>
        </p:txBody>
      </p:sp>
      <p:sp>
        <p:nvSpPr>
          <p:cNvPr id="46" name="!!TextBox 14">
            <a:extLst>
              <a:ext uri="{FF2B5EF4-FFF2-40B4-BE49-F238E27FC236}">
                <a16:creationId xmlns:a16="http://schemas.microsoft.com/office/drawing/2014/main" id="{18091A8A-79B8-0A4C-C099-2F5157AD26DB}"/>
              </a:ext>
            </a:extLst>
          </p:cNvPr>
          <p:cNvSpPr txBox="1"/>
          <p:nvPr/>
        </p:nvSpPr>
        <p:spPr>
          <a:xfrm>
            <a:off x="247029" y="9132138"/>
            <a:ext cx="3639312" cy="1754326"/>
          </a:xfrm>
          <a:prstGeom prst="rect">
            <a:avLst/>
          </a:prstGeom>
          <a:noFill/>
        </p:spPr>
        <p:txBody>
          <a:bodyPr wrap="square" rtlCol="0">
            <a:spAutoFit/>
          </a:bodyPr>
          <a:lstStyle/>
          <a:p>
            <a:pPr algn="ctr"/>
            <a:r>
              <a:rPr lang="en-US" dirty="0"/>
              <a:t>Unpivoting converts wide downtime columns into factor-level rows, enabling detailed analysis of each downtime cause, proper aggregations, and more meaningful visualizations</a:t>
            </a:r>
          </a:p>
        </p:txBody>
      </p:sp>
      <p:sp>
        <p:nvSpPr>
          <p:cNvPr id="47" name="!!TextBox 19">
            <a:extLst>
              <a:ext uri="{FF2B5EF4-FFF2-40B4-BE49-F238E27FC236}">
                <a16:creationId xmlns:a16="http://schemas.microsoft.com/office/drawing/2014/main" id="{D4C5F35F-88B8-DB96-7DA1-4E3FB038DADD}"/>
              </a:ext>
            </a:extLst>
          </p:cNvPr>
          <p:cNvSpPr txBox="1"/>
          <p:nvPr/>
        </p:nvSpPr>
        <p:spPr>
          <a:xfrm>
            <a:off x="1000125" y="7852591"/>
            <a:ext cx="2152637" cy="769441"/>
          </a:xfrm>
          <a:prstGeom prst="rect">
            <a:avLst/>
          </a:prstGeom>
          <a:noFill/>
        </p:spPr>
        <p:txBody>
          <a:bodyPr wrap="square" rtlCol="0">
            <a:spAutoFit/>
          </a:bodyPr>
          <a:lstStyle/>
          <a:p>
            <a:pPr algn="ctr"/>
            <a:r>
              <a:rPr lang="en-US" sz="4400" b="1" dirty="0">
                <a:latin typeface="+mj-lt"/>
              </a:rPr>
              <a:t>STEP 04</a:t>
            </a:r>
          </a:p>
        </p:txBody>
      </p:sp>
      <p:pic>
        <p:nvPicPr>
          <p:cNvPr id="48" name="!!Graphic 20" descr="Branching diagram outline">
            <a:extLst>
              <a:ext uri="{FF2B5EF4-FFF2-40B4-BE49-F238E27FC236}">
                <a16:creationId xmlns:a16="http://schemas.microsoft.com/office/drawing/2014/main" id="{1DB1BC0F-28C0-5E1E-2E57-D4C03A037CC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09084" y="8620780"/>
            <a:ext cx="519510" cy="519510"/>
          </a:xfrm>
          <a:prstGeom prst="rect">
            <a:avLst/>
          </a:prstGeom>
        </p:spPr>
      </p:pic>
      <p:pic>
        <p:nvPicPr>
          <p:cNvPr id="9" name="Picture 8">
            <a:extLst>
              <a:ext uri="{FF2B5EF4-FFF2-40B4-BE49-F238E27FC236}">
                <a16:creationId xmlns:a16="http://schemas.microsoft.com/office/drawing/2014/main" id="{26B6D672-49B3-F408-2E0A-02F0E0CEFE51}"/>
              </a:ext>
            </a:extLst>
          </p:cNvPr>
          <p:cNvPicPr>
            <a:picLocks noChangeAspect="1"/>
          </p:cNvPicPr>
          <p:nvPr/>
        </p:nvPicPr>
        <p:blipFill>
          <a:blip r:embed="rId12"/>
          <a:stretch>
            <a:fillRect/>
          </a:stretch>
        </p:blipFill>
        <p:spPr>
          <a:xfrm>
            <a:off x="425824" y="-6948536"/>
            <a:ext cx="4090771" cy="1182727"/>
          </a:xfrm>
          <a:prstGeom prst="rect">
            <a:avLst/>
          </a:prstGeom>
        </p:spPr>
      </p:pic>
      <p:pic>
        <p:nvPicPr>
          <p:cNvPr id="10" name="Picture 9">
            <a:extLst>
              <a:ext uri="{FF2B5EF4-FFF2-40B4-BE49-F238E27FC236}">
                <a16:creationId xmlns:a16="http://schemas.microsoft.com/office/drawing/2014/main" id="{B516B682-E92D-1339-EA11-9B9D585144B1}"/>
              </a:ext>
            </a:extLst>
          </p:cNvPr>
          <p:cNvPicPr>
            <a:picLocks noChangeAspect="1"/>
          </p:cNvPicPr>
          <p:nvPr/>
        </p:nvPicPr>
        <p:blipFill>
          <a:blip r:embed="rId13"/>
          <a:stretch>
            <a:fillRect/>
          </a:stretch>
        </p:blipFill>
        <p:spPr>
          <a:xfrm>
            <a:off x="-156584402" y="-17189450"/>
            <a:ext cx="472203711" cy="45739050"/>
          </a:xfrm>
          <a:prstGeom prst="rect">
            <a:avLst/>
          </a:prstGeom>
        </p:spPr>
      </p:pic>
      <p:pic>
        <p:nvPicPr>
          <p:cNvPr id="11" name="Picture 10">
            <a:extLst>
              <a:ext uri="{FF2B5EF4-FFF2-40B4-BE49-F238E27FC236}">
                <a16:creationId xmlns:a16="http://schemas.microsoft.com/office/drawing/2014/main" id="{E054B01E-189B-15EC-A8D2-E60A98D47ECC}"/>
              </a:ext>
            </a:extLst>
          </p:cNvPr>
          <p:cNvPicPr>
            <a:picLocks noChangeAspect="1"/>
          </p:cNvPicPr>
          <p:nvPr/>
        </p:nvPicPr>
        <p:blipFill>
          <a:blip r:embed="rId14"/>
          <a:stretch>
            <a:fillRect/>
          </a:stretch>
        </p:blipFill>
        <p:spPr>
          <a:xfrm>
            <a:off x="419602" y="13776056"/>
            <a:ext cx="11772396" cy="1182727"/>
          </a:xfrm>
          <a:prstGeom prst="rect">
            <a:avLst/>
          </a:prstGeom>
        </p:spPr>
      </p:pic>
      <p:pic>
        <p:nvPicPr>
          <p:cNvPr id="12" name="Picture 11">
            <a:extLst>
              <a:ext uri="{FF2B5EF4-FFF2-40B4-BE49-F238E27FC236}">
                <a16:creationId xmlns:a16="http://schemas.microsoft.com/office/drawing/2014/main" id="{3F36BB23-DE1D-BDA2-1591-33484563F161}"/>
              </a:ext>
            </a:extLst>
          </p:cNvPr>
          <p:cNvPicPr>
            <a:picLocks noChangeAspect="1"/>
          </p:cNvPicPr>
          <p:nvPr/>
        </p:nvPicPr>
        <p:blipFill>
          <a:blip r:embed="rId15"/>
          <a:stretch>
            <a:fillRect/>
          </a:stretch>
        </p:blipFill>
        <p:spPr>
          <a:xfrm>
            <a:off x="447857" y="14805356"/>
            <a:ext cx="11077392" cy="1072989"/>
          </a:xfrm>
          <a:prstGeom prst="rect">
            <a:avLst/>
          </a:prstGeom>
        </p:spPr>
      </p:pic>
      <p:pic>
        <p:nvPicPr>
          <p:cNvPr id="13" name="Picture 12">
            <a:extLst>
              <a:ext uri="{FF2B5EF4-FFF2-40B4-BE49-F238E27FC236}">
                <a16:creationId xmlns:a16="http://schemas.microsoft.com/office/drawing/2014/main" id="{8DE1486C-9713-59EB-ED24-8117EB348B7D}"/>
              </a:ext>
            </a:extLst>
          </p:cNvPr>
          <p:cNvPicPr>
            <a:picLocks noChangeAspect="1"/>
          </p:cNvPicPr>
          <p:nvPr/>
        </p:nvPicPr>
        <p:blipFill>
          <a:blip r:embed="rId16"/>
          <a:stretch>
            <a:fillRect/>
          </a:stretch>
        </p:blipFill>
        <p:spPr>
          <a:xfrm>
            <a:off x="425823" y="15724918"/>
            <a:ext cx="11077392" cy="1072989"/>
          </a:xfrm>
          <a:prstGeom prst="rect">
            <a:avLst/>
          </a:prstGeom>
        </p:spPr>
      </p:pic>
      <p:pic>
        <p:nvPicPr>
          <p:cNvPr id="14" name="Picture 13">
            <a:extLst>
              <a:ext uri="{FF2B5EF4-FFF2-40B4-BE49-F238E27FC236}">
                <a16:creationId xmlns:a16="http://schemas.microsoft.com/office/drawing/2014/main" id="{B318F2F7-A5F7-91A8-1142-4F807E2D71C2}"/>
              </a:ext>
            </a:extLst>
          </p:cNvPr>
          <p:cNvPicPr>
            <a:picLocks noChangeAspect="1"/>
          </p:cNvPicPr>
          <p:nvPr/>
        </p:nvPicPr>
        <p:blipFill>
          <a:blip r:embed="rId17"/>
          <a:stretch>
            <a:fillRect/>
          </a:stretch>
        </p:blipFill>
        <p:spPr>
          <a:xfrm>
            <a:off x="403789" y="16644481"/>
            <a:ext cx="11077392" cy="1072989"/>
          </a:xfrm>
          <a:prstGeom prst="rect">
            <a:avLst/>
          </a:prstGeom>
        </p:spPr>
      </p:pic>
    </p:spTree>
    <p:extLst>
      <p:ext uri="{BB962C8B-B14F-4D97-AF65-F5344CB8AC3E}">
        <p14:creationId xmlns:p14="http://schemas.microsoft.com/office/powerpoint/2010/main" val="29953624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89D844-4CB0-CB5E-8BBF-23E8C5DC30B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FC36816-7C34-5A78-0348-1E12BADE9D1D}"/>
              </a:ext>
            </a:extLst>
          </p:cNvPr>
          <p:cNvPicPr>
            <a:picLocks noChangeAspect="1"/>
          </p:cNvPicPr>
          <p:nvPr/>
        </p:nvPicPr>
        <p:blipFill>
          <a:blip r:embed="rId2">
            <a:alphaModFix amt="40000"/>
          </a:blip>
          <a:stretch>
            <a:fillRect/>
          </a:stretch>
        </p:blipFill>
        <p:spPr>
          <a:xfrm>
            <a:off x="0" y="-930728"/>
            <a:ext cx="13846628" cy="7788728"/>
          </a:xfrm>
          <a:prstGeom prst="rect">
            <a:avLst/>
          </a:prstGeom>
        </p:spPr>
      </p:pic>
      <p:sp>
        <p:nvSpPr>
          <p:cNvPr id="28" name="TextBox 27">
            <a:extLst>
              <a:ext uri="{FF2B5EF4-FFF2-40B4-BE49-F238E27FC236}">
                <a16:creationId xmlns:a16="http://schemas.microsoft.com/office/drawing/2014/main" id="{664161E1-1F52-60B4-94B1-804EF53CA10E}"/>
              </a:ext>
            </a:extLst>
          </p:cNvPr>
          <p:cNvSpPr txBox="1"/>
          <p:nvPr/>
        </p:nvSpPr>
        <p:spPr>
          <a:xfrm>
            <a:off x="11824517" y="690637"/>
            <a:ext cx="7542168" cy="4493538"/>
          </a:xfrm>
          <a:prstGeom prst="rect">
            <a:avLst/>
          </a:prstGeom>
          <a:noFill/>
        </p:spPr>
        <p:txBody>
          <a:bodyPr wrap="square" rtlCol="0">
            <a:spAutoFit/>
          </a:bodyPr>
          <a:lstStyle/>
          <a:p>
            <a:pPr lvl="1"/>
            <a:r>
              <a:rPr lang="en-US" sz="2800" b="1" dirty="0"/>
              <a:t>Why?</a:t>
            </a:r>
          </a:p>
          <a:p>
            <a:endParaRPr lang="en-US" dirty="0"/>
          </a:p>
          <a:p>
            <a:pPr lvl="1"/>
            <a:r>
              <a:rPr lang="en-US" sz="2400" dirty="0"/>
              <a:t>Unpivoting transforms the downtime data from a wide format into a long, factor-level structure. This step takes multiple downtime-factor columns and converts them into individual rows, each representing a single factor and its corresponding delay. By doing this, the dataset becomes fully analysis-ready, allowing accurate aggregation, clearer comparisons across factors, and more meaningful visualizations such as Pareto charts and cause-based breakdowns.</a:t>
            </a:r>
            <a:endParaRPr lang="en-US" sz="2000" dirty="0"/>
          </a:p>
        </p:txBody>
      </p:sp>
      <p:pic>
        <p:nvPicPr>
          <p:cNvPr id="33" name="Picture 32">
            <a:extLst>
              <a:ext uri="{FF2B5EF4-FFF2-40B4-BE49-F238E27FC236}">
                <a16:creationId xmlns:a16="http://schemas.microsoft.com/office/drawing/2014/main" id="{4A2945A9-A5C8-1413-ECCB-6F0DB2E0BA67}"/>
              </a:ext>
            </a:extLst>
          </p:cNvPr>
          <p:cNvPicPr>
            <a:picLocks noChangeAspect="1"/>
          </p:cNvPicPr>
          <p:nvPr/>
        </p:nvPicPr>
        <p:blipFill>
          <a:blip r:embed="rId3"/>
          <a:srcRect r="27032"/>
          <a:stretch>
            <a:fillRect/>
          </a:stretch>
        </p:blipFill>
        <p:spPr>
          <a:xfrm>
            <a:off x="200768" y="141220"/>
            <a:ext cx="6991757" cy="16223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C56E1BDF-ECE7-65E1-0AD7-A33BD57996D7}"/>
              </a:ext>
            </a:extLst>
          </p:cNvPr>
          <p:cNvPicPr>
            <a:picLocks noChangeAspect="1"/>
          </p:cNvPicPr>
          <p:nvPr/>
        </p:nvPicPr>
        <p:blipFill>
          <a:blip r:embed="rId4"/>
          <a:srcRect b="56766"/>
          <a:stretch>
            <a:fillRect/>
          </a:stretch>
        </p:blipFill>
        <p:spPr>
          <a:xfrm>
            <a:off x="200768" y="2365019"/>
            <a:ext cx="4648200" cy="1449550"/>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35" name="Straight Arrow Connector 34">
            <a:extLst>
              <a:ext uri="{FF2B5EF4-FFF2-40B4-BE49-F238E27FC236}">
                <a16:creationId xmlns:a16="http://schemas.microsoft.com/office/drawing/2014/main" id="{F311691B-EB20-92C6-3C0B-F418DFA2ECA2}"/>
              </a:ext>
            </a:extLst>
          </p:cNvPr>
          <p:cNvCxnSpPr>
            <a:cxnSpLocks/>
          </p:cNvCxnSpPr>
          <p:nvPr/>
        </p:nvCxnSpPr>
        <p:spPr>
          <a:xfrm>
            <a:off x="2512911" y="1763595"/>
            <a:ext cx="0" cy="601424"/>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38" name="Picture 37" descr="A green square with white x on it&#10;&#10;AI-generated content may be incorrect.">
            <a:hlinkClick r:id="rId5" action="ppaction://hlinksldjump"/>
            <a:extLst>
              <a:ext uri="{FF2B5EF4-FFF2-40B4-BE49-F238E27FC236}">
                <a16:creationId xmlns:a16="http://schemas.microsoft.com/office/drawing/2014/main" id="{A46D2B78-2926-11E9-AA3F-1D7F39A465DA}"/>
              </a:ext>
            </a:extLst>
          </p:cNvPr>
          <p:cNvPicPr>
            <a:picLocks noChangeAspect="1"/>
          </p:cNvPicPr>
          <p:nvPr/>
        </p:nvPicPr>
        <p:blipFill>
          <a:blip r:embed="rId6">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9" name="Picture 38" descr="A logo with orange and black text&#10;&#10;AI-generated content may be incorrect.">
            <a:hlinkClick r:id="rId7" action="ppaction://hlinksldjump"/>
            <a:extLst>
              <a:ext uri="{FF2B5EF4-FFF2-40B4-BE49-F238E27FC236}">
                <a16:creationId xmlns:a16="http://schemas.microsoft.com/office/drawing/2014/main" id="{C6D36701-A9B7-1434-10B8-C2C520AF3F13}"/>
              </a:ext>
            </a:extLst>
          </p:cNvPr>
          <p:cNvPicPr>
            <a:picLocks noChangeAspect="1"/>
          </p:cNvPicPr>
          <p:nvPr/>
        </p:nvPicPr>
        <p:blipFill>
          <a:blip r:embed="rId8">
            <a:extLst>
              <a:ext uri="{28A0092B-C50C-407E-A947-70E740481C1C}">
                <a14:useLocalDpi xmlns:a14="http://schemas.microsoft.com/office/drawing/2010/main" val="0"/>
              </a:ext>
            </a:extLst>
          </a:blip>
          <a:srcRect l="34318" t="28806" r="36227" b="24754"/>
          <a:stretch>
            <a:fillRect/>
          </a:stretch>
        </p:blipFill>
        <p:spPr>
          <a:xfrm>
            <a:off x="877103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0" name="Picture 39">
            <a:extLst>
              <a:ext uri="{FF2B5EF4-FFF2-40B4-BE49-F238E27FC236}">
                <a16:creationId xmlns:a16="http://schemas.microsoft.com/office/drawing/2014/main" id="{52E16CF8-D00B-ECA7-F0BF-DCFBE0AF5706}"/>
              </a:ext>
            </a:extLst>
          </p:cNvPr>
          <p:cNvPicPr>
            <a:picLocks noChangeAspect="1"/>
          </p:cNvPicPr>
          <p:nvPr/>
        </p:nvPicPr>
        <p:blipFill>
          <a:blip r:embed="rId9"/>
          <a:srcRect r="70121"/>
          <a:stretch>
            <a:fillRect/>
          </a:stretch>
        </p:blipFill>
        <p:spPr>
          <a:xfrm>
            <a:off x="7967335" y="141220"/>
            <a:ext cx="3463580" cy="28860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2" name="Picture 1" descr="A green square with white x on it&#10;&#10;AI-generated content may be incorrect.">
            <a:hlinkClick r:id="rId10" action="ppaction://hlinksldjump"/>
            <a:extLst>
              <a:ext uri="{FF2B5EF4-FFF2-40B4-BE49-F238E27FC236}">
                <a16:creationId xmlns:a16="http://schemas.microsoft.com/office/drawing/2014/main" id="{EFC5CFFB-064A-16B8-FF5C-F377C92E8398}"/>
              </a:ext>
            </a:extLst>
          </p:cNvPr>
          <p:cNvPicPr>
            <a:picLocks noChangeAspect="1"/>
          </p:cNvPicPr>
          <p:nvPr/>
        </p:nvPicPr>
        <p:blipFill>
          <a:blip r:embed="rId6">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Oval 10">
            <a:extLst>
              <a:ext uri="{FF2B5EF4-FFF2-40B4-BE49-F238E27FC236}">
                <a16:creationId xmlns:a16="http://schemas.microsoft.com/office/drawing/2014/main" id="{AC5B7945-08CD-C13D-C510-35F50917D413}"/>
              </a:ext>
            </a:extLst>
          </p:cNvPr>
          <p:cNvSpPr/>
          <p:nvPr/>
        </p:nvSpPr>
        <p:spPr>
          <a:xfrm>
            <a:off x="8770371"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hidden="1">
            <a:extLst>
              <a:ext uri="{FF2B5EF4-FFF2-40B4-BE49-F238E27FC236}">
                <a16:creationId xmlns:a16="http://schemas.microsoft.com/office/drawing/2014/main" id="{810778EA-1130-8408-1213-CDB7BDF5C301}"/>
              </a:ext>
            </a:extLst>
          </p:cNvPr>
          <p:cNvSpPr/>
          <p:nvPr/>
        </p:nvSpPr>
        <p:spPr>
          <a:xfrm>
            <a:off x="7935921" y="144070"/>
            <a:ext cx="3494994" cy="2883226"/>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EB7CA30E-29E1-A4D2-1F47-CF21C8521D01}"/>
              </a:ext>
            </a:extLst>
          </p:cNvPr>
          <p:cNvSpPr txBox="1"/>
          <p:nvPr/>
        </p:nvSpPr>
        <p:spPr>
          <a:xfrm>
            <a:off x="530825" y="4038885"/>
            <a:ext cx="3746121" cy="400110"/>
          </a:xfrm>
          <a:prstGeom prst="rect">
            <a:avLst/>
          </a:prstGeom>
          <a:noFill/>
        </p:spPr>
        <p:txBody>
          <a:bodyPr wrap="square" rtlCol="0">
            <a:spAutoFit/>
          </a:bodyPr>
          <a:lstStyle/>
          <a:p>
            <a:r>
              <a:rPr lang="en-US" sz="2000" b="1" dirty="0"/>
              <a:t>USING POWER QUERY (EXCEL)</a:t>
            </a:r>
          </a:p>
        </p:txBody>
      </p:sp>
      <p:sp>
        <p:nvSpPr>
          <p:cNvPr id="15" name="Rectangle 14" hidden="1">
            <a:hlinkClick r:id="rId11" action="ppaction://hlinksldjump"/>
            <a:extLst>
              <a:ext uri="{FF2B5EF4-FFF2-40B4-BE49-F238E27FC236}">
                <a16:creationId xmlns:a16="http://schemas.microsoft.com/office/drawing/2014/main" id="{49557278-ABB4-352E-75B7-84674C758811}"/>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0F98C26E-536F-9AC8-35EC-65466FB26891}"/>
              </a:ext>
            </a:extLst>
          </p:cNvPr>
          <p:cNvPicPr>
            <a:picLocks noChangeAspect="1"/>
          </p:cNvPicPr>
          <p:nvPr/>
        </p:nvPicPr>
        <p:blipFill>
          <a:blip r:embed="rId12"/>
          <a:stretch>
            <a:fillRect/>
          </a:stretch>
        </p:blipFill>
        <p:spPr>
          <a:xfrm>
            <a:off x="425824" y="-6948536"/>
            <a:ext cx="4090771" cy="1182727"/>
          </a:xfrm>
          <a:prstGeom prst="rect">
            <a:avLst/>
          </a:prstGeom>
        </p:spPr>
      </p:pic>
      <p:pic>
        <p:nvPicPr>
          <p:cNvPr id="5" name="Picture 4">
            <a:extLst>
              <a:ext uri="{FF2B5EF4-FFF2-40B4-BE49-F238E27FC236}">
                <a16:creationId xmlns:a16="http://schemas.microsoft.com/office/drawing/2014/main" id="{8A71E782-90AA-9072-9739-2818EEDF8322}"/>
              </a:ext>
            </a:extLst>
          </p:cNvPr>
          <p:cNvPicPr>
            <a:picLocks noChangeAspect="1"/>
          </p:cNvPicPr>
          <p:nvPr/>
        </p:nvPicPr>
        <p:blipFill>
          <a:blip r:embed="rId13"/>
          <a:stretch>
            <a:fillRect/>
          </a:stretch>
        </p:blipFill>
        <p:spPr>
          <a:xfrm>
            <a:off x="-156584402" y="-17189450"/>
            <a:ext cx="472203711" cy="45739050"/>
          </a:xfrm>
          <a:prstGeom prst="rect">
            <a:avLst/>
          </a:prstGeom>
        </p:spPr>
      </p:pic>
      <p:pic>
        <p:nvPicPr>
          <p:cNvPr id="6" name="Picture 5">
            <a:extLst>
              <a:ext uri="{FF2B5EF4-FFF2-40B4-BE49-F238E27FC236}">
                <a16:creationId xmlns:a16="http://schemas.microsoft.com/office/drawing/2014/main" id="{6BFFFD32-9B8C-D7FB-BF55-B6B20BAB5296}"/>
              </a:ext>
            </a:extLst>
          </p:cNvPr>
          <p:cNvPicPr>
            <a:picLocks noChangeAspect="1"/>
          </p:cNvPicPr>
          <p:nvPr/>
        </p:nvPicPr>
        <p:blipFill>
          <a:blip r:embed="rId14"/>
          <a:stretch>
            <a:fillRect/>
          </a:stretch>
        </p:blipFill>
        <p:spPr>
          <a:xfrm>
            <a:off x="419602" y="13776056"/>
            <a:ext cx="11772396" cy="1182727"/>
          </a:xfrm>
          <a:prstGeom prst="rect">
            <a:avLst/>
          </a:prstGeom>
        </p:spPr>
      </p:pic>
      <p:pic>
        <p:nvPicPr>
          <p:cNvPr id="7" name="Picture 6">
            <a:extLst>
              <a:ext uri="{FF2B5EF4-FFF2-40B4-BE49-F238E27FC236}">
                <a16:creationId xmlns:a16="http://schemas.microsoft.com/office/drawing/2014/main" id="{440578E1-E631-370D-62C1-C5F453C550EB}"/>
              </a:ext>
            </a:extLst>
          </p:cNvPr>
          <p:cNvPicPr>
            <a:picLocks noChangeAspect="1"/>
          </p:cNvPicPr>
          <p:nvPr/>
        </p:nvPicPr>
        <p:blipFill>
          <a:blip r:embed="rId15"/>
          <a:stretch>
            <a:fillRect/>
          </a:stretch>
        </p:blipFill>
        <p:spPr>
          <a:xfrm>
            <a:off x="447857" y="14805356"/>
            <a:ext cx="11077392" cy="1072989"/>
          </a:xfrm>
          <a:prstGeom prst="rect">
            <a:avLst/>
          </a:prstGeom>
        </p:spPr>
      </p:pic>
      <p:pic>
        <p:nvPicPr>
          <p:cNvPr id="8" name="Picture 7">
            <a:extLst>
              <a:ext uri="{FF2B5EF4-FFF2-40B4-BE49-F238E27FC236}">
                <a16:creationId xmlns:a16="http://schemas.microsoft.com/office/drawing/2014/main" id="{9C574D06-41FE-2D3E-2FC2-1933DA3D926B}"/>
              </a:ext>
            </a:extLst>
          </p:cNvPr>
          <p:cNvPicPr>
            <a:picLocks noChangeAspect="1"/>
          </p:cNvPicPr>
          <p:nvPr/>
        </p:nvPicPr>
        <p:blipFill>
          <a:blip r:embed="rId16"/>
          <a:stretch>
            <a:fillRect/>
          </a:stretch>
        </p:blipFill>
        <p:spPr>
          <a:xfrm>
            <a:off x="425823" y="15724918"/>
            <a:ext cx="11077392" cy="1072989"/>
          </a:xfrm>
          <a:prstGeom prst="rect">
            <a:avLst/>
          </a:prstGeom>
        </p:spPr>
      </p:pic>
      <p:pic>
        <p:nvPicPr>
          <p:cNvPr id="9" name="Picture 8">
            <a:extLst>
              <a:ext uri="{FF2B5EF4-FFF2-40B4-BE49-F238E27FC236}">
                <a16:creationId xmlns:a16="http://schemas.microsoft.com/office/drawing/2014/main" id="{E101B04D-2AC7-FEC9-13EB-52B78C7D8B83}"/>
              </a:ext>
            </a:extLst>
          </p:cNvPr>
          <p:cNvPicPr>
            <a:picLocks noChangeAspect="1"/>
          </p:cNvPicPr>
          <p:nvPr/>
        </p:nvPicPr>
        <p:blipFill>
          <a:blip r:embed="rId17"/>
          <a:stretch>
            <a:fillRect/>
          </a:stretch>
        </p:blipFill>
        <p:spPr>
          <a:xfrm>
            <a:off x="403789" y="16644481"/>
            <a:ext cx="11077392" cy="1072989"/>
          </a:xfrm>
          <a:prstGeom prst="rect">
            <a:avLst/>
          </a:prstGeom>
        </p:spPr>
      </p:pic>
    </p:spTree>
    <p:extLst>
      <p:ext uri="{BB962C8B-B14F-4D97-AF65-F5344CB8AC3E}">
        <p14:creationId xmlns:p14="http://schemas.microsoft.com/office/powerpoint/2010/main" val="2928270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29A531-2E80-3A66-9AFC-07D70A33643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816CD0B-44A1-DEAB-A6B1-ECF9D7FF32D1}"/>
              </a:ext>
            </a:extLst>
          </p:cNvPr>
          <p:cNvPicPr>
            <a:picLocks noChangeAspect="1"/>
          </p:cNvPicPr>
          <p:nvPr/>
        </p:nvPicPr>
        <p:blipFill>
          <a:blip r:embed="rId2">
            <a:alphaModFix amt="40000"/>
          </a:blip>
          <a:stretch>
            <a:fillRect/>
          </a:stretch>
        </p:blipFill>
        <p:spPr>
          <a:xfrm>
            <a:off x="0" y="-930728"/>
            <a:ext cx="13846628" cy="7788728"/>
          </a:xfrm>
          <a:prstGeom prst="rect">
            <a:avLst/>
          </a:prstGeom>
        </p:spPr>
      </p:pic>
      <p:sp>
        <p:nvSpPr>
          <p:cNvPr id="28" name="TextBox 27">
            <a:extLst>
              <a:ext uri="{FF2B5EF4-FFF2-40B4-BE49-F238E27FC236}">
                <a16:creationId xmlns:a16="http://schemas.microsoft.com/office/drawing/2014/main" id="{C8FA085A-68F8-D196-1AB4-E0913C8A4EF4}"/>
              </a:ext>
            </a:extLst>
          </p:cNvPr>
          <p:cNvSpPr txBox="1"/>
          <p:nvPr/>
        </p:nvSpPr>
        <p:spPr>
          <a:xfrm>
            <a:off x="11824517" y="690637"/>
            <a:ext cx="7542168" cy="4493538"/>
          </a:xfrm>
          <a:prstGeom prst="rect">
            <a:avLst/>
          </a:prstGeom>
          <a:noFill/>
        </p:spPr>
        <p:txBody>
          <a:bodyPr wrap="square" rtlCol="0">
            <a:spAutoFit/>
          </a:bodyPr>
          <a:lstStyle/>
          <a:p>
            <a:pPr lvl="1"/>
            <a:r>
              <a:rPr lang="en-US" sz="2800" b="1" dirty="0"/>
              <a:t>Why?</a:t>
            </a:r>
          </a:p>
          <a:p>
            <a:endParaRPr lang="en-US" dirty="0"/>
          </a:p>
          <a:p>
            <a:pPr lvl="1"/>
            <a:r>
              <a:rPr lang="en-US" sz="2400" dirty="0"/>
              <a:t>Unpivoting transforms the downtime data from a wide format into a long, factor-level structure. This step takes multiple downtime-factor columns and converts them into individual rows, each representing a single factor and its corresponding delay. By doing this, the dataset becomes fully analysis-ready, allowing accurate aggregation, clearer comparisons across factors, and more meaningful visualizations such as Pareto charts and cause-based breakdowns.</a:t>
            </a:r>
            <a:endParaRPr lang="en-US" sz="2000" dirty="0"/>
          </a:p>
        </p:txBody>
      </p:sp>
      <p:pic>
        <p:nvPicPr>
          <p:cNvPr id="33" name="Picture 32">
            <a:extLst>
              <a:ext uri="{FF2B5EF4-FFF2-40B4-BE49-F238E27FC236}">
                <a16:creationId xmlns:a16="http://schemas.microsoft.com/office/drawing/2014/main" id="{C89FCA38-27B6-0366-0C8E-A27260EBEB05}"/>
              </a:ext>
            </a:extLst>
          </p:cNvPr>
          <p:cNvPicPr>
            <a:picLocks noChangeAspect="1"/>
          </p:cNvPicPr>
          <p:nvPr/>
        </p:nvPicPr>
        <p:blipFill>
          <a:blip r:embed="rId3"/>
          <a:srcRect r="27032"/>
          <a:stretch>
            <a:fillRect/>
          </a:stretch>
        </p:blipFill>
        <p:spPr>
          <a:xfrm>
            <a:off x="200768" y="141220"/>
            <a:ext cx="6991757" cy="1622375"/>
          </a:xfrm>
          <a:prstGeom prst="rect">
            <a:avLst/>
          </a:prstGeom>
          <a:ln w="19050">
            <a:solidFill>
              <a:srgbClr val="112250"/>
            </a:solidFill>
          </a:ln>
          <a:effectLst>
            <a:outerShdw blurRad="203200" dist="38100" dir="5400000" sx="101000" sy="101000" algn="t" rotWithShape="0">
              <a:prstClr val="black">
                <a:alpha val="40000"/>
              </a:prstClr>
            </a:outerShdw>
          </a:effectLst>
        </p:spPr>
      </p:pic>
      <p:pic>
        <p:nvPicPr>
          <p:cNvPr id="34" name="Picture 33">
            <a:extLst>
              <a:ext uri="{FF2B5EF4-FFF2-40B4-BE49-F238E27FC236}">
                <a16:creationId xmlns:a16="http://schemas.microsoft.com/office/drawing/2014/main" id="{0A36A6DD-FD2C-119C-E82F-931BAFC38BD8}"/>
              </a:ext>
            </a:extLst>
          </p:cNvPr>
          <p:cNvPicPr>
            <a:picLocks noChangeAspect="1"/>
          </p:cNvPicPr>
          <p:nvPr/>
        </p:nvPicPr>
        <p:blipFill>
          <a:blip r:embed="rId4"/>
          <a:srcRect b="56766"/>
          <a:stretch>
            <a:fillRect/>
          </a:stretch>
        </p:blipFill>
        <p:spPr>
          <a:xfrm>
            <a:off x="188811" y="2365019"/>
            <a:ext cx="4648200" cy="1449550"/>
          </a:xfrm>
          <a:prstGeom prst="rect">
            <a:avLst/>
          </a:prstGeom>
          <a:ln w="19050">
            <a:solidFill>
              <a:srgbClr val="112250"/>
            </a:solidFill>
          </a:ln>
          <a:effectLst>
            <a:outerShdw blurRad="203200" dist="38100" dir="5400000" sx="101000" sy="101000" algn="t" rotWithShape="0">
              <a:prstClr val="black">
                <a:alpha val="40000"/>
              </a:prstClr>
            </a:outerShdw>
          </a:effectLst>
        </p:spPr>
      </p:pic>
      <p:cxnSp>
        <p:nvCxnSpPr>
          <p:cNvPr id="35" name="Straight Arrow Connector 34">
            <a:extLst>
              <a:ext uri="{FF2B5EF4-FFF2-40B4-BE49-F238E27FC236}">
                <a16:creationId xmlns:a16="http://schemas.microsoft.com/office/drawing/2014/main" id="{B1AD1E44-7E9B-6946-A05F-4C4EF90C9F8C}"/>
              </a:ext>
            </a:extLst>
          </p:cNvPr>
          <p:cNvCxnSpPr>
            <a:cxnSpLocks/>
          </p:cNvCxnSpPr>
          <p:nvPr/>
        </p:nvCxnSpPr>
        <p:spPr>
          <a:xfrm>
            <a:off x="2512911" y="1763595"/>
            <a:ext cx="0" cy="601424"/>
          </a:xfrm>
          <a:prstGeom prst="straightConnector1">
            <a:avLst/>
          </a:prstGeom>
          <a:ln w="38100">
            <a:solidFill>
              <a:srgbClr val="112250"/>
            </a:solidFill>
            <a:tailEnd type="triangle"/>
          </a:ln>
        </p:spPr>
        <p:style>
          <a:lnRef idx="2">
            <a:schemeClr val="accent1"/>
          </a:lnRef>
          <a:fillRef idx="0">
            <a:schemeClr val="accent1"/>
          </a:fillRef>
          <a:effectRef idx="1">
            <a:schemeClr val="accent1"/>
          </a:effectRef>
          <a:fontRef idx="minor">
            <a:schemeClr val="tx1"/>
          </a:fontRef>
        </p:style>
      </p:cxnSp>
      <p:pic>
        <p:nvPicPr>
          <p:cNvPr id="38" name="Picture 37" descr="A green square with white x on it&#10;&#10;AI-generated content may be incorrect.">
            <a:hlinkClick r:id="rId5" action="ppaction://hlinksldjump"/>
            <a:extLst>
              <a:ext uri="{FF2B5EF4-FFF2-40B4-BE49-F238E27FC236}">
                <a16:creationId xmlns:a16="http://schemas.microsoft.com/office/drawing/2014/main" id="{36E23895-DE2A-7801-5F20-28C10DB56548}"/>
              </a:ext>
            </a:extLst>
          </p:cNvPr>
          <p:cNvPicPr>
            <a:picLocks noChangeAspect="1"/>
          </p:cNvPicPr>
          <p:nvPr/>
        </p:nvPicPr>
        <p:blipFill>
          <a:blip r:embed="rId6">
            <a:extLst>
              <a:ext uri="{28A0092B-C50C-407E-A947-70E740481C1C}">
                <a14:useLocalDpi xmlns:a14="http://schemas.microsoft.com/office/drawing/2010/main" val="0"/>
              </a:ext>
            </a:extLst>
          </a:blip>
          <a:srcRect l="32131" t="19127" r="30979" b="18817"/>
          <a:stretch>
            <a:fillRect/>
          </a:stretch>
        </p:blipFill>
        <p:spPr>
          <a:xfrm>
            <a:off x="6609066" y="5324942"/>
            <a:ext cx="845152" cy="799714"/>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9" name="Picture 38" descr="A logo with orange and black text&#10;&#10;AI-generated content may be incorrect.">
            <a:hlinkClick r:id="rId7" action="ppaction://hlinksldjump"/>
            <a:extLst>
              <a:ext uri="{FF2B5EF4-FFF2-40B4-BE49-F238E27FC236}">
                <a16:creationId xmlns:a16="http://schemas.microsoft.com/office/drawing/2014/main" id="{BDACDF8A-9A35-7A6D-B594-79605AEC7586}"/>
              </a:ext>
            </a:extLst>
          </p:cNvPr>
          <p:cNvPicPr>
            <a:picLocks noChangeAspect="1"/>
          </p:cNvPicPr>
          <p:nvPr/>
        </p:nvPicPr>
        <p:blipFill>
          <a:blip r:embed="rId8">
            <a:extLst>
              <a:ext uri="{28A0092B-C50C-407E-A947-70E740481C1C}">
                <a14:useLocalDpi xmlns:a14="http://schemas.microsoft.com/office/drawing/2010/main" val="0"/>
              </a:ext>
            </a:extLst>
          </a:blip>
          <a:srcRect l="34318" t="28806" r="36227" b="24754"/>
          <a:stretch>
            <a:fillRect/>
          </a:stretch>
        </p:blipFill>
        <p:spPr>
          <a:xfrm>
            <a:off x="8771033" y="5323321"/>
            <a:ext cx="845152" cy="801335"/>
          </a:xfrm>
          <a:prstGeom prst="ellipse">
            <a:avLst/>
          </a:prstGeom>
          <a:ln w="63500" cap="rnd">
            <a:noFill/>
          </a:ln>
          <a:effectLst>
            <a:outerShdw blurRad="190500" dist="292100" dir="5400000" sx="88000" sy="8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0" name="Picture 39">
            <a:extLst>
              <a:ext uri="{FF2B5EF4-FFF2-40B4-BE49-F238E27FC236}">
                <a16:creationId xmlns:a16="http://schemas.microsoft.com/office/drawing/2014/main" id="{0D27483D-A7A8-692B-7359-9E64C2162667}"/>
              </a:ext>
            </a:extLst>
          </p:cNvPr>
          <p:cNvPicPr>
            <a:picLocks noChangeAspect="1"/>
          </p:cNvPicPr>
          <p:nvPr/>
        </p:nvPicPr>
        <p:blipFill>
          <a:blip r:embed="rId9"/>
          <a:srcRect r="70121"/>
          <a:stretch>
            <a:fillRect/>
          </a:stretch>
        </p:blipFill>
        <p:spPr>
          <a:xfrm>
            <a:off x="7967335" y="141220"/>
            <a:ext cx="3463580" cy="2886075"/>
          </a:xfrm>
          <a:prstGeom prst="rect">
            <a:avLst/>
          </a:prstGeom>
          <a:ln w="19050">
            <a:solidFill>
              <a:srgbClr val="112250"/>
            </a:solidFill>
          </a:ln>
          <a:effectLst>
            <a:outerShdw blurRad="203200" dist="38100" dir="5400000" sx="101000" sy="101000" algn="t" rotWithShape="0">
              <a:prstClr val="black">
                <a:alpha val="40000"/>
              </a:prstClr>
            </a:outerShdw>
          </a:effectLst>
        </p:spPr>
      </p:pic>
      <p:sp>
        <p:nvSpPr>
          <p:cNvPr id="2" name="Oval 1">
            <a:extLst>
              <a:ext uri="{FF2B5EF4-FFF2-40B4-BE49-F238E27FC236}">
                <a16:creationId xmlns:a16="http://schemas.microsoft.com/office/drawing/2014/main" id="{F531FDD3-49A1-ED65-1724-E4562F3D864A}"/>
              </a:ext>
            </a:extLst>
          </p:cNvPr>
          <p:cNvSpPr/>
          <p:nvPr/>
        </p:nvSpPr>
        <p:spPr>
          <a:xfrm>
            <a:off x="6609067" y="5323321"/>
            <a:ext cx="845151" cy="801335"/>
          </a:xfrm>
          <a:prstGeom prst="ellipse">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03E64E9-95EF-42A3-50B8-25581BE9C30C}"/>
              </a:ext>
            </a:extLst>
          </p:cNvPr>
          <p:cNvSpPr/>
          <p:nvPr/>
        </p:nvSpPr>
        <p:spPr>
          <a:xfrm>
            <a:off x="158011" y="144070"/>
            <a:ext cx="7034513" cy="1619525"/>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451A6BB-0817-BD84-57D4-612CDD1922A6}"/>
              </a:ext>
            </a:extLst>
          </p:cNvPr>
          <p:cNvSpPr/>
          <p:nvPr/>
        </p:nvSpPr>
        <p:spPr>
          <a:xfrm>
            <a:off x="158011" y="2341102"/>
            <a:ext cx="4666061" cy="1473468"/>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hlinkClick r:id="rId10" action="ppaction://hlinksldjump"/>
            <a:extLst>
              <a:ext uri="{FF2B5EF4-FFF2-40B4-BE49-F238E27FC236}">
                <a16:creationId xmlns:a16="http://schemas.microsoft.com/office/drawing/2014/main" id="{9C125622-8D0A-4355-16EC-CE026814EF4D}"/>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D1D9A2B5-73C8-E68B-9129-6ECDFB37ABD0}"/>
              </a:ext>
            </a:extLst>
          </p:cNvPr>
          <p:cNvPicPr>
            <a:picLocks noChangeAspect="1"/>
          </p:cNvPicPr>
          <p:nvPr/>
        </p:nvPicPr>
        <p:blipFill>
          <a:blip r:embed="rId11"/>
          <a:stretch>
            <a:fillRect/>
          </a:stretch>
        </p:blipFill>
        <p:spPr>
          <a:xfrm>
            <a:off x="425824" y="-6948536"/>
            <a:ext cx="4090771" cy="1182727"/>
          </a:xfrm>
          <a:prstGeom prst="rect">
            <a:avLst/>
          </a:prstGeom>
        </p:spPr>
      </p:pic>
      <p:pic>
        <p:nvPicPr>
          <p:cNvPr id="4" name="Picture 3">
            <a:extLst>
              <a:ext uri="{FF2B5EF4-FFF2-40B4-BE49-F238E27FC236}">
                <a16:creationId xmlns:a16="http://schemas.microsoft.com/office/drawing/2014/main" id="{B56C1FF5-BF58-AE20-91AB-E977CA2F4098}"/>
              </a:ext>
            </a:extLst>
          </p:cNvPr>
          <p:cNvPicPr>
            <a:picLocks noChangeAspect="1"/>
          </p:cNvPicPr>
          <p:nvPr/>
        </p:nvPicPr>
        <p:blipFill>
          <a:blip r:embed="rId12"/>
          <a:stretch>
            <a:fillRect/>
          </a:stretch>
        </p:blipFill>
        <p:spPr>
          <a:xfrm>
            <a:off x="-156584402" y="-17189450"/>
            <a:ext cx="472203711" cy="45739050"/>
          </a:xfrm>
          <a:prstGeom prst="rect">
            <a:avLst/>
          </a:prstGeom>
        </p:spPr>
      </p:pic>
      <p:pic>
        <p:nvPicPr>
          <p:cNvPr id="5" name="Picture 4">
            <a:extLst>
              <a:ext uri="{FF2B5EF4-FFF2-40B4-BE49-F238E27FC236}">
                <a16:creationId xmlns:a16="http://schemas.microsoft.com/office/drawing/2014/main" id="{6CA9978D-548A-9E67-746D-1CB2FA271F22}"/>
              </a:ext>
            </a:extLst>
          </p:cNvPr>
          <p:cNvPicPr>
            <a:picLocks noChangeAspect="1"/>
          </p:cNvPicPr>
          <p:nvPr/>
        </p:nvPicPr>
        <p:blipFill>
          <a:blip r:embed="rId13"/>
          <a:stretch>
            <a:fillRect/>
          </a:stretch>
        </p:blipFill>
        <p:spPr>
          <a:xfrm>
            <a:off x="419602" y="13776056"/>
            <a:ext cx="11772396" cy="1182727"/>
          </a:xfrm>
          <a:prstGeom prst="rect">
            <a:avLst/>
          </a:prstGeom>
        </p:spPr>
      </p:pic>
      <p:pic>
        <p:nvPicPr>
          <p:cNvPr id="6" name="Picture 5">
            <a:extLst>
              <a:ext uri="{FF2B5EF4-FFF2-40B4-BE49-F238E27FC236}">
                <a16:creationId xmlns:a16="http://schemas.microsoft.com/office/drawing/2014/main" id="{787BBCBA-A9AE-B88E-643D-315872506C71}"/>
              </a:ext>
            </a:extLst>
          </p:cNvPr>
          <p:cNvPicPr>
            <a:picLocks noChangeAspect="1"/>
          </p:cNvPicPr>
          <p:nvPr/>
        </p:nvPicPr>
        <p:blipFill>
          <a:blip r:embed="rId14"/>
          <a:stretch>
            <a:fillRect/>
          </a:stretch>
        </p:blipFill>
        <p:spPr>
          <a:xfrm>
            <a:off x="447857" y="14805356"/>
            <a:ext cx="11077392" cy="1072989"/>
          </a:xfrm>
          <a:prstGeom prst="rect">
            <a:avLst/>
          </a:prstGeom>
        </p:spPr>
      </p:pic>
      <p:pic>
        <p:nvPicPr>
          <p:cNvPr id="7" name="Picture 6">
            <a:extLst>
              <a:ext uri="{FF2B5EF4-FFF2-40B4-BE49-F238E27FC236}">
                <a16:creationId xmlns:a16="http://schemas.microsoft.com/office/drawing/2014/main" id="{8B13BCFD-113B-6D96-E3E8-A80C0E30B9F7}"/>
              </a:ext>
            </a:extLst>
          </p:cNvPr>
          <p:cNvPicPr>
            <a:picLocks noChangeAspect="1"/>
          </p:cNvPicPr>
          <p:nvPr/>
        </p:nvPicPr>
        <p:blipFill>
          <a:blip r:embed="rId15"/>
          <a:stretch>
            <a:fillRect/>
          </a:stretch>
        </p:blipFill>
        <p:spPr>
          <a:xfrm>
            <a:off x="425823" y="15724918"/>
            <a:ext cx="11077392" cy="1072989"/>
          </a:xfrm>
          <a:prstGeom prst="rect">
            <a:avLst/>
          </a:prstGeom>
        </p:spPr>
      </p:pic>
      <p:pic>
        <p:nvPicPr>
          <p:cNvPr id="8" name="Picture 7">
            <a:extLst>
              <a:ext uri="{FF2B5EF4-FFF2-40B4-BE49-F238E27FC236}">
                <a16:creationId xmlns:a16="http://schemas.microsoft.com/office/drawing/2014/main" id="{602471DE-1D99-AA1A-8555-C289A565FC77}"/>
              </a:ext>
            </a:extLst>
          </p:cNvPr>
          <p:cNvPicPr>
            <a:picLocks noChangeAspect="1"/>
          </p:cNvPicPr>
          <p:nvPr/>
        </p:nvPicPr>
        <p:blipFill>
          <a:blip r:embed="rId16"/>
          <a:stretch>
            <a:fillRect/>
          </a:stretch>
        </p:blipFill>
        <p:spPr>
          <a:xfrm>
            <a:off x="403789" y="16644481"/>
            <a:ext cx="11077392" cy="1072989"/>
          </a:xfrm>
          <a:prstGeom prst="rect">
            <a:avLst/>
          </a:prstGeom>
        </p:spPr>
      </p:pic>
    </p:spTree>
    <p:extLst>
      <p:ext uri="{BB962C8B-B14F-4D97-AF65-F5344CB8AC3E}">
        <p14:creationId xmlns:p14="http://schemas.microsoft.com/office/powerpoint/2010/main" val="31136523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209E0-4E5D-D5DE-447B-4DA063238EA2}"/>
            </a:ext>
          </a:extLst>
        </p:cNvPr>
        <p:cNvGrpSpPr/>
        <p:nvPr/>
      </p:nvGrpSpPr>
      <p:grpSpPr>
        <a:xfrm>
          <a:off x="0" y="0"/>
          <a:ext cx="0" cy="0"/>
          <a:chOff x="0" y="0"/>
          <a:chExt cx="0" cy="0"/>
        </a:xfrm>
      </p:grpSpPr>
      <p:pic>
        <p:nvPicPr>
          <p:cNvPr id="8" name="!!BackGround">
            <a:extLst>
              <a:ext uri="{FF2B5EF4-FFF2-40B4-BE49-F238E27FC236}">
                <a16:creationId xmlns:a16="http://schemas.microsoft.com/office/drawing/2014/main" id="{B4AD5FA5-8CBD-1B38-D3BE-6C122558754B}"/>
              </a:ext>
            </a:extLst>
          </p:cNvPr>
          <p:cNvPicPr>
            <a:picLocks noChangeAspect="1"/>
          </p:cNvPicPr>
          <p:nvPr/>
        </p:nvPicPr>
        <p:blipFill>
          <a:blip r:embed="rId2">
            <a:alphaModFix/>
          </a:blip>
          <a:srcRect t="1532"/>
          <a:stretch>
            <a:fillRect/>
          </a:stretch>
        </p:blipFill>
        <p:spPr>
          <a:xfrm>
            <a:off x="0" y="0"/>
            <a:ext cx="12192000" cy="6876288"/>
          </a:xfrm>
          <a:prstGeom prst="rect">
            <a:avLst/>
          </a:prstGeom>
        </p:spPr>
      </p:pic>
      <p:graphicFrame>
        <p:nvGraphicFramePr>
          <p:cNvPr id="9" name="Table 8">
            <a:extLst>
              <a:ext uri="{FF2B5EF4-FFF2-40B4-BE49-F238E27FC236}">
                <a16:creationId xmlns:a16="http://schemas.microsoft.com/office/drawing/2014/main" id="{3AFAC4B9-6997-5E6C-F1A8-B73369DC2625}"/>
              </a:ext>
            </a:extLst>
          </p:cNvPr>
          <p:cNvGraphicFramePr>
            <a:graphicFrameLocks noGrp="1"/>
          </p:cNvGraphicFramePr>
          <p:nvPr/>
        </p:nvGraphicFramePr>
        <p:xfrm>
          <a:off x="0" y="0"/>
          <a:ext cx="12192003" cy="6858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519426978"/>
                    </a:ext>
                  </a:extLst>
                </a:gridCol>
                <a:gridCol w="1354667">
                  <a:extLst>
                    <a:ext uri="{9D8B030D-6E8A-4147-A177-3AD203B41FA5}">
                      <a16:colId xmlns:a16="http://schemas.microsoft.com/office/drawing/2014/main" val="2654214106"/>
                    </a:ext>
                  </a:extLst>
                </a:gridCol>
                <a:gridCol w="1354667">
                  <a:extLst>
                    <a:ext uri="{9D8B030D-6E8A-4147-A177-3AD203B41FA5}">
                      <a16:colId xmlns:a16="http://schemas.microsoft.com/office/drawing/2014/main" val="4017432569"/>
                    </a:ext>
                  </a:extLst>
                </a:gridCol>
                <a:gridCol w="1354667">
                  <a:extLst>
                    <a:ext uri="{9D8B030D-6E8A-4147-A177-3AD203B41FA5}">
                      <a16:colId xmlns:a16="http://schemas.microsoft.com/office/drawing/2014/main" val="490655211"/>
                    </a:ext>
                  </a:extLst>
                </a:gridCol>
                <a:gridCol w="1354667">
                  <a:extLst>
                    <a:ext uri="{9D8B030D-6E8A-4147-A177-3AD203B41FA5}">
                      <a16:colId xmlns:a16="http://schemas.microsoft.com/office/drawing/2014/main" val="937404553"/>
                    </a:ext>
                  </a:extLst>
                </a:gridCol>
                <a:gridCol w="1354667">
                  <a:extLst>
                    <a:ext uri="{9D8B030D-6E8A-4147-A177-3AD203B41FA5}">
                      <a16:colId xmlns:a16="http://schemas.microsoft.com/office/drawing/2014/main" val="1333819258"/>
                    </a:ext>
                  </a:extLst>
                </a:gridCol>
                <a:gridCol w="1354667">
                  <a:extLst>
                    <a:ext uri="{9D8B030D-6E8A-4147-A177-3AD203B41FA5}">
                      <a16:colId xmlns:a16="http://schemas.microsoft.com/office/drawing/2014/main" val="161208907"/>
                    </a:ext>
                  </a:extLst>
                </a:gridCol>
                <a:gridCol w="1354667">
                  <a:extLst>
                    <a:ext uri="{9D8B030D-6E8A-4147-A177-3AD203B41FA5}">
                      <a16:colId xmlns:a16="http://schemas.microsoft.com/office/drawing/2014/main" val="3858095531"/>
                    </a:ext>
                  </a:extLst>
                </a:gridCol>
                <a:gridCol w="1354667">
                  <a:extLst>
                    <a:ext uri="{9D8B030D-6E8A-4147-A177-3AD203B41FA5}">
                      <a16:colId xmlns:a16="http://schemas.microsoft.com/office/drawing/2014/main" val="290232393"/>
                    </a:ext>
                  </a:extLst>
                </a:gridCol>
              </a:tblGrid>
              <a:tr h="685800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8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7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6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5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4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3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2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1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683273024"/>
                  </a:ext>
                </a:extLst>
              </a:tr>
            </a:tbl>
          </a:graphicData>
        </a:graphic>
      </p:graphicFrame>
      <p:pic>
        <p:nvPicPr>
          <p:cNvPr id="2" name="Picture 1">
            <a:extLst>
              <a:ext uri="{FF2B5EF4-FFF2-40B4-BE49-F238E27FC236}">
                <a16:creationId xmlns:a16="http://schemas.microsoft.com/office/drawing/2014/main" id="{B54882E0-E1E8-C5EA-F20A-0A1167D7D829}"/>
              </a:ext>
            </a:extLst>
          </p:cNvPr>
          <p:cNvPicPr>
            <a:picLocks noChangeAspect="1"/>
          </p:cNvPicPr>
          <p:nvPr/>
        </p:nvPicPr>
        <p:blipFill>
          <a:blip r:embed="rId3"/>
          <a:stretch>
            <a:fillRect/>
          </a:stretch>
        </p:blipFill>
        <p:spPr>
          <a:xfrm>
            <a:off x="425824" y="397194"/>
            <a:ext cx="4090771" cy="1182727"/>
          </a:xfrm>
          <a:prstGeom prst="rect">
            <a:avLst/>
          </a:prstGeom>
        </p:spPr>
      </p:pic>
      <p:pic>
        <p:nvPicPr>
          <p:cNvPr id="3" name="Picture 2">
            <a:extLst>
              <a:ext uri="{FF2B5EF4-FFF2-40B4-BE49-F238E27FC236}">
                <a16:creationId xmlns:a16="http://schemas.microsoft.com/office/drawing/2014/main" id="{1FACDE72-ACF3-0A3B-0674-0FD434A237A6}"/>
              </a:ext>
            </a:extLst>
          </p:cNvPr>
          <p:cNvPicPr>
            <a:picLocks noChangeAspect="1"/>
          </p:cNvPicPr>
          <p:nvPr/>
        </p:nvPicPr>
        <p:blipFill>
          <a:blip r:embed="rId4"/>
          <a:stretch>
            <a:fillRect/>
          </a:stretch>
        </p:blipFill>
        <p:spPr>
          <a:xfrm>
            <a:off x="425823" y="1426494"/>
            <a:ext cx="11077392" cy="1072989"/>
          </a:xfrm>
          <a:prstGeom prst="rect">
            <a:avLst/>
          </a:prstGeom>
        </p:spPr>
      </p:pic>
      <p:pic>
        <p:nvPicPr>
          <p:cNvPr id="4" name="Picture 3">
            <a:extLst>
              <a:ext uri="{FF2B5EF4-FFF2-40B4-BE49-F238E27FC236}">
                <a16:creationId xmlns:a16="http://schemas.microsoft.com/office/drawing/2014/main" id="{35D2C71B-E41C-FF2F-888C-14AFC6C760A5}"/>
              </a:ext>
            </a:extLst>
          </p:cNvPr>
          <p:cNvPicPr>
            <a:picLocks noChangeAspect="1"/>
          </p:cNvPicPr>
          <p:nvPr/>
        </p:nvPicPr>
        <p:blipFill>
          <a:blip r:embed="rId5"/>
          <a:stretch>
            <a:fillRect/>
          </a:stretch>
        </p:blipFill>
        <p:spPr>
          <a:xfrm>
            <a:off x="419602" y="2346056"/>
            <a:ext cx="11772396" cy="1182727"/>
          </a:xfrm>
          <a:prstGeom prst="rect">
            <a:avLst/>
          </a:prstGeom>
        </p:spPr>
      </p:pic>
      <p:pic>
        <p:nvPicPr>
          <p:cNvPr id="5" name="Picture 4">
            <a:extLst>
              <a:ext uri="{FF2B5EF4-FFF2-40B4-BE49-F238E27FC236}">
                <a16:creationId xmlns:a16="http://schemas.microsoft.com/office/drawing/2014/main" id="{A4D41731-7A52-F86B-5531-DC3EC1BCCF4A}"/>
              </a:ext>
            </a:extLst>
          </p:cNvPr>
          <p:cNvPicPr>
            <a:picLocks noChangeAspect="1"/>
          </p:cNvPicPr>
          <p:nvPr/>
        </p:nvPicPr>
        <p:blipFill>
          <a:blip r:embed="rId6"/>
          <a:stretch>
            <a:fillRect/>
          </a:stretch>
        </p:blipFill>
        <p:spPr>
          <a:xfrm>
            <a:off x="447857" y="3375356"/>
            <a:ext cx="11077392" cy="1072989"/>
          </a:xfrm>
          <a:prstGeom prst="rect">
            <a:avLst/>
          </a:prstGeom>
        </p:spPr>
      </p:pic>
      <p:pic>
        <p:nvPicPr>
          <p:cNvPr id="6" name="Picture 5">
            <a:extLst>
              <a:ext uri="{FF2B5EF4-FFF2-40B4-BE49-F238E27FC236}">
                <a16:creationId xmlns:a16="http://schemas.microsoft.com/office/drawing/2014/main" id="{AFBE505B-E675-B4D4-46A0-1E4815801C51}"/>
              </a:ext>
            </a:extLst>
          </p:cNvPr>
          <p:cNvPicPr>
            <a:picLocks noChangeAspect="1"/>
          </p:cNvPicPr>
          <p:nvPr/>
        </p:nvPicPr>
        <p:blipFill>
          <a:blip r:embed="rId7"/>
          <a:stretch>
            <a:fillRect/>
          </a:stretch>
        </p:blipFill>
        <p:spPr>
          <a:xfrm>
            <a:off x="425823" y="4294918"/>
            <a:ext cx="11077392" cy="1072989"/>
          </a:xfrm>
          <a:prstGeom prst="rect">
            <a:avLst/>
          </a:prstGeom>
        </p:spPr>
      </p:pic>
      <p:pic>
        <p:nvPicPr>
          <p:cNvPr id="7" name="Picture 6">
            <a:extLst>
              <a:ext uri="{FF2B5EF4-FFF2-40B4-BE49-F238E27FC236}">
                <a16:creationId xmlns:a16="http://schemas.microsoft.com/office/drawing/2014/main" id="{99D82BEF-4F43-C3D7-342C-EFF16EE66CFA}"/>
              </a:ext>
            </a:extLst>
          </p:cNvPr>
          <p:cNvPicPr>
            <a:picLocks noChangeAspect="1"/>
          </p:cNvPicPr>
          <p:nvPr/>
        </p:nvPicPr>
        <p:blipFill>
          <a:blip r:embed="rId8"/>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24420562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98FD3-E883-27EE-4101-0ACDB8EAED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8F8884-360D-CFB4-91C5-FA6468ACECCF}"/>
              </a:ext>
            </a:extLst>
          </p:cNvPr>
          <p:cNvPicPr>
            <a:picLocks noChangeAspect="1"/>
          </p:cNvPicPr>
          <p:nvPr/>
        </p:nvPicPr>
        <p:blipFill>
          <a:blip r:embed="rId2">
            <a:alphaModFix amt="35000"/>
          </a:blip>
          <a:stretch>
            <a:fillRect/>
          </a:stretch>
        </p:blipFill>
        <p:spPr>
          <a:xfrm>
            <a:off x="-3011490" y="-41833"/>
            <a:ext cx="15203490" cy="8537508"/>
          </a:xfrm>
          <a:prstGeom prst="rect">
            <a:avLst/>
          </a:prstGeom>
        </p:spPr>
      </p:pic>
      <p:pic>
        <p:nvPicPr>
          <p:cNvPr id="6" name="Picture 5" descr="A computer screen shot of a question mark&#10;&#10;AI-generated content may be incorrect.">
            <a:extLst>
              <a:ext uri="{FF2B5EF4-FFF2-40B4-BE49-F238E27FC236}">
                <a16:creationId xmlns:a16="http://schemas.microsoft.com/office/drawing/2014/main" id="{5FF70149-BEFC-C2A1-A572-AB08C158BFB6}"/>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34219" t="22778" r="33437" b="23889"/>
          <a:stretch>
            <a:fillRect/>
          </a:stretch>
        </p:blipFill>
        <p:spPr>
          <a:xfrm>
            <a:off x="4171950" y="8495675"/>
            <a:ext cx="3943350" cy="3657600"/>
          </a:xfrm>
          <a:prstGeom prst="rect">
            <a:avLst/>
          </a:prstGeom>
        </p:spPr>
      </p:pic>
      <p:sp>
        <p:nvSpPr>
          <p:cNvPr id="4" name="TextBox 3">
            <a:extLst>
              <a:ext uri="{FF2B5EF4-FFF2-40B4-BE49-F238E27FC236}">
                <a16:creationId xmlns:a16="http://schemas.microsoft.com/office/drawing/2014/main" id="{682DC9E8-DD9B-5E99-22C2-63CEFB7E673D}"/>
              </a:ext>
            </a:extLst>
          </p:cNvPr>
          <p:cNvSpPr txBox="1"/>
          <p:nvPr/>
        </p:nvSpPr>
        <p:spPr>
          <a:xfrm>
            <a:off x="701675" y="-3332298"/>
            <a:ext cx="10788650" cy="2800767"/>
          </a:xfrm>
          <a:prstGeom prst="rect">
            <a:avLst/>
          </a:prstGeom>
          <a:noFill/>
        </p:spPr>
        <p:txBody>
          <a:bodyPr wrap="square" rtlCol="0">
            <a:spAutoFit/>
          </a:bodyPr>
          <a:lstStyle/>
          <a:p>
            <a:pPr algn="ctr"/>
            <a:r>
              <a:rPr lang="en-US" sz="8800" b="1" dirty="0">
                <a:latin typeface="Avenir Next LT Pro" panose="020B0504020202020204" pitchFamily="34" charset="0"/>
              </a:rPr>
              <a:t>Analysis Questions</a:t>
            </a:r>
            <a:br>
              <a:rPr lang="en-US" sz="8800" b="1" dirty="0">
                <a:latin typeface="Avenir Next LT Pro" panose="020B0504020202020204" pitchFamily="34" charset="0"/>
              </a:rPr>
            </a:br>
            <a:r>
              <a:rPr lang="en-US" sz="8800" b="1" dirty="0">
                <a:latin typeface="Avenir Next LT Pro" panose="020B0504020202020204" pitchFamily="34" charset="0"/>
              </a:rPr>
              <a:t>EDA</a:t>
            </a:r>
          </a:p>
        </p:txBody>
      </p:sp>
      <p:pic>
        <p:nvPicPr>
          <p:cNvPr id="2" name="Picture 1">
            <a:extLst>
              <a:ext uri="{FF2B5EF4-FFF2-40B4-BE49-F238E27FC236}">
                <a16:creationId xmlns:a16="http://schemas.microsoft.com/office/drawing/2014/main" id="{9B27E395-AB9F-CB06-5AC5-5B98E712F7F1}"/>
              </a:ext>
            </a:extLst>
          </p:cNvPr>
          <p:cNvPicPr>
            <a:picLocks noChangeAspect="1"/>
          </p:cNvPicPr>
          <p:nvPr/>
        </p:nvPicPr>
        <p:blipFill>
          <a:blip r:embed="rId4"/>
          <a:stretch>
            <a:fillRect/>
          </a:stretch>
        </p:blipFill>
        <p:spPr>
          <a:xfrm>
            <a:off x="425824" y="-7688534"/>
            <a:ext cx="4090771" cy="1182727"/>
          </a:xfrm>
          <a:prstGeom prst="rect">
            <a:avLst/>
          </a:prstGeom>
        </p:spPr>
      </p:pic>
      <p:pic>
        <p:nvPicPr>
          <p:cNvPr id="5" name="Picture 4">
            <a:extLst>
              <a:ext uri="{FF2B5EF4-FFF2-40B4-BE49-F238E27FC236}">
                <a16:creationId xmlns:a16="http://schemas.microsoft.com/office/drawing/2014/main" id="{467FCFFE-7A81-B1F8-3187-002EA9710263}"/>
              </a:ext>
            </a:extLst>
          </p:cNvPr>
          <p:cNvPicPr>
            <a:picLocks noChangeAspect="1"/>
          </p:cNvPicPr>
          <p:nvPr/>
        </p:nvPicPr>
        <p:blipFill>
          <a:blip r:embed="rId5"/>
          <a:stretch>
            <a:fillRect/>
          </a:stretch>
        </p:blipFill>
        <p:spPr>
          <a:xfrm>
            <a:off x="425823" y="-6659234"/>
            <a:ext cx="11077392" cy="1072989"/>
          </a:xfrm>
          <a:prstGeom prst="rect">
            <a:avLst/>
          </a:prstGeom>
        </p:spPr>
      </p:pic>
      <p:pic>
        <p:nvPicPr>
          <p:cNvPr id="7" name="Picture 6">
            <a:extLst>
              <a:ext uri="{FF2B5EF4-FFF2-40B4-BE49-F238E27FC236}">
                <a16:creationId xmlns:a16="http://schemas.microsoft.com/office/drawing/2014/main" id="{EFEBDDD7-098C-85D0-8055-24D8B477F2EF}"/>
              </a:ext>
            </a:extLst>
          </p:cNvPr>
          <p:cNvPicPr>
            <a:picLocks noChangeAspect="1"/>
          </p:cNvPicPr>
          <p:nvPr/>
        </p:nvPicPr>
        <p:blipFill>
          <a:blip r:embed="rId6"/>
          <a:stretch>
            <a:fillRect/>
          </a:stretch>
        </p:blipFill>
        <p:spPr>
          <a:xfrm>
            <a:off x="-698856091" y="-48902190"/>
            <a:ext cx="1236889481" cy="124265492"/>
          </a:xfrm>
          <a:prstGeom prst="rect">
            <a:avLst/>
          </a:prstGeom>
        </p:spPr>
      </p:pic>
      <p:pic>
        <p:nvPicPr>
          <p:cNvPr id="8" name="Picture 7">
            <a:extLst>
              <a:ext uri="{FF2B5EF4-FFF2-40B4-BE49-F238E27FC236}">
                <a16:creationId xmlns:a16="http://schemas.microsoft.com/office/drawing/2014/main" id="{C5EDB71D-D076-CC1D-E81C-E65B5170F903}"/>
              </a:ext>
            </a:extLst>
          </p:cNvPr>
          <p:cNvPicPr>
            <a:picLocks noChangeAspect="1"/>
          </p:cNvPicPr>
          <p:nvPr/>
        </p:nvPicPr>
        <p:blipFill>
          <a:blip r:embed="rId7"/>
          <a:stretch>
            <a:fillRect/>
          </a:stretch>
        </p:blipFill>
        <p:spPr>
          <a:xfrm>
            <a:off x="447857" y="14043356"/>
            <a:ext cx="11077392" cy="1072989"/>
          </a:xfrm>
          <a:prstGeom prst="rect">
            <a:avLst/>
          </a:prstGeom>
        </p:spPr>
      </p:pic>
      <p:pic>
        <p:nvPicPr>
          <p:cNvPr id="9" name="Picture 8">
            <a:extLst>
              <a:ext uri="{FF2B5EF4-FFF2-40B4-BE49-F238E27FC236}">
                <a16:creationId xmlns:a16="http://schemas.microsoft.com/office/drawing/2014/main" id="{9ADCE11A-D043-B5B0-2C26-824E5B5B9F08}"/>
              </a:ext>
            </a:extLst>
          </p:cNvPr>
          <p:cNvPicPr>
            <a:picLocks noChangeAspect="1"/>
          </p:cNvPicPr>
          <p:nvPr/>
        </p:nvPicPr>
        <p:blipFill>
          <a:blip r:embed="rId8"/>
          <a:stretch>
            <a:fillRect/>
          </a:stretch>
        </p:blipFill>
        <p:spPr>
          <a:xfrm>
            <a:off x="425823" y="14962918"/>
            <a:ext cx="11077392" cy="1072989"/>
          </a:xfrm>
          <a:prstGeom prst="rect">
            <a:avLst/>
          </a:prstGeom>
        </p:spPr>
      </p:pic>
      <p:pic>
        <p:nvPicPr>
          <p:cNvPr id="10" name="Picture 9">
            <a:extLst>
              <a:ext uri="{FF2B5EF4-FFF2-40B4-BE49-F238E27FC236}">
                <a16:creationId xmlns:a16="http://schemas.microsoft.com/office/drawing/2014/main" id="{A67A26AF-E3F2-FD9F-3306-51A2F565ADCF}"/>
              </a:ext>
            </a:extLst>
          </p:cNvPr>
          <p:cNvPicPr>
            <a:picLocks noChangeAspect="1"/>
          </p:cNvPicPr>
          <p:nvPr/>
        </p:nvPicPr>
        <p:blipFill>
          <a:blip r:embed="rId9"/>
          <a:stretch>
            <a:fillRect/>
          </a:stretch>
        </p:blipFill>
        <p:spPr>
          <a:xfrm>
            <a:off x="403789" y="15882481"/>
            <a:ext cx="11077392" cy="1072989"/>
          </a:xfrm>
          <a:prstGeom prst="rect">
            <a:avLst/>
          </a:prstGeom>
        </p:spPr>
      </p:pic>
    </p:spTree>
    <p:extLst>
      <p:ext uri="{BB962C8B-B14F-4D97-AF65-F5344CB8AC3E}">
        <p14:creationId xmlns:p14="http://schemas.microsoft.com/office/powerpoint/2010/main" val="3921069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C3E7-2D97-28AB-C24E-22DAF988CA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AE56DD-AC9D-24E8-5807-6D04B0D537F9}"/>
              </a:ext>
            </a:extLst>
          </p:cNvPr>
          <p:cNvPicPr>
            <a:picLocks noChangeAspect="1"/>
          </p:cNvPicPr>
          <p:nvPr/>
        </p:nvPicPr>
        <p:blipFill>
          <a:blip r:embed="rId2">
            <a:alphaModFix amt="35000"/>
          </a:blip>
          <a:stretch>
            <a:fillRect/>
          </a:stretch>
        </p:blipFill>
        <p:spPr>
          <a:xfrm>
            <a:off x="-646110" y="-21522"/>
            <a:ext cx="12838110" cy="7209230"/>
          </a:xfrm>
          <a:prstGeom prst="rect">
            <a:avLst/>
          </a:prstGeom>
        </p:spPr>
      </p:pic>
      <p:pic>
        <p:nvPicPr>
          <p:cNvPr id="6" name="Picture 5" descr="A computer screen shot of a question mark&#10;&#10;AI-generated content may be incorrect.">
            <a:extLst>
              <a:ext uri="{FF2B5EF4-FFF2-40B4-BE49-F238E27FC236}">
                <a16:creationId xmlns:a16="http://schemas.microsoft.com/office/drawing/2014/main" id="{BAD42B97-E1E0-91AF-7057-637C24ABC77A}"/>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34219" t="22778" r="33437" b="23889"/>
          <a:stretch>
            <a:fillRect/>
          </a:stretch>
        </p:blipFill>
        <p:spPr>
          <a:xfrm>
            <a:off x="4171950" y="2856875"/>
            <a:ext cx="3943350" cy="3657600"/>
          </a:xfrm>
          <a:prstGeom prst="rect">
            <a:avLst/>
          </a:prstGeom>
        </p:spPr>
      </p:pic>
      <p:sp>
        <p:nvSpPr>
          <p:cNvPr id="4" name="TextBox 3">
            <a:extLst>
              <a:ext uri="{FF2B5EF4-FFF2-40B4-BE49-F238E27FC236}">
                <a16:creationId xmlns:a16="http://schemas.microsoft.com/office/drawing/2014/main" id="{6F25C7C1-37AE-EDE0-C18E-95970EFB9AF2}"/>
              </a:ext>
            </a:extLst>
          </p:cNvPr>
          <p:cNvSpPr txBox="1"/>
          <p:nvPr/>
        </p:nvSpPr>
        <p:spPr>
          <a:xfrm>
            <a:off x="701675" y="1452109"/>
            <a:ext cx="10788650" cy="2800767"/>
          </a:xfrm>
          <a:prstGeom prst="rect">
            <a:avLst/>
          </a:prstGeom>
          <a:noFill/>
        </p:spPr>
        <p:txBody>
          <a:bodyPr wrap="square" rtlCol="0">
            <a:spAutoFit/>
          </a:bodyPr>
          <a:lstStyle/>
          <a:p>
            <a:pPr algn="ctr"/>
            <a:r>
              <a:rPr lang="en-US" sz="8800" b="1" dirty="0">
                <a:latin typeface="Avenir Next LT Pro" panose="020B0504020202020204" pitchFamily="34" charset="0"/>
              </a:rPr>
              <a:t>Analysis Questions</a:t>
            </a:r>
            <a:br>
              <a:rPr lang="en-US" sz="8800" b="1" dirty="0">
                <a:latin typeface="Avenir Next LT Pro" panose="020B0504020202020204" pitchFamily="34" charset="0"/>
              </a:rPr>
            </a:br>
            <a:r>
              <a:rPr lang="en-US" sz="8800" b="1" dirty="0">
                <a:latin typeface="Avenir Next LT Pro" panose="020B0504020202020204" pitchFamily="34" charset="0"/>
              </a:rPr>
              <a:t>EDA</a:t>
            </a:r>
          </a:p>
        </p:txBody>
      </p:sp>
      <p:sp>
        <p:nvSpPr>
          <p:cNvPr id="77" name="TextBox 76">
            <a:extLst>
              <a:ext uri="{FF2B5EF4-FFF2-40B4-BE49-F238E27FC236}">
                <a16:creationId xmlns:a16="http://schemas.microsoft.com/office/drawing/2014/main" id="{42A513D9-BED6-7DCB-3E6D-E7C4584766A5}"/>
              </a:ext>
            </a:extLst>
          </p:cNvPr>
          <p:cNvSpPr txBox="1"/>
          <p:nvPr/>
        </p:nvSpPr>
        <p:spPr>
          <a:xfrm>
            <a:off x="-5802539" y="1819945"/>
            <a:ext cx="5638800" cy="4247317"/>
          </a:xfrm>
          <a:prstGeom prst="rect">
            <a:avLst/>
          </a:prstGeom>
          <a:noFill/>
        </p:spPr>
        <p:txBody>
          <a:bodyPr wrap="square" rtlCol="0">
            <a:spAutoFit/>
          </a:bodyPr>
          <a:lstStyle/>
          <a:p>
            <a:r>
              <a:rPr lang="en-US" sz="2800" b="1" dirty="0"/>
              <a:t>Why?</a:t>
            </a:r>
          </a:p>
          <a:p>
            <a:endParaRPr lang="en-US" dirty="0"/>
          </a:p>
          <a:p>
            <a:pPr algn="just"/>
            <a:r>
              <a:rPr lang="en-US" sz="2800" dirty="0"/>
              <a:t>After cleaning the dataset, the next step was to explore it through a structured set of SMART analysis questions, allowing us to uncover patterns across the whole dataset. Questions were organized into five areas that cover every aspect of analysis.</a:t>
            </a:r>
            <a:endParaRPr lang="en-US" dirty="0"/>
          </a:p>
        </p:txBody>
      </p:sp>
    </p:spTree>
    <p:extLst>
      <p:ext uri="{BB962C8B-B14F-4D97-AF65-F5344CB8AC3E}">
        <p14:creationId xmlns:p14="http://schemas.microsoft.com/office/powerpoint/2010/main" val="1793866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DFAA-C1FD-0181-3489-A2E8AA8576A8}"/>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E3CAAC66-84F5-C186-55E0-D531C27A991C}"/>
              </a:ext>
            </a:extLst>
          </p:cNvPr>
          <p:cNvPicPr>
            <a:picLocks noChangeAspect="1"/>
          </p:cNvPicPr>
          <p:nvPr/>
        </p:nvPicPr>
        <p:blipFill>
          <a:blip r:embed="rId2">
            <a:alphaModFix amt="35000"/>
          </a:blip>
          <a:stretch>
            <a:fillRect/>
          </a:stretch>
        </p:blipFill>
        <p:spPr>
          <a:xfrm>
            <a:off x="-646110" y="-21522"/>
            <a:ext cx="12838110" cy="7209230"/>
          </a:xfrm>
          <a:prstGeom prst="rect">
            <a:avLst/>
          </a:prstGeom>
        </p:spPr>
      </p:pic>
      <p:pic>
        <p:nvPicPr>
          <p:cNvPr id="6" name="Picture 5" descr="A computer screen shot of a question mark&#10;&#10;AI-generated content may be incorrect.">
            <a:extLst>
              <a:ext uri="{FF2B5EF4-FFF2-40B4-BE49-F238E27FC236}">
                <a16:creationId xmlns:a16="http://schemas.microsoft.com/office/drawing/2014/main" id="{34010DE7-2F99-0355-6480-587BDDB7EF57}"/>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34219" t="22778" r="33437" b="23889"/>
          <a:stretch>
            <a:fillRect/>
          </a:stretch>
        </p:blipFill>
        <p:spPr>
          <a:xfrm>
            <a:off x="6997687" y="1819945"/>
            <a:ext cx="3943350" cy="3657600"/>
          </a:xfrm>
          <a:prstGeom prst="rect">
            <a:avLst/>
          </a:prstGeom>
        </p:spPr>
      </p:pic>
      <p:sp>
        <p:nvSpPr>
          <p:cNvPr id="4" name="TextBox 3">
            <a:extLst>
              <a:ext uri="{FF2B5EF4-FFF2-40B4-BE49-F238E27FC236}">
                <a16:creationId xmlns:a16="http://schemas.microsoft.com/office/drawing/2014/main" id="{9416D0A5-DB18-B4D6-546D-AE29B2D828CF}"/>
              </a:ext>
            </a:extLst>
          </p:cNvPr>
          <p:cNvSpPr txBox="1"/>
          <p:nvPr/>
        </p:nvSpPr>
        <p:spPr>
          <a:xfrm>
            <a:off x="701675" y="190843"/>
            <a:ext cx="10788650" cy="2123658"/>
          </a:xfrm>
          <a:prstGeom prst="rect">
            <a:avLst/>
          </a:prstGeom>
          <a:noFill/>
        </p:spPr>
        <p:txBody>
          <a:bodyPr wrap="square" rtlCol="0">
            <a:spAutoFit/>
          </a:bodyPr>
          <a:lstStyle/>
          <a:p>
            <a:pPr algn="ctr"/>
            <a:r>
              <a:rPr lang="en-US" sz="6600" b="1" dirty="0">
                <a:latin typeface="Avenir Next LT Pro" panose="020B0504020202020204" pitchFamily="34" charset="0"/>
              </a:rPr>
              <a:t>Analysis Questions</a:t>
            </a:r>
            <a:br>
              <a:rPr lang="en-US" sz="6600" b="1" dirty="0">
                <a:latin typeface="Avenir Next LT Pro" panose="020B0504020202020204" pitchFamily="34" charset="0"/>
              </a:rPr>
            </a:br>
            <a:r>
              <a:rPr lang="en-US" sz="6600" b="1" dirty="0">
                <a:latin typeface="Avenir Next LT Pro" panose="020B0504020202020204" pitchFamily="34" charset="0"/>
              </a:rPr>
              <a:t>EDA</a:t>
            </a:r>
          </a:p>
        </p:txBody>
      </p:sp>
      <p:sp>
        <p:nvSpPr>
          <p:cNvPr id="2" name="TextBox 1">
            <a:extLst>
              <a:ext uri="{FF2B5EF4-FFF2-40B4-BE49-F238E27FC236}">
                <a16:creationId xmlns:a16="http://schemas.microsoft.com/office/drawing/2014/main" id="{9513C7AD-9FC8-2BD6-007B-9EA5267571A3}"/>
              </a:ext>
            </a:extLst>
          </p:cNvPr>
          <p:cNvSpPr txBox="1"/>
          <p:nvPr/>
        </p:nvSpPr>
        <p:spPr>
          <a:xfrm>
            <a:off x="1019175" y="1819945"/>
            <a:ext cx="5638800" cy="4247317"/>
          </a:xfrm>
          <a:prstGeom prst="rect">
            <a:avLst/>
          </a:prstGeom>
          <a:noFill/>
        </p:spPr>
        <p:txBody>
          <a:bodyPr wrap="square" rtlCol="0">
            <a:spAutoFit/>
          </a:bodyPr>
          <a:lstStyle/>
          <a:p>
            <a:r>
              <a:rPr lang="en-US" sz="2800" b="1" dirty="0"/>
              <a:t>Why?</a:t>
            </a:r>
          </a:p>
          <a:p>
            <a:endParaRPr lang="en-US" dirty="0"/>
          </a:p>
          <a:p>
            <a:pPr algn="just"/>
            <a:r>
              <a:rPr lang="en-US" sz="2800" dirty="0"/>
              <a:t>After cleaning the dataset, the next step was to explore it through a structured set of SMART analysis questions, allowing us to uncover patterns across the whole dataset. Questions were organized into five areas that cover every aspect of analysis.</a:t>
            </a:r>
            <a:endParaRPr lang="en-US" dirty="0"/>
          </a:p>
        </p:txBody>
      </p:sp>
      <p:sp>
        <p:nvSpPr>
          <p:cNvPr id="3" name="Oval 2">
            <a:extLst>
              <a:ext uri="{FF2B5EF4-FFF2-40B4-BE49-F238E27FC236}">
                <a16:creationId xmlns:a16="http://schemas.microsoft.com/office/drawing/2014/main" id="{1A40F3ED-49D9-DA26-EF65-45A6900EB331}"/>
              </a:ext>
            </a:extLst>
          </p:cNvPr>
          <p:cNvSpPr/>
          <p:nvPr/>
        </p:nvSpPr>
        <p:spPr>
          <a:xfrm>
            <a:off x="4683524" y="8677223"/>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EF234DE-2A1A-37D1-B1D0-0B801581A131}"/>
              </a:ext>
            </a:extLst>
          </p:cNvPr>
          <p:cNvSpPr/>
          <p:nvPr/>
        </p:nvSpPr>
        <p:spPr>
          <a:xfrm>
            <a:off x="5129145" y="9122844"/>
            <a:ext cx="1660778" cy="1660778"/>
          </a:xfrm>
          <a:prstGeom prst="ellipse">
            <a:avLst/>
          </a:prstGeom>
          <a:solidFill>
            <a:srgbClr val="3B507D"/>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425B41-89C3-2F17-E24A-964ED8C54068}"/>
              </a:ext>
            </a:extLst>
          </p:cNvPr>
          <p:cNvSpPr/>
          <p:nvPr/>
        </p:nvSpPr>
        <p:spPr>
          <a:xfrm>
            <a:off x="4683524" y="8677223"/>
            <a:ext cx="2552020" cy="2552020"/>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57CD3E6-60DB-BCE7-286D-D5752ABD19AE}"/>
              </a:ext>
            </a:extLst>
          </p:cNvPr>
          <p:cNvSpPr/>
          <p:nvPr/>
        </p:nvSpPr>
        <p:spPr>
          <a:xfrm>
            <a:off x="5383269" y="9376968"/>
            <a:ext cx="1152530" cy="115253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9" name="Oval 8">
            <a:extLst>
              <a:ext uri="{FF2B5EF4-FFF2-40B4-BE49-F238E27FC236}">
                <a16:creationId xmlns:a16="http://schemas.microsoft.com/office/drawing/2014/main" id="{9A27106D-AD1E-0F6C-CAC5-EBF523B8B8DD}"/>
              </a:ext>
            </a:extLst>
          </p:cNvPr>
          <p:cNvSpPr/>
          <p:nvPr/>
        </p:nvSpPr>
        <p:spPr>
          <a:xfrm>
            <a:off x="4683524" y="8677223"/>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B892812-B888-31D1-2E72-B2E684B80D0D}"/>
              </a:ext>
            </a:extLst>
          </p:cNvPr>
          <p:cNvSpPr/>
          <p:nvPr/>
        </p:nvSpPr>
        <p:spPr>
          <a:xfrm>
            <a:off x="4365993" y="8359692"/>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F27985D-0417-FCE2-47AD-7E38994A5B6D}"/>
              </a:ext>
            </a:extLst>
          </p:cNvPr>
          <p:cNvSpPr/>
          <p:nvPr/>
        </p:nvSpPr>
        <p:spPr>
          <a:xfrm>
            <a:off x="4365993" y="8359692"/>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18E0306-911A-2845-5479-0160B383BDFB}"/>
              </a:ext>
            </a:extLst>
          </p:cNvPr>
          <p:cNvSpPr/>
          <p:nvPr/>
        </p:nvSpPr>
        <p:spPr>
          <a:xfrm>
            <a:off x="5265667" y="9259366"/>
            <a:ext cx="1387734" cy="1387734"/>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073125BF-155B-CE47-10FD-353256F293E7}"/>
              </a:ext>
            </a:extLst>
          </p:cNvPr>
          <p:cNvSpPr/>
          <p:nvPr/>
        </p:nvSpPr>
        <p:spPr>
          <a:xfrm>
            <a:off x="5071622" y="9065321"/>
            <a:ext cx="1775824" cy="1775824"/>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47525A50-4430-E0BA-2B69-28E59A88BBAA}"/>
              </a:ext>
            </a:extLst>
          </p:cNvPr>
          <p:cNvSpPr/>
          <p:nvPr/>
        </p:nvSpPr>
        <p:spPr>
          <a:xfrm>
            <a:off x="4683524" y="8677223"/>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4E7E97F-A300-8D24-83A8-53DB370FA994}"/>
              </a:ext>
            </a:extLst>
          </p:cNvPr>
          <p:cNvSpPr/>
          <p:nvPr/>
        </p:nvSpPr>
        <p:spPr>
          <a:xfrm>
            <a:off x="5183346" y="9177045"/>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EB96ED6-9E0A-F201-BCAA-0E4AC5EDFF48}"/>
              </a:ext>
            </a:extLst>
          </p:cNvPr>
          <p:cNvSpPr/>
          <p:nvPr/>
        </p:nvSpPr>
        <p:spPr>
          <a:xfrm>
            <a:off x="5383269" y="9376968"/>
            <a:ext cx="1152530" cy="1152530"/>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7" name="Oval 16">
            <a:extLst>
              <a:ext uri="{FF2B5EF4-FFF2-40B4-BE49-F238E27FC236}">
                <a16:creationId xmlns:a16="http://schemas.microsoft.com/office/drawing/2014/main" id="{A6AF0DC5-0C8C-3C8D-C65D-3AEFD9EA6651}"/>
              </a:ext>
            </a:extLst>
          </p:cNvPr>
          <p:cNvSpPr/>
          <p:nvPr/>
        </p:nvSpPr>
        <p:spPr>
          <a:xfrm>
            <a:off x="4683524" y="8677223"/>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08FC087C-11CC-2B0E-7A07-7754DAC60F0B}"/>
              </a:ext>
            </a:extLst>
          </p:cNvPr>
          <p:cNvSpPr/>
          <p:nvPr/>
        </p:nvSpPr>
        <p:spPr>
          <a:xfrm>
            <a:off x="5183346" y="9177045"/>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B244E56-7930-2844-06F5-5723CECEC6B1}"/>
              </a:ext>
            </a:extLst>
          </p:cNvPr>
          <p:cNvSpPr/>
          <p:nvPr/>
        </p:nvSpPr>
        <p:spPr>
          <a:xfrm>
            <a:off x="4846227" y="8839926"/>
            <a:ext cx="2226614" cy="222661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20" name="Oval 19">
            <a:extLst>
              <a:ext uri="{FF2B5EF4-FFF2-40B4-BE49-F238E27FC236}">
                <a16:creationId xmlns:a16="http://schemas.microsoft.com/office/drawing/2014/main" id="{482E71D5-5715-5ACF-132A-1741BD40389F}"/>
              </a:ext>
            </a:extLst>
          </p:cNvPr>
          <p:cNvSpPr/>
          <p:nvPr/>
        </p:nvSpPr>
        <p:spPr>
          <a:xfrm>
            <a:off x="5118602" y="9112301"/>
            <a:ext cx="1681864" cy="168186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21" name="!!Products">
            <a:extLst>
              <a:ext uri="{FF2B5EF4-FFF2-40B4-BE49-F238E27FC236}">
                <a16:creationId xmlns:a16="http://schemas.microsoft.com/office/drawing/2014/main" id="{B6EEEE7A-30D0-0042-523A-5AFA898B1E97}"/>
              </a:ext>
            </a:extLst>
          </p:cNvPr>
          <p:cNvSpPr/>
          <p:nvPr/>
        </p:nvSpPr>
        <p:spPr>
          <a:xfrm>
            <a:off x="4757761" y="8751460"/>
            <a:ext cx="2403546" cy="2403546"/>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22" name="!!Operator">
            <a:extLst>
              <a:ext uri="{FF2B5EF4-FFF2-40B4-BE49-F238E27FC236}">
                <a16:creationId xmlns:a16="http://schemas.microsoft.com/office/drawing/2014/main" id="{ACF6CBB0-6F08-38EC-B411-EF244A8238BC}"/>
              </a:ext>
            </a:extLst>
          </p:cNvPr>
          <p:cNvSpPr/>
          <p:nvPr/>
        </p:nvSpPr>
        <p:spPr>
          <a:xfrm>
            <a:off x="4795248" y="8788947"/>
            <a:ext cx="2328572" cy="232857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OPERATOR</a:t>
            </a:r>
          </a:p>
        </p:txBody>
      </p:sp>
      <p:sp>
        <p:nvSpPr>
          <p:cNvPr id="23" name="!!DT">
            <a:extLst>
              <a:ext uri="{FF2B5EF4-FFF2-40B4-BE49-F238E27FC236}">
                <a16:creationId xmlns:a16="http://schemas.microsoft.com/office/drawing/2014/main" id="{2B08452A-AAFB-2E4C-9CC4-52B16AB3757D}"/>
              </a:ext>
            </a:extLst>
          </p:cNvPr>
          <p:cNvSpPr/>
          <p:nvPr/>
        </p:nvSpPr>
        <p:spPr>
          <a:xfrm>
            <a:off x="4683524" y="8677223"/>
            <a:ext cx="2552020" cy="255202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DOWNTIME FACTORS</a:t>
            </a:r>
          </a:p>
        </p:txBody>
      </p:sp>
      <p:sp>
        <p:nvSpPr>
          <p:cNvPr id="24" name="!!PLP">
            <a:extLst>
              <a:ext uri="{FF2B5EF4-FFF2-40B4-BE49-F238E27FC236}">
                <a16:creationId xmlns:a16="http://schemas.microsoft.com/office/drawing/2014/main" id="{26C8C494-6689-F465-CC2F-1F119F678DAB}"/>
              </a:ext>
            </a:extLst>
          </p:cNvPr>
          <p:cNvSpPr/>
          <p:nvPr/>
        </p:nvSpPr>
        <p:spPr>
          <a:xfrm>
            <a:off x="4353959" y="8383137"/>
            <a:ext cx="3211150" cy="314019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PRODUCTION LINE PERFORMANCE</a:t>
            </a:r>
          </a:p>
        </p:txBody>
      </p:sp>
      <p:sp>
        <p:nvSpPr>
          <p:cNvPr id="25" name="!!Overview">
            <a:extLst>
              <a:ext uri="{FF2B5EF4-FFF2-40B4-BE49-F238E27FC236}">
                <a16:creationId xmlns:a16="http://schemas.microsoft.com/office/drawing/2014/main" id="{91C6E453-A8F5-059B-4DD4-B8A68C25FF33}"/>
              </a:ext>
            </a:extLst>
          </p:cNvPr>
          <p:cNvSpPr/>
          <p:nvPr/>
        </p:nvSpPr>
        <p:spPr>
          <a:xfrm>
            <a:off x="4828328" y="8822027"/>
            <a:ext cx="2262412" cy="226241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OVERVIEW</a:t>
            </a:r>
          </a:p>
        </p:txBody>
      </p:sp>
      <p:grpSp>
        <p:nvGrpSpPr>
          <p:cNvPr id="26" name="Group 25">
            <a:extLst>
              <a:ext uri="{FF2B5EF4-FFF2-40B4-BE49-F238E27FC236}">
                <a16:creationId xmlns:a16="http://schemas.microsoft.com/office/drawing/2014/main" id="{FFAC0969-5412-3F08-E85F-8A62C977219F}"/>
              </a:ext>
            </a:extLst>
          </p:cNvPr>
          <p:cNvGrpSpPr/>
          <p:nvPr/>
        </p:nvGrpSpPr>
        <p:grpSpPr>
          <a:xfrm>
            <a:off x="4596327" y="8590026"/>
            <a:ext cx="2726414" cy="2726414"/>
            <a:chOff x="4515379" y="68110"/>
            <a:chExt cx="2208170" cy="2208170"/>
          </a:xfrm>
        </p:grpSpPr>
        <p:sp>
          <p:nvSpPr>
            <p:cNvPr id="27" name="Rectangle: Rounded Corners 32">
              <a:extLst>
                <a:ext uri="{FF2B5EF4-FFF2-40B4-BE49-F238E27FC236}">
                  <a16:creationId xmlns:a16="http://schemas.microsoft.com/office/drawing/2014/main" id="{9D200B29-BCAD-5DF1-2553-BC05FD0F5F4C}"/>
                </a:ext>
              </a:extLst>
            </p:cNvPr>
            <p:cNvSpPr/>
            <p:nvPr/>
          </p:nvSpPr>
          <p:spPr>
            <a:xfrm>
              <a:off x="4515379" y="68110"/>
              <a:ext cx="2208170" cy="2208170"/>
            </a:xfrm>
            <a:prstGeom prst="ellipse">
              <a:avLst/>
            </a:prstGeom>
            <a:solidFill>
              <a:srgbClr val="DEC78A"/>
            </a:solidFill>
            <a:ln>
              <a:solidFill>
                <a:srgbClr val="11225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latin typeface="Avenir Next LT Pro" panose="020B0504020202020204" pitchFamily="34" charset="0"/>
              </a:endParaRPr>
            </a:p>
          </p:txBody>
        </p:sp>
        <p:sp>
          <p:nvSpPr>
            <p:cNvPr id="28" name="Rectangle: Rounded Corners 31">
              <a:extLst>
                <a:ext uri="{FF2B5EF4-FFF2-40B4-BE49-F238E27FC236}">
                  <a16:creationId xmlns:a16="http://schemas.microsoft.com/office/drawing/2014/main" id="{A2519B71-EA6E-5862-6F0E-25AF4531B425}"/>
                </a:ext>
              </a:extLst>
            </p:cNvPr>
            <p:cNvSpPr/>
            <p:nvPr/>
          </p:nvSpPr>
          <p:spPr>
            <a:xfrm>
              <a:off x="4586001" y="143115"/>
              <a:ext cx="2066925" cy="2066925"/>
            </a:xfrm>
            <a:prstGeom prst="ellipse">
              <a:avLst/>
            </a:prstGeom>
            <a:solidFill>
              <a:srgbClr val="112250"/>
            </a:solidFill>
            <a:ln>
              <a:solidFill>
                <a:srgbClr val="DBCAC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venir Next LT Pro" panose="020B0504020202020204" pitchFamily="34" charset="0"/>
                </a:rPr>
                <a:t>SMART QUESTIONS</a:t>
              </a:r>
            </a:p>
          </p:txBody>
        </p:sp>
      </p:grpSp>
    </p:spTree>
    <p:extLst>
      <p:ext uri="{BB962C8B-B14F-4D97-AF65-F5344CB8AC3E}">
        <p14:creationId xmlns:p14="http://schemas.microsoft.com/office/powerpoint/2010/main" val="21081919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19D7EF-A129-F8C0-D242-ABB5ED04160D}"/>
              </a:ext>
            </a:extLst>
          </p:cNvPr>
          <p:cNvPicPr>
            <a:picLocks noChangeAspect="1"/>
          </p:cNvPicPr>
          <p:nvPr/>
        </p:nvPicPr>
        <p:blipFill>
          <a:blip r:embed="rId2">
            <a:alphaModFix amt="35000"/>
          </a:blip>
          <a:stretch>
            <a:fillRect/>
          </a:stretch>
        </p:blipFill>
        <p:spPr>
          <a:xfrm>
            <a:off x="0" y="-351230"/>
            <a:ext cx="12838110" cy="7209230"/>
          </a:xfrm>
          <a:prstGeom prst="rect">
            <a:avLst/>
          </a:prstGeom>
        </p:spPr>
      </p:pic>
      <p:sp>
        <p:nvSpPr>
          <p:cNvPr id="7" name="Oval 6">
            <a:extLst>
              <a:ext uri="{FF2B5EF4-FFF2-40B4-BE49-F238E27FC236}">
                <a16:creationId xmlns:a16="http://schemas.microsoft.com/office/drawing/2014/main" id="{B9FD30E5-5052-30E3-BB10-66BE29459989}"/>
              </a:ext>
            </a:extLst>
          </p:cNvPr>
          <p:cNvSpPr/>
          <p:nvPr/>
        </p:nvSpPr>
        <p:spPr>
          <a:xfrm>
            <a:off x="4683524" y="2158436"/>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5D46D91-9C49-83A6-7630-E91A931E8A33}"/>
              </a:ext>
            </a:extLst>
          </p:cNvPr>
          <p:cNvSpPr/>
          <p:nvPr/>
        </p:nvSpPr>
        <p:spPr>
          <a:xfrm>
            <a:off x="5129145" y="2604057"/>
            <a:ext cx="1660778" cy="1660778"/>
          </a:xfrm>
          <a:prstGeom prst="ellipse">
            <a:avLst/>
          </a:prstGeom>
          <a:solidFill>
            <a:srgbClr val="3B507D"/>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1ECB0C95-DF36-895E-E856-09256882E228}"/>
              </a:ext>
            </a:extLst>
          </p:cNvPr>
          <p:cNvSpPr/>
          <p:nvPr/>
        </p:nvSpPr>
        <p:spPr>
          <a:xfrm>
            <a:off x="4683524" y="2158436"/>
            <a:ext cx="2552020" cy="2552020"/>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9AA80E4-B68E-5451-6E42-98311559A714}"/>
              </a:ext>
            </a:extLst>
          </p:cNvPr>
          <p:cNvSpPr/>
          <p:nvPr/>
        </p:nvSpPr>
        <p:spPr>
          <a:xfrm>
            <a:off x="5383269" y="2858181"/>
            <a:ext cx="1152530" cy="115253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8" name="Oval 17">
            <a:extLst>
              <a:ext uri="{FF2B5EF4-FFF2-40B4-BE49-F238E27FC236}">
                <a16:creationId xmlns:a16="http://schemas.microsoft.com/office/drawing/2014/main" id="{99F93EBE-1DF1-33A5-7E1C-4CF42E16DECC}"/>
              </a:ext>
            </a:extLst>
          </p:cNvPr>
          <p:cNvSpPr/>
          <p:nvPr/>
        </p:nvSpPr>
        <p:spPr>
          <a:xfrm>
            <a:off x="4683524" y="2158436"/>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CDEB0A40-05DA-41D2-0FE4-D8C6C629D42D}"/>
              </a:ext>
            </a:extLst>
          </p:cNvPr>
          <p:cNvSpPr/>
          <p:nvPr/>
        </p:nvSpPr>
        <p:spPr>
          <a:xfrm>
            <a:off x="4365993" y="1840905"/>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6033D141-64A6-A2C4-B4CA-4B81117D90BE}"/>
              </a:ext>
            </a:extLst>
          </p:cNvPr>
          <p:cNvSpPr/>
          <p:nvPr/>
        </p:nvSpPr>
        <p:spPr>
          <a:xfrm>
            <a:off x="4365993" y="1840905"/>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7C216420-7202-EC6E-9EA2-E574459D983C}"/>
              </a:ext>
            </a:extLst>
          </p:cNvPr>
          <p:cNvSpPr/>
          <p:nvPr/>
        </p:nvSpPr>
        <p:spPr>
          <a:xfrm>
            <a:off x="5265667" y="2740579"/>
            <a:ext cx="1387734" cy="1387734"/>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641C749-CBC4-E815-D40D-A9BE68536D5B}"/>
              </a:ext>
            </a:extLst>
          </p:cNvPr>
          <p:cNvSpPr/>
          <p:nvPr/>
        </p:nvSpPr>
        <p:spPr>
          <a:xfrm>
            <a:off x="5071622" y="2546534"/>
            <a:ext cx="1775824" cy="1775824"/>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BD4828DF-8C7C-4174-929C-3F676E06E02F}"/>
              </a:ext>
            </a:extLst>
          </p:cNvPr>
          <p:cNvSpPr/>
          <p:nvPr/>
        </p:nvSpPr>
        <p:spPr>
          <a:xfrm>
            <a:off x="4683524" y="2158436"/>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75969D7-7BC6-3E68-BB14-E6DD4D8928E4}"/>
              </a:ext>
            </a:extLst>
          </p:cNvPr>
          <p:cNvSpPr/>
          <p:nvPr/>
        </p:nvSpPr>
        <p:spPr>
          <a:xfrm>
            <a:off x="5183346" y="2658258"/>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680D2250-ECF2-0077-6836-FEE1B693BFAE}"/>
              </a:ext>
            </a:extLst>
          </p:cNvPr>
          <p:cNvSpPr/>
          <p:nvPr/>
        </p:nvSpPr>
        <p:spPr>
          <a:xfrm>
            <a:off x="5383269" y="2858181"/>
            <a:ext cx="1152530" cy="1152530"/>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27" name="Oval 26">
            <a:extLst>
              <a:ext uri="{FF2B5EF4-FFF2-40B4-BE49-F238E27FC236}">
                <a16:creationId xmlns:a16="http://schemas.microsoft.com/office/drawing/2014/main" id="{301BA1EC-79BE-BFC7-BC24-9C97A02AC8CE}"/>
              </a:ext>
            </a:extLst>
          </p:cNvPr>
          <p:cNvSpPr/>
          <p:nvPr/>
        </p:nvSpPr>
        <p:spPr>
          <a:xfrm>
            <a:off x="4683524" y="2158436"/>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59067202-BEAF-842E-4EDB-46D87DD5260E}"/>
              </a:ext>
            </a:extLst>
          </p:cNvPr>
          <p:cNvSpPr/>
          <p:nvPr/>
        </p:nvSpPr>
        <p:spPr>
          <a:xfrm>
            <a:off x="5183346" y="2658258"/>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E0FC4519-4FA4-EA1C-1440-1C58857F2943}"/>
              </a:ext>
            </a:extLst>
          </p:cNvPr>
          <p:cNvSpPr/>
          <p:nvPr/>
        </p:nvSpPr>
        <p:spPr>
          <a:xfrm>
            <a:off x="4846227" y="2321139"/>
            <a:ext cx="2226614" cy="222661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30" name="Oval 29">
            <a:extLst>
              <a:ext uri="{FF2B5EF4-FFF2-40B4-BE49-F238E27FC236}">
                <a16:creationId xmlns:a16="http://schemas.microsoft.com/office/drawing/2014/main" id="{11AEAF98-76A8-48ED-61DD-8405AB02C849}"/>
              </a:ext>
            </a:extLst>
          </p:cNvPr>
          <p:cNvSpPr/>
          <p:nvPr/>
        </p:nvSpPr>
        <p:spPr>
          <a:xfrm>
            <a:off x="5118602" y="2593514"/>
            <a:ext cx="1681864" cy="168186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3" name="!!Products">
            <a:extLst>
              <a:ext uri="{FF2B5EF4-FFF2-40B4-BE49-F238E27FC236}">
                <a16:creationId xmlns:a16="http://schemas.microsoft.com/office/drawing/2014/main" id="{DE9A41F2-806C-7D56-262F-2FC6C07B8B26}"/>
              </a:ext>
            </a:extLst>
          </p:cNvPr>
          <p:cNvSpPr/>
          <p:nvPr/>
        </p:nvSpPr>
        <p:spPr>
          <a:xfrm>
            <a:off x="4757761" y="2232673"/>
            <a:ext cx="2403546" cy="2403546"/>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9" name="!!Operator">
            <a:extLst>
              <a:ext uri="{FF2B5EF4-FFF2-40B4-BE49-F238E27FC236}">
                <a16:creationId xmlns:a16="http://schemas.microsoft.com/office/drawing/2014/main" id="{8F839F51-F08D-6D6D-2524-8C4B6CC68305}"/>
              </a:ext>
            </a:extLst>
          </p:cNvPr>
          <p:cNvSpPr/>
          <p:nvPr/>
        </p:nvSpPr>
        <p:spPr>
          <a:xfrm>
            <a:off x="4795248" y="2270160"/>
            <a:ext cx="2328572" cy="232857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OPERATOR</a:t>
            </a:r>
          </a:p>
        </p:txBody>
      </p:sp>
      <p:sp>
        <p:nvSpPr>
          <p:cNvPr id="14" name="!!DT">
            <a:extLst>
              <a:ext uri="{FF2B5EF4-FFF2-40B4-BE49-F238E27FC236}">
                <a16:creationId xmlns:a16="http://schemas.microsoft.com/office/drawing/2014/main" id="{E877DDA0-578B-756A-F9FA-CEAB47B080E0}"/>
              </a:ext>
            </a:extLst>
          </p:cNvPr>
          <p:cNvSpPr/>
          <p:nvPr/>
        </p:nvSpPr>
        <p:spPr>
          <a:xfrm>
            <a:off x="4683524" y="2158436"/>
            <a:ext cx="2552020" cy="255202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DOWNTIME FACTORS</a:t>
            </a:r>
          </a:p>
        </p:txBody>
      </p:sp>
      <p:sp>
        <p:nvSpPr>
          <p:cNvPr id="16" name="!!PLP">
            <a:extLst>
              <a:ext uri="{FF2B5EF4-FFF2-40B4-BE49-F238E27FC236}">
                <a16:creationId xmlns:a16="http://schemas.microsoft.com/office/drawing/2014/main" id="{0FC3AB8D-D7B1-0C4F-E455-6BEA55723FF3}"/>
              </a:ext>
            </a:extLst>
          </p:cNvPr>
          <p:cNvSpPr/>
          <p:nvPr/>
        </p:nvSpPr>
        <p:spPr>
          <a:xfrm>
            <a:off x="4353959" y="1864350"/>
            <a:ext cx="3211150" cy="314019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PRODUCTION LINE PERFORMANCE</a:t>
            </a:r>
          </a:p>
        </p:txBody>
      </p:sp>
      <p:sp>
        <p:nvSpPr>
          <p:cNvPr id="15" name="!!Overview">
            <a:extLst>
              <a:ext uri="{FF2B5EF4-FFF2-40B4-BE49-F238E27FC236}">
                <a16:creationId xmlns:a16="http://schemas.microsoft.com/office/drawing/2014/main" id="{F73207F8-4356-1E3B-09C0-3DE14280D920}"/>
              </a:ext>
            </a:extLst>
          </p:cNvPr>
          <p:cNvSpPr/>
          <p:nvPr/>
        </p:nvSpPr>
        <p:spPr>
          <a:xfrm>
            <a:off x="4828328" y="2303240"/>
            <a:ext cx="2262412" cy="226241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OVERVIEW</a:t>
            </a:r>
          </a:p>
        </p:txBody>
      </p:sp>
      <p:grpSp>
        <p:nvGrpSpPr>
          <p:cNvPr id="35" name="Group 34">
            <a:extLst>
              <a:ext uri="{FF2B5EF4-FFF2-40B4-BE49-F238E27FC236}">
                <a16:creationId xmlns:a16="http://schemas.microsoft.com/office/drawing/2014/main" id="{B8790E3E-1002-062F-C1EC-97F19F38A1F9}"/>
              </a:ext>
            </a:extLst>
          </p:cNvPr>
          <p:cNvGrpSpPr/>
          <p:nvPr/>
        </p:nvGrpSpPr>
        <p:grpSpPr>
          <a:xfrm>
            <a:off x="4596327" y="2071239"/>
            <a:ext cx="2726414" cy="2726414"/>
            <a:chOff x="4515379" y="68110"/>
            <a:chExt cx="2208170" cy="2208170"/>
          </a:xfrm>
        </p:grpSpPr>
        <p:sp>
          <p:nvSpPr>
            <p:cNvPr id="33" name="Rectangle: Rounded Corners 32">
              <a:extLst>
                <a:ext uri="{FF2B5EF4-FFF2-40B4-BE49-F238E27FC236}">
                  <a16:creationId xmlns:a16="http://schemas.microsoft.com/office/drawing/2014/main" id="{2A59D8C5-12F1-7A50-7198-7C2B5749ADE0}"/>
                </a:ext>
              </a:extLst>
            </p:cNvPr>
            <p:cNvSpPr/>
            <p:nvPr/>
          </p:nvSpPr>
          <p:spPr>
            <a:xfrm>
              <a:off x="4515379" y="68110"/>
              <a:ext cx="2208170" cy="2208170"/>
            </a:xfrm>
            <a:prstGeom prst="ellipse">
              <a:avLst/>
            </a:prstGeom>
            <a:solidFill>
              <a:srgbClr val="DEC78A"/>
            </a:solidFill>
            <a:ln>
              <a:solidFill>
                <a:srgbClr val="11225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latin typeface="Avenir Next LT Pro" panose="020B0504020202020204" pitchFamily="34" charset="0"/>
              </a:endParaRPr>
            </a:p>
          </p:txBody>
        </p:sp>
        <p:sp>
          <p:nvSpPr>
            <p:cNvPr id="32" name="Rectangle: Rounded Corners 31">
              <a:extLst>
                <a:ext uri="{FF2B5EF4-FFF2-40B4-BE49-F238E27FC236}">
                  <a16:creationId xmlns:a16="http://schemas.microsoft.com/office/drawing/2014/main" id="{4D9739D3-3636-54F0-66A2-47080028B0B7}"/>
                </a:ext>
              </a:extLst>
            </p:cNvPr>
            <p:cNvSpPr/>
            <p:nvPr/>
          </p:nvSpPr>
          <p:spPr>
            <a:xfrm>
              <a:off x="4586001" y="143115"/>
              <a:ext cx="2066925" cy="2066925"/>
            </a:xfrm>
            <a:prstGeom prst="ellipse">
              <a:avLst/>
            </a:prstGeom>
            <a:solidFill>
              <a:srgbClr val="112250"/>
            </a:solidFill>
            <a:ln>
              <a:solidFill>
                <a:srgbClr val="DBCAC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venir Next LT Pro" panose="020B0504020202020204" pitchFamily="34" charset="0"/>
                </a:rPr>
                <a:t>SMART QUESTIONS</a:t>
              </a:r>
            </a:p>
          </p:txBody>
        </p:sp>
      </p:grpSp>
      <p:pic>
        <p:nvPicPr>
          <p:cNvPr id="36" name="Picture 35" descr="A computer screen shot of a question mark&#10;&#10;AI-generated content may be incorrect.">
            <a:extLst>
              <a:ext uri="{FF2B5EF4-FFF2-40B4-BE49-F238E27FC236}">
                <a16:creationId xmlns:a16="http://schemas.microsoft.com/office/drawing/2014/main" id="{22CE3933-BFAA-7BA9-B244-AB8873613CE4}"/>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34219" t="22778" r="33437" b="23889"/>
          <a:stretch>
            <a:fillRect/>
          </a:stretch>
        </p:blipFill>
        <p:spPr>
          <a:xfrm>
            <a:off x="15197790" y="1819945"/>
            <a:ext cx="3943350" cy="3657600"/>
          </a:xfrm>
          <a:prstGeom prst="rect">
            <a:avLst/>
          </a:prstGeom>
        </p:spPr>
      </p:pic>
      <p:sp>
        <p:nvSpPr>
          <p:cNvPr id="37" name="TextBox 36">
            <a:extLst>
              <a:ext uri="{FF2B5EF4-FFF2-40B4-BE49-F238E27FC236}">
                <a16:creationId xmlns:a16="http://schemas.microsoft.com/office/drawing/2014/main" id="{0032FEC0-BFE7-7A13-9B13-03054B6A7B6E}"/>
              </a:ext>
            </a:extLst>
          </p:cNvPr>
          <p:cNvSpPr txBox="1"/>
          <p:nvPr/>
        </p:nvSpPr>
        <p:spPr>
          <a:xfrm>
            <a:off x="701675" y="-4259787"/>
            <a:ext cx="10788650" cy="2800767"/>
          </a:xfrm>
          <a:prstGeom prst="rect">
            <a:avLst/>
          </a:prstGeom>
          <a:noFill/>
        </p:spPr>
        <p:txBody>
          <a:bodyPr wrap="square" rtlCol="0">
            <a:spAutoFit/>
          </a:bodyPr>
          <a:lstStyle/>
          <a:p>
            <a:pPr algn="ctr"/>
            <a:r>
              <a:rPr lang="en-US" sz="8800" b="1" dirty="0">
                <a:latin typeface="Avenir Next LT Pro" panose="020B0504020202020204" pitchFamily="34" charset="0"/>
              </a:rPr>
              <a:t>Analysis Questions</a:t>
            </a:r>
            <a:br>
              <a:rPr lang="en-US" sz="8800" b="1" dirty="0">
                <a:latin typeface="Avenir Next LT Pro" panose="020B0504020202020204" pitchFamily="34" charset="0"/>
              </a:rPr>
            </a:br>
            <a:r>
              <a:rPr lang="en-US" sz="8800" b="1" dirty="0">
                <a:latin typeface="Avenir Next LT Pro" panose="020B0504020202020204" pitchFamily="34" charset="0"/>
              </a:rPr>
              <a:t>EDA</a:t>
            </a:r>
          </a:p>
        </p:txBody>
      </p:sp>
      <p:sp>
        <p:nvSpPr>
          <p:cNvPr id="38" name="TextBox 37">
            <a:extLst>
              <a:ext uri="{FF2B5EF4-FFF2-40B4-BE49-F238E27FC236}">
                <a16:creationId xmlns:a16="http://schemas.microsoft.com/office/drawing/2014/main" id="{F6CE373C-82AB-583E-D22B-FD7D982D66CD}"/>
              </a:ext>
            </a:extLst>
          </p:cNvPr>
          <p:cNvSpPr txBox="1"/>
          <p:nvPr/>
        </p:nvSpPr>
        <p:spPr>
          <a:xfrm>
            <a:off x="-7208935" y="1819945"/>
            <a:ext cx="5638800" cy="4247317"/>
          </a:xfrm>
          <a:prstGeom prst="rect">
            <a:avLst/>
          </a:prstGeom>
          <a:noFill/>
        </p:spPr>
        <p:txBody>
          <a:bodyPr wrap="square" rtlCol="0">
            <a:spAutoFit/>
          </a:bodyPr>
          <a:lstStyle/>
          <a:p>
            <a:r>
              <a:rPr lang="en-US" sz="2800" b="1" dirty="0"/>
              <a:t>Why?</a:t>
            </a:r>
          </a:p>
          <a:p>
            <a:endParaRPr lang="en-US" dirty="0"/>
          </a:p>
          <a:p>
            <a:pPr algn="just"/>
            <a:r>
              <a:rPr lang="en-US" sz="2800" dirty="0"/>
              <a:t>After cleaning the dataset, the next step was to explore it through a structured set of SMART analysis questions, allowing us to uncover patterns across the whole dataset. Questions were organized into five areas that cover every aspect of analysis.</a:t>
            </a:r>
            <a:endParaRPr lang="en-US" dirty="0"/>
          </a:p>
        </p:txBody>
      </p:sp>
    </p:spTree>
    <p:extLst>
      <p:ext uri="{BB962C8B-B14F-4D97-AF65-F5344CB8AC3E}">
        <p14:creationId xmlns:p14="http://schemas.microsoft.com/office/powerpoint/2010/main" val="39520912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8948-3434-E6DB-ADB4-911872FDAC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DB1881-D43D-4EA7-24E0-20A32EA24AF8}"/>
              </a:ext>
            </a:extLst>
          </p:cNvPr>
          <p:cNvPicPr>
            <a:picLocks noChangeAspect="1"/>
          </p:cNvPicPr>
          <p:nvPr/>
        </p:nvPicPr>
        <p:blipFill>
          <a:blip r:embed="rId2">
            <a:alphaModFix amt="35000"/>
          </a:blip>
          <a:stretch>
            <a:fillRect/>
          </a:stretch>
        </p:blipFill>
        <p:spPr>
          <a:xfrm>
            <a:off x="0" y="-351230"/>
            <a:ext cx="12838110" cy="7209230"/>
          </a:xfrm>
          <a:prstGeom prst="rect">
            <a:avLst/>
          </a:prstGeom>
        </p:spPr>
      </p:pic>
      <p:sp>
        <p:nvSpPr>
          <p:cNvPr id="7" name="Oval 6">
            <a:extLst>
              <a:ext uri="{FF2B5EF4-FFF2-40B4-BE49-F238E27FC236}">
                <a16:creationId xmlns:a16="http://schemas.microsoft.com/office/drawing/2014/main" id="{F23D6E08-ED0C-7986-4CBB-385FDE8A10B8}"/>
              </a:ext>
            </a:extLst>
          </p:cNvPr>
          <p:cNvSpPr/>
          <p:nvPr/>
        </p:nvSpPr>
        <p:spPr>
          <a:xfrm>
            <a:off x="2378613" y="2181561"/>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6C25818-BDFA-B2A7-812D-8AF7F5B7E7CE}"/>
              </a:ext>
            </a:extLst>
          </p:cNvPr>
          <p:cNvSpPr/>
          <p:nvPr/>
        </p:nvSpPr>
        <p:spPr>
          <a:xfrm>
            <a:off x="6396997" y="825675"/>
            <a:ext cx="1660778" cy="1660778"/>
          </a:xfrm>
          <a:prstGeom prst="ellipse">
            <a:avLst/>
          </a:prstGeom>
          <a:solidFill>
            <a:srgbClr val="3B507D"/>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A4565D4-269C-CF24-45F3-8E23B7498E03}"/>
              </a:ext>
            </a:extLst>
          </p:cNvPr>
          <p:cNvSpPr/>
          <p:nvPr/>
        </p:nvSpPr>
        <p:spPr>
          <a:xfrm>
            <a:off x="1083508" y="405151"/>
            <a:ext cx="2552020" cy="2552020"/>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9AE40DE-A00F-8E30-C820-345C65433BBC}"/>
              </a:ext>
            </a:extLst>
          </p:cNvPr>
          <p:cNvSpPr/>
          <p:nvPr/>
        </p:nvSpPr>
        <p:spPr>
          <a:xfrm>
            <a:off x="3366200" y="3395656"/>
            <a:ext cx="1152530" cy="115253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8" name="Oval 17">
            <a:extLst>
              <a:ext uri="{FF2B5EF4-FFF2-40B4-BE49-F238E27FC236}">
                <a16:creationId xmlns:a16="http://schemas.microsoft.com/office/drawing/2014/main" id="{7D4B6A29-1F67-3FB3-0B44-0871F37F246C}"/>
              </a:ext>
            </a:extLst>
          </p:cNvPr>
          <p:cNvSpPr/>
          <p:nvPr/>
        </p:nvSpPr>
        <p:spPr>
          <a:xfrm>
            <a:off x="8283541" y="4090131"/>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5204326D-F299-4340-DF56-67C493DBE668}"/>
              </a:ext>
            </a:extLst>
          </p:cNvPr>
          <p:cNvSpPr/>
          <p:nvPr/>
        </p:nvSpPr>
        <p:spPr>
          <a:xfrm>
            <a:off x="7539144" y="516251"/>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DB2D4304-B895-85DF-C931-EFD7309D124F}"/>
              </a:ext>
            </a:extLst>
          </p:cNvPr>
          <p:cNvSpPr/>
          <p:nvPr/>
        </p:nvSpPr>
        <p:spPr>
          <a:xfrm>
            <a:off x="2577802" y="3582310"/>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F97687BD-4EE9-F15D-9078-306ED8C37A78}"/>
              </a:ext>
            </a:extLst>
          </p:cNvPr>
          <p:cNvSpPr/>
          <p:nvPr/>
        </p:nvSpPr>
        <p:spPr>
          <a:xfrm>
            <a:off x="4913081" y="4960660"/>
            <a:ext cx="1387734" cy="1387734"/>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1C689E12-265E-422C-A4E1-DE440AAF30D1}"/>
              </a:ext>
            </a:extLst>
          </p:cNvPr>
          <p:cNvSpPr/>
          <p:nvPr/>
        </p:nvSpPr>
        <p:spPr>
          <a:xfrm>
            <a:off x="4137325" y="1714231"/>
            <a:ext cx="1775824" cy="1775824"/>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2476F6ED-B9C1-98C6-3D7B-F2E3C4F6301E}"/>
              </a:ext>
            </a:extLst>
          </p:cNvPr>
          <p:cNvSpPr/>
          <p:nvPr/>
        </p:nvSpPr>
        <p:spPr>
          <a:xfrm>
            <a:off x="5806124" y="3729373"/>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8823B82-4728-5238-AA0B-59C29DF2A7E5}"/>
              </a:ext>
            </a:extLst>
          </p:cNvPr>
          <p:cNvSpPr/>
          <p:nvPr/>
        </p:nvSpPr>
        <p:spPr>
          <a:xfrm>
            <a:off x="1621139" y="1658636"/>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7ABD7ED-4EE9-066B-7798-4ECD70AFD444}"/>
              </a:ext>
            </a:extLst>
          </p:cNvPr>
          <p:cNvSpPr/>
          <p:nvPr/>
        </p:nvSpPr>
        <p:spPr>
          <a:xfrm>
            <a:off x="6057195" y="1905938"/>
            <a:ext cx="1152530" cy="1152530"/>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27" name="Oval 26">
            <a:extLst>
              <a:ext uri="{FF2B5EF4-FFF2-40B4-BE49-F238E27FC236}">
                <a16:creationId xmlns:a16="http://schemas.microsoft.com/office/drawing/2014/main" id="{6ABD5A5F-91B9-81A7-FC3A-890FBE27600D}"/>
              </a:ext>
            </a:extLst>
          </p:cNvPr>
          <p:cNvSpPr/>
          <p:nvPr/>
        </p:nvSpPr>
        <p:spPr>
          <a:xfrm>
            <a:off x="6745383" y="1540451"/>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65BE078-6612-4712-6035-3599311248E2}"/>
              </a:ext>
            </a:extLst>
          </p:cNvPr>
          <p:cNvSpPr/>
          <p:nvPr/>
        </p:nvSpPr>
        <p:spPr>
          <a:xfrm>
            <a:off x="1095478" y="3319555"/>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2DD80151-49D3-D678-E77E-3CBAA356B411}"/>
              </a:ext>
            </a:extLst>
          </p:cNvPr>
          <p:cNvSpPr/>
          <p:nvPr/>
        </p:nvSpPr>
        <p:spPr>
          <a:xfrm>
            <a:off x="3055999" y="1601316"/>
            <a:ext cx="2226614" cy="222661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30" name="Oval 29">
            <a:extLst>
              <a:ext uri="{FF2B5EF4-FFF2-40B4-BE49-F238E27FC236}">
                <a16:creationId xmlns:a16="http://schemas.microsoft.com/office/drawing/2014/main" id="{F381077D-8B9F-EA1E-7980-0142D97B1B05}"/>
              </a:ext>
            </a:extLst>
          </p:cNvPr>
          <p:cNvSpPr/>
          <p:nvPr/>
        </p:nvSpPr>
        <p:spPr>
          <a:xfrm>
            <a:off x="6153102" y="3597715"/>
            <a:ext cx="1681864" cy="168186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3" name="!!Products">
            <a:extLst>
              <a:ext uri="{FF2B5EF4-FFF2-40B4-BE49-F238E27FC236}">
                <a16:creationId xmlns:a16="http://schemas.microsoft.com/office/drawing/2014/main" id="{5A8697F8-1A72-2883-7DB6-4D14A0177756}"/>
              </a:ext>
            </a:extLst>
          </p:cNvPr>
          <p:cNvSpPr/>
          <p:nvPr/>
        </p:nvSpPr>
        <p:spPr>
          <a:xfrm>
            <a:off x="7300468" y="3289260"/>
            <a:ext cx="2403546" cy="2403546"/>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9" name="!!Operator">
            <a:extLst>
              <a:ext uri="{FF2B5EF4-FFF2-40B4-BE49-F238E27FC236}">
                <a16:creationId xmlns:a16="http://schemas.microsoft.com/office/drawing/2014/main" id="{F9C1BE7C-0E73-49A5-C8BA-DC443A2AB3A3}"/>
              </a:ext>
            </a:extLst>
          </p:cNvPr>
          <p:cNvSpPr/>
          <p:nvPr/>
        </p:nvSpPr>
        <p:spPr>
          <a:xfrm>
            <a:off x="1596179" y="4036362"/>
            <a:ext cx="2328572" cy="232857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OPERATOR</a:t>
            </a:r>
          </a:p>
        </p:txBody>
      </p:sp>
      <p:sp>
        <p:nvSpPr>
          <p:cNvPr id="14" name="!!DT">
            <a:extLst>
              <a:ext uri="{FF2B5EF4-FFF2-40B4-BE49-F238E27FC236}">
                <a16:creationId xmlns:a16="http://schemas.microsoft.com/office/drawing/2014/main" id="{A23D8158-4F78-9157-D8F6-1D0FA444B2F9}"/>
              </a:ext>
            </a:extLst>
          </p:cNvPr>
          <p:cNvSpPr/>
          <p:nvPr/>
        </p:nvSpPr>
        <p:spPr>
          <a:xfrm>
            <a:off x="4445538" y="2800870"/>
            <a:ext cx="2552020" cy="255202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DOWNTIME FACTORS</a:t>
            </a:r>
          </a:p>
        </p:txBody>
      </p:sp>
      <p:sp>
        <p:nvSpPr>
          <p:cNvPr id="16" name="!!PLP">
            <a:extLst>
              <a:ext uri="{FF2B5EF4-FFF2-40B4-BE49-F238E27FC236}">
                <a16:creationId xmlns:a16="http://schemas.microsoft.com/office/drawing/2014/main" id="{4E842D1C-BD12-E3B5-6CAF-405CB3CFD6F1}"/>
              </a:ext>
            </a:extLst>
          </p:cNvPr>
          <p:cNvSpPr/>
          <p:nvPr/>
        </p:nvSpPr>
        <p:spPr>
          <a:xfrm>
            <a:off x="6702602" y="231793"/>
            <a:ext cx="3211150" cy="314019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PRODUCTION LINE PERFORMANCE</a:t>
            </a:r>
          </a:p>
        </p:txBody>
      </p:sp>
      <p:sp>
        <p:nvSpPr>
          <p:cNvPr id="15" name="!!Overview">
            <a:extLst>
              <a:ext uri="{FF2B5EF4-FFF2-40B4-BE49-F238E27FC236}">
                <a16:creationId xmlns:a16="http://schemas.microsoft.com/office/drawing/2014/main" id="{C2D85BFA-33EF-CE23-A06E-F678BB191A2E}"/>
              </a:ext>
            </a:extLst>
          </p:cNvPr>
          <p:cNvSpPr/>
          <p:nvPr/>
        </p:nvSpPr>
        <p:spPr>
          <a:xfrm>
            <a:off x="2164446" y="714856"/>
            <a:ext cx="2262412" cy="226241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OVERVIEW</a:t>
            </a:r>
          </a:p>
        </p:txBody>
      </p:sp>
      <p:grpSp>
        <p:nvGrpSpPr>
          <p:cNvPr id="35" name="Group 34">
            <a:extLst>
              <a:ext uri="{FF2B5EF4-FFF2-40B4-BE49-F238E27FC236}">
                <a16:creationId xmlns:a16="http://schemas.microsoft.com/office/drawing/2014/main" id="{6317F279-FFD5-774A-9A15-AE4A898411B2}"/>
              </a:ext>
            </a:extLst>
          </p:cNvPr>
          <p:cNvGrpSpPr/>
          <p:nvPr/>
        </p:nvGrpSpPr>
        <p:grpSpPr>
          <a:xfrm>
            <a:off x="4256257" y="99501"/>
            <a:ext cx="2726414" cy="2726414"/>
            <a:chOff x="4515379" y="68110"/>
            <a:chExt cx="2208170" cy="2208170"/>
          </a:xfrm>
        </p:grpSpPr>
        <p:sp>
          <p:nvSpPr>
            <p:cNvPr id="33" name="Rectangle: Rounded Corners 32">
              <a:extLst>
                <a:ext uri="{FF2B5EF4-FFF2-40B4-BE49-F238E27FC236}">
                  <a16:creationId xmlns:a16="http://schemas.microsoft.com/office/drawing/2014/main" id="{CCE25C05-95A1-9508-1276-454F957EC2AE}"/>
                </a:ext>
              </a:extLst>
            </p:cNvPr>
            <p:cNvSpPr/>
            <p:nvPr/>
          </p:nvSpPr>
          <p:spPr>
            <a:xfrm>
              <a:off x="4515379" y="68110"/>
              <a:ext cx="2208170" cy="2208170"/>
            </a:xfrm>
            <a:prstGeom prst="ellipse">
              <a:avLst/>
            </a:prstGeom>
            <a:solidFill>
              <a:srgbClr val="DEC78A"/>
            </a:solidFill>
            <a:ln>
              <a:solidFill>
                <a:srgbClr val="11225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latin typeface="Avenir Next LT Pro" panose="020B0504020202020204" pitchFamily="34" charset="0"/>
              </a:endParaRPr>
            </a:p>
          </p:txBody>
        </p:sp>
        <p:sp>
          <p:nvSpPr>
            <p:cNvPr id="32" name="Rectangle: Rounded Corners 31">
              <a:extLst>
                <a:ext uri="{FF2B5EF4-FFF2-40B4-BE49-F238E27FC236}">
                  <a16:creationId xmlns:a16="http://schemas.microsoft.com/office/drawing/2014/main" id="{28266EA4-2B17-C9AE-ADA3-2A2957E4751E}"/>
                </a:ext>
              </a:extLst>
            </p:cNvPr>
            <p:cNvSpPr/>
            <p:nvPr/>
          </p:nvSpPr>
          <p:spPr>
            <a:xfrm>
              <a:off x="4586001" y="143115"/>
              <a:ext cx="2066925" cy="2066925"/>
            </a:xfrm>
            <a:prstGeom prst="ellipse">
              <a:avLst/>
            </a:prstGeom>
            <a:solidFill>
              <a:srgbClr val="112250"/>
            </a:solidFill>
            <a:ln>
              <a:solidFill>
                <a:srgbClr val="DBCAC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venir Next LT Pro" panose="020B0504020202020204" pitchFamily="34" charset="0"/>
                </a:rPr>
                <a:t>SMART QUESTIONS</a:t>
              </a:r>
            </a:p>
          </p:txBody>
        </p:sp>
      </p:grpSp>
    </p:spTree>
    <p:extLst>
      <p:ext uri="{BB962C8B-B14F-4D97-AF65-F5344CB8AC3E}">
        <p14:creationId xmlns:p14="http://schemas.microsoft.com/office/powerpoint/2010/main" val="34635772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588D-B313-C724-9392-4EFB44FBF8AB}"/>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D8334B2E-C7AE-0190-2D16-6191CF8DF3EB}"/>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7" name="Oval 6">
            <a:extLst>
              <a:ext uri="{FF2B5EF4-FFF2-40B4-BE49-F238E27FC236}">
                <a16:creationId xmlns:a16="http://schemas.microsoft.com/office/drawing/2014/main" id="{3018BCB7-CC05-E844-52A5-49BFCF03968C}"/>
              </a:ext>
            </a:extLst>
          </p:cNvPr>
          <p:cNvSpPr/>
          <p:nvPr/>
        </p:nvSpPr>
        <p:spPr>
          <a:xfrm>
            <a:off x="-4453598" y="5394657"/>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1952999-6F42-CCD4-FCF7-0466262F4D96}"/>
              </a:ext>
            </a:extLst>
          </p:cNvPr>
          <p:cNvSpPr/>
          <p:nvPr/>
        </p:nvSpPr>
        <p:spPr>
          <a:xfrm>
            <a:off x="8797297" y="-2329774"/>
            <a:ext cx="1660778" cy="1660778"/>
          </a:xfrm>
          <a:prstGeom prst="ellipse">
            <a:avLst/>
          </a:prstGeom>
          <a:solidFill>
            <a:srgbClr val="3B507D"/>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F5B38872-EB5C-B39C-1598-8117E206597A}"/>
              </a:ext>
            </a:extLst>
          </p:cNvPr>
          <p:cNvSpPr/>
          <p:nvPr/>
        </p:nvSpPr>
        <p:spPr>
          <a:xfrm>
            <a:off x="-2368062" y="-2242577"/>
            <a:ext cx="2552020" cy="2552020"/>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309079C5-B8AC-A1F2-229A-E278388D4055}"/>
              </a:ext>
            </a:extLst>
          </p:cNvPr>
          <p:cNvSpPr/>
          <p:nvPr/>
        </p:nvSpPr>
        <p:spPr>
          <a:xfrm>
            <a:off x="-1341939" y="8201714"/>
            <a:ext cx="1152530" cy="115253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8" name="Oval 17">
            <a:extLst>
              <a:ext uri="{FF2B5EF4-FFF2-40B4-BE49-F238E27FC236}">
                <a16:creationId xmlns:a16="http://schemas.microsoft.com/office/drawing/2014/main" id="{294817B3-877D-7E27-23CC-A124FA40D822}"/>
              </a:ext>
            </a:extLst>
          </p:cNvPr>
          <p:cNvSpPr/>
          <p:nvPr/>
        </p:nvSpPr>
        <p:spPr>
          <a:xfrm>
            <a:off x="14174956" y="7214331"/>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9CF09538-4C8A-B11D-0F30-592CADE8F97A}"/>
              </a:ext>
            </a:extLst>
          </p:cNvPr>
          <p:cNvSpPr/>
          <p:nvPr/>
        </p:nvSpPr>
        <p:spPr>
          <a:xfrm>
            <a:off x="13539894" y="-2074549"/>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D960F5DA-66C2-D4E8-B753-15A0CD499BAE}"/>
              </a:ext>
            </a:extLst>
          </p:cNvPr>
          <p:cNvSpPr/>
          <p:nvPr/>
        </p:nvSpPr>
        <p:spPr>
          <a:xfrm>
            <a:off x="381410" y="7214331"/>
            <a:ext cx="3187082" cy="3187082"/>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A15FC1A2-F719-9879-996D-34DE8325B483}"/>
              </a:ext>
            </a:extLst>
          </p:cNvPr>
          <p:cNvSpPr/>
          <p:nvPr/>
        </p:nvSpPr>
        <p:spPr>
          <a:xfrm>
            <a:off x="4254813" y="8490341"/>
            <a:ext cx="1387734" cy="1387734"/>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B86E17C3-973F-9D04-602E-B174F513C77B}"/>
              </a:ext>
            </a:extLst>
          </p:cNvPr>
          <p:cNvSpPr/>
          <p:nvPr/>
        </p:nvSpPr>
        <p:spPr>
          <a:xfrm>
            <a:off x="1298366" y="-2074549"/>
            <a:ext cx="1775824" cy="1775824"/>
          </a:xfrm>
          <a:prstGeom prst="ellipse">
            <a:avLst/>
          </a:prstGeom>
          <a:solidFill>
            <a:srgbClr val="112250"/>
          </a:solidFill>
          <a:ln>
            <a:solidFill>
              <a:srgbClr val="FFFFFF"/>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B69F702-9511-C761-BF61-587FC38D0D1A}"/>
              </a:ext>
            </a:extLst>
          </p:cNvPr>
          <p:cNvSpPr/>
          <p:nvPr/>
        </p:nvSpPr>
        <p:spPr>
          <a:xfrm>
            <a:off x="7015190" y="7214331"/>
            <a:ext cx="2552020" cy="2552020"/>
          </a:xfrm>
          <a:prstGeom prst="ellipse">
            <a:avLst/>
          </a:prstGeom>
          <a:solidFill>
            <a:srgbClr val="3B507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3F6386F-E011-8BF0-27DC-9D60B6EBDA2A}"/>
              </a:ext>
            </a:extLst>
          </p:cNvPr>
          <p:cNvSpPr/>
          <p:nvPr/>
        </p:nvSpPr>
        <p:spPr>
          <a:xfrm>
            <a:off x="-2593047" y="2713867"/>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A052AE33-6BB4-0915-0C79-E47AD670E31D}"/>
              </a:ext>
            </a:extLst>
          </p:cNvPr>
          <p:cNvSpPr/>
          <p:nvPr/>
        </p:nvSpPr>
        <p:spPr>
          <a:xfrm>
            <a:off x="6794785" y="-1245261"/>
            <a:ext cx="1152530" cy="1152530"/>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27" name="Oval 26">
            <a:extLst>
              <a:ext uri="{FF2B5EF4-FFF2-40B4-BE49-F238E27FC236}">
                <a16:creationId xmlns:a16="http://schemas.microsoft.com/office/drawing/2014/main" id="{2DACDB3F-9016-6C2D-0E76-CA66489E8AF1}"/>
              </a:ext>
            </a:extLst>
          </p:cNvPr>
          <p:cNvSpPr/>
          <p:nvPr/>
        </p:nvSpPr>
        <p:spPr>
          <a:xfrm>
            <a:off x="12581415" y="2434824"/>
            <a:ext cx="2552020" cy="2552020"/>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29BB053-086D-5608-F8BE-98E965E7DADE}"/>
              </a:ext>
            </a:extLst>
          </p:cNvPr>
          <p:cNvSpPr/>
          <p:nvPr/>
        </p:nvSpPr>
        <p:spPr>
          <a:xfrm>
            <a:off x="-2894315" y="6438143"/>
            <a:ext cx="1552376" cy="1552376"/>
          </a:xfrm>
          <a:prstGeom prst="ellipse">
            <a:avLst/>
          </a:prstGeom>
          <a:solidFill>
            <a:srgbClr val="DEC78A"/>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2057500-529A-5196-3091-F28B0A9BC1F4}"/>
              </a:ext>
            </a:extLst>
          </p:cNvPr>
          <p:cNvSpPr/>
          <p:nvPr/>
        </p:nvSpPr>
        <p:spPr>
          <a:xfrm>
            <a:off x="-4043473" y="801216"/>
            <a:ext cx="2226614" cy="222661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30" name="Oval 29">
            <a:extLst>
              <a:ext uri="{FF2B5EF4-FFF2-40B4-BE49-F238E27FC236}">
                <a16:creationId xmlns:a16="http://schemas.microsoft.com/office/drawing/2014/main" id="{70563E66-5B06-6F4F-9B90-FAC5F9A3D25D}"/>
              </a:ext>
            </a:extLst>
          </p:cNvPr>
          <p:cNvSpPr/>
          <p:nvPr/>
        </p:nvSpPr>
        <p:spPr>
          <a:xfrm>
            <a:off x="6530118" y="7790596"/>
            <a:ext cx="1681864" cy="1681864"/>
          </a:xfrm>
          <a:prstGeom prst="ellipse">
            <a:avLst/>
          </a:prstGeom>
          <a:solidFill>
            <a:srgbClr val="DBCAC2"/>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Avenir Next LT Pro" panose="020B0504020202020204" pitchFamily="34" charset="0"/>
            </a:endParaRPr>
          </a:p>
        </p:txBody>
      </p:sp>
      <p:sp>
        <p:nvSpPr>
          <p:cNvPr id="13" name="!!Products" hidden="1">
            <a:extLst>
              <a:ext uri="{FF2B5EF4-FFF2-40B4-BE49-F238E27FC236}">
                <a16:creationId xmlns:a16="http://schemas.microsoft.com/office/drawing/2014/main" id="{CBC8D68E-5E4C-2D64-C9F8-68A1A638EB47}"/>
              </a:ext>
            </a:extLst>
          </p:cNvPr>
          <p:cNvSpPr/>
          <p:nvPr/>
        </p:nvSpPr>
        <p:spPr>
          <a:xfrm>
            <a:off x="7300468" y="3289260"/>
            <a:ext cx="2403546" cy="2403546"/>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9" name="!!Operator" hidden="1">
            <a:extLst>
              <a:ext uri="{FF2B5EF4-FFF2-40B4-BE49-F238E27FC236}">
                <a16:creationId xmlns:a16="http://schemas.microsoft.com/office/drawing/2014/main" id="{DDEF712A-21B2-502A-288A-6A5545A731A8}"/>
              </a:ext>
            </a:extLst>
          </p:cNvPr>
          <p:cNvSpPr/>
          <p:nvPr/>
        </p:nvSpPr>
        <p:spPr>
          <a:xfrm>
            <a:off x="1596179" y="4036362"/>
            <a:ext cx="2328572" cy="232857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OPERATOR</a:t>
            </a:r>
          </a:p>
        </p:txBody>
      </p:sp>
      <p:sp>
        <p:nvSpPr>
          <p:cNvPr id="14" name="!!DT" hidden="1">
            <a:extLst>
              <a:ext uri="{FF2B5EF4-FFF2-40B4-BE49-F238E27FC236}">
                <a16:creationId xmlns:a16="http://schemas.microsoft.com/office/drawing/2014/main" id="{599AD27F-0298-65A3-DF67-CC8FC3196489}"/>
              </a:ext>
            </a:extLst>
          </p:cNvPr>
          <p:cNvSpPr/>
          <p:nvPr/>
        </p:nvSpPr>
        <p:spPr>
          <a:xfrm>
            <a:off x="4445538" y="2800870"/>
            <a:ext cx="2552020" cy="255202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DOWNTIME FACTORS</a:t>
            </a:r>
          </a:p>
        </p:txBody>
      </p:sp>
      <p:sp>
        <p:nvSpPr>
          <p:cNvPr id="16" name="!!PLP" hidden="1">
            <a:extLst>
              <a:ext uri="{FF2B5EF4-FFF2-40B4-BE49-F238E27FC236}">
                <a16:creationId xmlns:a16="http://schemas.microsoft.com/office/drawing/2014/main" id="{B46C65B6-9BB5-3E8B-2F58-6E12179A7D3E}"/>
              </a:ext>
            </a:extLst>
          </p:cNvPr>
          <p:cNvSpPr/>
          <p:nvPr/>
        </p:nvSpPr>
        <p:spPr>
          <a:xfrm>
            <a:off x="6702602" y="231793"/>
            <a:ext cx="3211150" cy="314019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PRODUCTION LINE PERFORMANCE</a:t>
            </a:r>
          </a:p>
        </p:txBody>
      </p:sp>
      <p:sp>
        <p:nvSpPr>
          <p:cNvPr id="15" name="!!Overview" hidden="1">
            <a:extLst>
              <a:ext uri="{FF2B5EF4-FFF2-40B4-BE49-F238E27FC236}">
                <a16:creationId xmlns:a16="http://schemas.microsoft.com/office/drawing/2014/main" id="{CF2400F0-D60C-3F29-FFFB-7CC5FC62B578}"/>
              </a:ext>
            </a:extLst>
          </p:cNvPr>
          <p:cNvSpPr/>
          <p:nvPr/>
        </p:nvSpPr>
        <p:spPr>
          <a:xfrm>
            <a:off x="2164446" y="714856"/>
            <a:ext cx="2262412" cy="2262412"/>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OVERVIEW</a:t>
            </a:r>
          </a:p>
        </p:txBody>
      </p:sp>
      <p:grpSp>
        <p:nvGrpSpPr>
          <p:cNvPr id="35" name="Group 34">
            <a:extLst>
              <a:ext uri="{FF2B5EF4-FFF2-40B4-BE49-F238E27FC236}">
                <a16:creationId xmlns:a16="http://schemas.microsoft.com/office/drawing/2014/main" id="{8EE11AB7-32CA-DE3E-4191-05607A2AB98F}"/>
              </a:ext>
            </a:extLst>
          </p:cNvPr>
          <p:cNvGrpSpPr/>
          <p:nvPr/>
        </p:nvGrpSpPr>
        <p:grpSpPr>
          <a:xfrm>
            <a:off x="4256257" y="-3692981"/>
            <a:ext cx="2726414" cy="2726414"/>
            <a:chOff x="4515379" y="68110"/>
            <a:chExt cx="2208170" cy="2208170"/>
          </a:xfrm>
        </p:grpSpPr>
        <p:sp>
          <p:nvSpPr>
            <p:cNvPr id="33" name="Rectangle: Rounded Corners 32">
              <a:extLst>
                <a:ext uri="{FF2B5EF4-FFF2-40B4-BE49-F238E27FC236}">
                  <a16:creationId xmlns:a16="http://schemas.microsoft.com/office/drawing/2014/main" id="{1206BAC5-2487-BAC3-5433-615AB6DA1AB1}"/>
                </a:ext>
              </a:extLst>
            </p:cNvPr>
            <p:cNvSpPr/>
            <p:nvPr/>
          </p:nvSpPr>
          <p:spPr>
            <a:xfrm>
              <a:off x="4515379" y="68110"/>
              <a:ext cx="2208170" cy="2208170"/>
            </a:xfrm>
            <a:prstGeom prst="ellipse">
              <a:avLst/>
            </a:prstGeom>
            <a:solidFill>
              <a:srgbClr val="DEC78A"/>
            </a:solidFill>
            <a:ln>
              <a:solidFill>
                <a:srgbClr val="11225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latin typeface="Avenir Next LT Pro" panose="020B0504020202020204" pitchFamily="34" charset="0"/>
              </a:endParaRPr>
            </a:p>
          </p:txBody>
        </p:sp>
        <p:sp>
          <p:nvSpPr>
            <p:cNvPr id="32" name="Rectangle: Rounded Corners 31">
              <a:extLst>
                <a:ext uri="{FF2B5EF4-FFF2-40B4-BE49-F238E27FC236}">
                  <a16:creationId xmlns:a16="http://schemas.microsoft.com/office/drawing/2014/main" id="{EF954A04-76A4-996F-AEA8-30DC14B9F7BF}"/>
                </a:ext>
              </a:extLst>
            </p:cNvPr>
            <p:cNvSpPr/>
            <p:nvPr/>
          </p:nvSpPr>
          <p:spPr>
            <a:xfrm>
              <a:off x="4586001" y="143115"/>
              <a:ext cx="2066925" cy="2066925"/>
            </a:xfrm>
            <a:prstGeom prst="ellipse">
              <a:avLst/>
            </a:prstGeom>
            <a:solidFill>
              <a:srgbClr val="112250"/>
            </a:solidFill>
            <a:ln>
              <a:solidFill>
                <a:srgbClr val="DBCAC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venir Next LT Pro" panose="020B0504020202020204" pitchFamily="34" charset="0"/>
                </a:rPr>
                <a:t>SMART QUESTIONS</a:t>
              </a:r>
            </a:p>
          </p:txBody>
        </p:sp>
      </p:grpSp>
      <p:sp>
        <p:nvSpPr>
          <p:cNvPr id="2" name="!!Products">
            <a:extLst>
              <a:ext uri="{FF2B5EF4-FFF2-40B4-BE49-F238E27FC236}">
                <a16:creationId xmlns:a16="http://schemas.microsoft.com/office/drawing/2014/main" id="{D1D386AA-CBED-E6E9-5E07-58BEA4CCC6EB}"/>
              </a:ext>
            </a:extLst>
          </p:cNvPr>
          <p:cNvSpPr/>
          <p:nvPr/>
        </p:nvSpPr>
        <p:spPr>
          <a:xfrm>
            <a:off x="455476" y="534579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PRODUCTS</a:t>
            </a:r>
          </a:p>
        </p:txBody>
      </p:sp>
      <p:sp>
        <p:nvSpPr>
          <p:cNvPr id="3" name="!!Operator">
            <a:extLst>
              <a:ext uri="{FF2B5EF4-FFF2-40B4-BE49-F238E27FC236}">
                <a16:creationId xmlns:a16="http://schemas.microsoft.com/office/drawing/2014/main" id="{4068B066-A16E-5DA4-0A65-381694466079}"/>
              </a:ext>
            </a:extLst>
          </p:cNvPr>
          <p:cNvSpPr/>
          <p:nvPr/>
        </p:nvSpPr>
        <p:spPr>
          <a:xfrm>
            <a:off x="455476" y="423708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4" name="!!DT">
            <a:extLst>
              <a:ext uri="{FF2B5EF4-FFF2-40B4-BE49-F238E27FC236}">
                <a16:creationId xmlns:a16="http://schemas.microsoft.com/office/drawing/2014/main" id="{82B67131-41E3-1442-A41B-FC37F84E23E3}"/>
              </a:ext>
            </a:extLst>
          </p:cNvPr>
          <p:cNvSpPr/>
          <p:nvPr/>
        </p:nvSpPr>
        <p:spPr>
          <a:xfrm>
            <a:off x="455476" y="312837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5" name="!!PLP">
            <a:extLst>
              <a:ext uri="{FF2B5EF4-FFF2-40B4-BE49-F238E27FC236}">
                <a16:creationId xmlns:a16="http://schemas.microsoft.com/office/drawing/2014/main" id="{1BC3A76D-7732-C62E-04F3-9C452C15C4E2}"/>
              </a:ext>
            </a:extLst>
          </p:cNvPr>
          <p:cNvSpPr/>
          <p:nvPr/>
        </p:nvSpPr>
        <p:spPr>
          <a:xfrm>
            <a:off x="455476" y="201966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6" name="!!Overview">
            <a:extLst>
              <a:ext uri="{FF2B5EF4-FFF2-40B4-BE49-F238E27FC236}">
                <a16:creationId xmlns:a16="http://schemas.microsoft.com/office/drawing/2014/main" id="{9079740C-7EF5-D37A-C67E-0629FB174185}"/>
              </a:ext>
            </a:extLst>
          </p:cNvPr>
          <p:cNvSpPr/>
          <p:nvPr/>
        </p:nvSpPr>
        <p:spPr>
          <a:xfrm>
            <a:off x="0" y="0"/>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Avenir Next LT Pro" panose="020B0504020202020204" pitchFamily="34" charset="0"/>
              </a:rPr>
              <a:t>OVERVIEW</a:t>
            </a:r>
          </a:p>
        </p:txBody>
      </p:sp>
      <p:sp>
        <p:nvSpPr>
          <p:cNvPr id="66" name="Freeform: Shape 65">
            <a:extLst>
              <a:ext uri="{FF2B5EF4-FFF2-40B4-BE49-F238E27FC236}">
                <a16:creationId xmlns:a16="http://schemas.microsoft.com/office/drawing/2014/main" id="{3C338062-6657-7F22-8394-5EDFDCBB07E4}"/>
              </a:ext>
            </a:extLst>
          </p:cNvPr>
          <p:cNvSpPr/>
          <p:nvPr/>
        </p:nvSpPr>
        <p:spPr>
          <a:xfrm flipH="1">
            <a:off x="3061108" y="9427009"/>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12" name="Freeform: Shape 11">
            <a:extLst>
              <a:ext uri="{FF2B5EF4-FFF2-40B4-BE49-F238E27FC236}">
                <a16:creationId xmlns:a16="http://schemas.microsoft.com/office/drawing/2014/main" id="{6A3017E1-F0FE-F608-2910-99F8AEC84A91}"/>
              </a:ext>
            </a:extLst>
          </p:cNvPr>
          <p:cNvSpPr/>
          <p:nvPr/>
        </p:nvSpPr>
        <p:spPr>
          <a:xfrm>
            <a:off x="11002228" y="758460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20" name="Freeform: Shape 19">
            <a:extLst>
              <a:ext uri="{FF2B5EF4-FFF2-40B4-BE49-F238E27FC236}">
                <a16:creationId xmlns:a16="http://schemas.microsoft.com/office/drawing/2014/main" id="{9941486D-D280-5FDD-DEE4-18812662D4BF}"/>
              </a:ext>
            </a:extLst>
          </p:cNvPr>
          <p:cNvSpPr/>
          <p:nvPr/>
        </p:nvSpPr>
        <p:spPr>
          <a:xfrm>
            <a:off x="3061108" y="758460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downtime?</a:t>
            </a:r>
          </a:p>
        </p:txBody>
      </p:sp>
      <p:sp>
        <p:nvSpPr>
          <p:cNvPr id="23" name="Freeform: Shape 22">
            <a:extLst>
              <a:ext uri="{FF2B5EF4-FFF2-40B4-BE49-F238E27FC236}">
                <a16:creationId xmlns:a16="http://schemas.microsoft.com/office/drawing/2014/main" id="{B0EA69B5-0620-685D-C799-D7BAAD2B8A46}"/>
              </a:ext>
            </a:extLst>
          </p:cNvPr>
          <p:cNvSpPr/>
          <p:nvPr/>
        </p:nvSpPr>
        <p:spPr>
          <a:xfrm flipH="1">
            <a:off x="3061108" y="974577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28" name="Freeform: Shape 27">
            <a:extLst>
              <a:ext uri="{FF2B5EF4-FFF2-40B4-BE49-F238E27FC236}">
                <a16:creationId xmlns:a16="http://schemas.microsoft.com/office/drawing/2014/main" id="{21E48F41-5326-D30D-F041-03356733255F}"/>
              </a:ext>
            </a:extLst>
          </p:cNvPr>
          <p:cNvSpPr/>
          <p:nvPr/>
        </p:nvSpPr>
        <p:spPr>
          <a:xfrm flipH="1">
            <a:off x="3623356" y="9745774"/>
            <a:ext cx="79157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number of batches?</a:t>
            </a:r>
          </a:p>
        </p:txBody>
      </p:sp>
      <p:sp>
        <p:nvSpPr>
          <p:cNvPr id="34" name="Freeform: Shape 33">
            <a:extLst>
              <a:ext uri="{FF2B5EF4-FFF2-40B4-BE49-F238E27FC236}">
                <a16:creationId xmlns:a16="http://schemas.microsoft.com/office/drawing/2014/main" id="{D5541EBA-E12F-980C-4721-64E919C3605B}"/>
              </a:ext>
            </a:extLst>
          </p:cNvPr>
          <p:cNvSpPr/>
          <p:nvPr/>
        </p:nvSpPr>
        <p:spPr>
          <a:xfrm>
            <a:off x="11002228" y="1172985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36" name="Freeform: Shape 35">
            <a:extLst>
              <a:ext uri="{FF2B5EF4-FFF2-40B4-BE49-F238E27FC236}">
                <a16:creationId xmlns:a16="http://schemas.microsoft.com/office/drawing/2014/main" id="{86C2EBE7-2902-7AA5-0C6E-F31994C31D91}"/>
              </a:ext>
            </a:extLst>
          </p:cNvPr>
          <p:cNvSpPr/>
          <p:nvPr/>
        </p:nvSpPr>
        <p:spPr>
          <a:xfrm>
            <a:off x="3074190" y="1172985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 of total downtime is from operators vs. non-operators?</a:t>
            </a:r>
          </a:p>
        </p:txBody>
      </p:sp>
      <p:sp>
        <p:nvSpPr>
          <p:cNvPr id="37" name="TextBox 36">
            <a:extLst>
              <a:ext uri="{FF2B5EF4-FFF2-40B4-BE49-F238E27FC236}">
                <a16:creationId xmlns:a16="http://schemas.microsoft.com/office/drawing/2014/main" id="{16C34E3F-02F4-BDD5-1867-1BDEED8E36A7}"/>
              </a:ext>
            </a:extLst>
          </p:cNvPr>
          <p:cNvSpPr txBox="1"/>
          <p:nvPr/>
        </p:nvSpPr>
        <p:spPr>
          <a:xfrm>
            <a:off x="3623357" y="8884777"/>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total downtime minutes across the entire dataset</a:t>
            </a:r>
          </a:p>
        </p:txBody>
      </p:sp>
      <p:sp>
        <p:nvSpPr>
          <p:cNvPr id="38" name="TextBox 37">
            <a:extLst>
              <a:ext uri="{FF2B5EF4-FFF2-40B4-BE49-F238E27FC236}">
                <a16:creationId xmlns:a16="http://schemas.microsoft.com/office/drawing/2014/main" id="{13C8C63D-E0B0-343A-D29F-ACA0ED175EEE}"/>
              </a:ext>
            </a:extLst>
          </p:cNvPr>
          <p:cNvSpPr txBox="1"/>
          <p:nvPr/>
        </p:nvSpPr>
        <p:spPr>
          <a:xfrm>
            <a:off x="3623357" y="11007816"/>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Count all batches produced during the analysis period</a:t>
            </a:r>
          </a:p>
        </p:txBody>
      </p:sp>
      <p:sp>
        <p:nvSpPr>
          <p:cNvPr id="39" name="TextBox 38">
            <a:extLst>
              <a:ext uri="{FF2B5EF4-FFF2-40B4-BE49-F238E27FC236}">
                <a16:creationId xmlns:a16="http://schemas.microsoft.com/office/drawing/2014/main" id="{66BD3272-F26C-5B3F-76B3-0246E9F2E67D}"/>
              </a:ext>
            </a:extLst>
          </p:cNvPr>
          <p:cNvSpPr txBox="1"/>
          <p:nvPr/>
        </p:nvSpPr>
        <p:spPr>
          <a:xfrm>
            <a:off x="3623357" y="12963488"/>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Compare the percentage of downtime caused by operators versus system/machine issues.</a:t>
            </a:r>
          </a:p>
        </p:txBody>
      </p:sp>
    </p:spTree>
    <p:extLst>
      <p:ext uri="{BB962C8B-B14F-4D97-AF65-F5344CB8AC3E}">
        <p14:creationId xmlns:p14="http://schemas.microsoft.com/office/powerpoint/2010/main" val="23144120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032A-C701-EC5B-1CD6-4AB3960F0CF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687E87F-8527-4F13-252B-0DD210C999F6}"/>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2" name="!!Products">
            <a:extLst>
              <a:ext uri="{FF2B5EF4-FFF2-40B4-BE49-F238E27FC236}">
                <a16:creationId xmlns:a16="http://schemas.microsoft.com/office/drawing/2014/main" id="{201227EE-9F44-400E-CE02-412C20F1B080}"/>
              </a:ext>
            </a:extLst>
          </p:cNvPr>
          <p:cNvSpPr/>
          <p:nvPr/>
        </p:nvSpPr>
        <p:spPr>
          <a:xfrm>
            <a:off x="455476" y="534579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PRODUCTS</a:t>
            </a:r>
          </a:p>
        </p:txBody>
      </p:sp>
      <p:sp>
        <p:nvSpPr>
          <p:cNvPr id="3" name="!!Operator">
            <a:extLst>
              <a:ext uri="{FF2B5EF4-FFF2-40B4-BE49-F238E27FC236}">
                <a16:creationId xmlns:a16="http://schemas.microsoft.com/office/drawing/2014/main" id="{15B1D3A2-CE6B-3027-05A5-881B2DF4E919}"/>
              </a:ext>
            </a:extLst>
          </p:cNvPr>
          <p:cNvSpPr/>
          <p:nvPr/>
        </p:nvSpPr>
        <p:spPr>
          <a:xfrm>
            <a:off x="455476" y="423708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4" name="!!DT">
            <a:extLst>
              <a:ext uri="{FF2B5EF4-FFF2-40B4-BE49-F238E27FC236}">
                <a16:creationId xmlns:a16="http://schemas.microsoft.com/office/drawing/2014/main" id="{B7C7DFC3-24B7-7145-4A5F-EDC688B3969E}"/>
              </a:ext>
            </a:extLst>
          </p:cNvPr>
          <p:cNvSpPr/>
          <p:nvPr/>
        </p:nvSpPr>
        <p:spPr>
          <a:xfrm>
            <a:off x="455476" y="312837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5" name="!!PLP">
            <a:extLst>
              <a:ext uri="{FF2B5EF4-FFF2-40B4-BE49-F238E27FC236}">
                <a16:creationId xmlns:a16="http://schemas.microsoft.com/office/drawing/2014/main" id="{81451326-E48F-35D4-8EF0-72BF6F7232FC}"/>
              </a:ext>
            </a:extLst>
          </p:cNvPr>
          <p:cNvSpPr/>
          <p:nvPr/>
        </p:nvSpPr>
        <p:spPr>
          <a:xfrm>
            <a:off x="455476" y="201966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6" name="!!Overview">
            <a:extLst>
              <a:ext uri="{FF2B5EF4-FFF2-40B4-BE49-F238E27FC236}">
                <a16:creationId xmlns:a16="http://schemas.microsoft.com/office/drawing/2014/main" id="{F8420C35-5F15-2FFA-CF4A-4699A9260E0A}"/>
              </a:ext>
            </a:extLst>
          </p:cNvPr>
          <p:cNvSpPr/>
          <p:nvPr/>
        </p:nvSpPr>
        <p:spPr>
          <a:xfrm>
            <a:off x="0" y="0"/>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Avenir Next LT Pro" panose="020B0504020202020204" pitchFamily="34" charset="0"/>
              </a:rPr>
              <a:t>OVERVIEW</a:t>
            </a:r>
          </a:p>
        </p:txBody>
      </p:sp>
      <p:sp>
        <p:nvSpPr>
          <p:cNvPr id="46" name="Freeform: Shape 45">
            <a:extLst>
              <a:ext uri="{FF2B5EF4-FFF2-40B4-BE49-F238E27FC236}">
                <a16:creationId xmlns:a16="http://schemas.microsoft.com/office/drawing/2014/main" id="{0B4A97DF-5B07-A45E-1379-6D909C2C7E94}"/>
              </a:ext>
            </a:extLst>
          </p:cNvPr>
          <p:cNvSpPr/>
          <p:nvPr/>
        </p:nvSpPr>
        <p:spPr>
          <a:xfrm>
            <a:off x="11002228" y="332381"/>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44" name="Freeform: Shape 43">
            <a:extLst>
              <a:ext uri="{FF2B5EF4-FFF2-40B4-BE49-F238E27FC236}">
                <a16:creationId xmlns:a16="http://schemas.microsoft.com/office/drawing/2014/main" id="{E1096A33-0964-1569-FB68-B2BC537C49E9}"/>
              </a:ext>
            </a:extLst>
          </p:cNvPr>
          <p:cNvSpPr/>
          <p:nvPr/>
        </p:nvSpPr>
        <p:spPr>
          <a:xfrm>
            <a:off x="3061108" y="332381"/>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downtime?</a:t>
            </a:r>
          </a:p>
        </p:txBody>
      </p:sp>
      <p:sp>
        <p:nvSpPr>
          <p:cNvPr id="56" name="Freeform: Shape 55">
            <a:extLst>
              <a:ext uri="{FF2B5EF4-FFF2-40B4-BE49-F238E27FC236}">
                <a16:creationId xmlns:a16="http://schemas.microsoft.com/office/drawing/2014/main" id="{12DF929B-7210-2356-BF0D-1A385132B130}"/>
              </a:ext>
            </a:extLst>
          </p:cNvPr>
          <p:cNvSpPr/>
          <p:nvPr/>
        </p:nvSpPr>
        <p:spPr>
          <a:xfrm flipH="1">
            <a:off x="3061108" y="249355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57" name="Freeform: Shape 56">
            <a:extLst>
              <a:ext uri="{FF2B5EF4-FFF2-40B4-BE49-F238E27FC236}">
                <a16:creationId xmlns:a16="http://schemas.microsoft.com/office/drawing/2014/main" id="{4DC2616A-D032-589A-2919-D3B70ABE2BED}"/>
              </a:ext>
            </a:extLst>
          </p:cNvPr>
          <p:cNvSpPr/>
          <p:nvPr/>
        </p:nvSpPr>
        <p:spPr>
          <a:xfrm flipH="1">
            <a:off x="3623356" y="2493553"/>
            <a:ext cx="79157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number of batches?</a:t>
            </a:r>
          </a:p>
        </p:txBody>
      </p:sp>
      <p:sp>
        <p:nvSpPr>
          <p:cNvPr id="58" name="Freeform: Shape 57">
            <a:extLst>
              <a:ext uri="{FF2B5EF4-FFF2-40B4-BE49-F238E27FC236}">
                <a16:creationId xmlns:a16="http://schemas.microsoft.com/office/drawing/2014/main" id="{D219AF77-4F2A-97EF-8118-58700DAF663D}"/>
              </a:ext>
            </a:extLst>
          </p:cNvPr>
          <p:cNvSpPr/>
          <p:nvPr/>
        </p:nvSpPr>
        <p:spPr>
          <a:xfrm>
            <a:off x="11002228" y="4477629"/>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59" name="Freeform: Shape 58">
            <a:extLst>
              <a:ext uri="{FF2B5EF4-FFF2-40B4-BE49-F238E27FC236}">
                <a16:creationId xmlns:a16="http://schemas.microsoft.com/office/drawing/2014/main" id="{D7CB48A4-BBFA-81DF-9D7A-2B70271060C3}"/>
              </a:ext>
            </a:extLst>
          </p:cNvPr>
          <p:cNvSpPr/>
          <p:nvPr/>
        </p:nvSpPr>
        <p:spPr>
          <a:xfrm>
            <a:off x="3074190" y="4477629"/>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 of total downtime is from operators vs. non-operators?</a:t>
            </a:r>
          </a:p>
        </p:txBody>
      </p:sp>
      <p:sp>
        <p:nvSpPr>
          <p:cNvPr id="61" name="TextBox 60">
            <a:extLst>
              <a:ext uri="{FF2B5EF4-FFF2-40B4-BE49-F238E27FC236}">
                <a16:creationId xmlns:a16="http://schemas.microsoft.com/office/drawing/2014/main" id="{26EA26BA-DA53-9754-3743-7BD4C52E2C9F}"/>
              </a:ext>
            </a:extLst>
          </p:cNvPr>
          <p:cNvSpPr txBox="1"/>
          <p:nvPr/>
        </p:nvSpPr>
        <p:spPr>
          <a:xfrm>
            <a:off x="3623357" y="1632556"/>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total downtime minutes across the entire dataset</a:t>
            </a:r>
          </a:p>
        </p:txBody>
      </p:sp>
      <p:sp>
        <p:nvSpPr>
          <p:cNvPr id="62" name="TextBox 61">
            <a:extLst>
              <a:ext uri="{FF2B5EF4-FFF2-40B4-BE49-F238E27FC236}">
                <a16:creationId xmlns:a16="http://schemas.microsoft.com/office/drawing/2014/main" id="{78DE0E1D-6351-5887-842A-E69F8FDE809C}"/>
              </a:ext>
            </a:extLst>
          </p:cNvPr>
          <p:cNvSpPr txBox="1"/>
          <p:nvPr/>
        </p:nvSpPr>
        <p:spPr>
          <a:xfrm>
            <a:off x="3623357" y="3755595"/>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Count all batches produced during the analysis period</a:t>
            </a:r>
          </a:p>
        </p:txBody>
      </p:sp>
      <p:sp>
        <p:nvSpPr>
          <p:cNvPr id="63" name="TextBox 62">
            <a:extLst>
              <a:ext uri="{FF2B5EF4-FFF2-40B4-BE49-F238E27FC236}">
                <a16:creationId xmlns:a16="http://schemas.microsoft.com/office/drawing/2014/main" id="{CD919110-79F1-63C8-B3AD-413370C7082B}"/>
              </a:ext>
            </a:extLst>
          </p:cNvPr>
          <p:cNvSpPr txBox="1"/>
          <p:nvPr/>
        </p:nvSpPr>
        <p:spPr>
          <a:xfrm>
            <a:off x="3623357" y="571126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Compare the percentage of downtime caused by operators versus system/machine issues.</a:t>
            </a:r>
          </a:p>
        </p:txBody>
      </p:sp>
      <p:sp>
        <p:nvSpPr>
          <p:cNvPr id="85" name="Freeform: Shape 84">
            <a:extLst>
              <a:ext uri="{FF2B5EF4-FFF2-40B4-BE49-F238E27FC236}">
                <a16:creationId xmlns:a16="http://schemas.microsoft.com/office/drawing/2014/main" id="{9E335FD2-DC09-E0A1-34D5-BA141AC5BD88}"/>
              </a:ext>
            </a:extLst>
          </p:cNvPr>
          <p:cNvSpPr/>
          <p:nvPr/>
        </p:nvSpPr>
        <p:spPr>
          <a:xfrm>
            <a:off x="10976827" y="21285025"/>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86" name="Freeform: Shape 85">
            <a:extLst>
              <a:ext uri="{FF2B5EF4-FFF2-40B4-BE49-F238E27FC236}">
                <a16:creationId xmlns:a16="http://schemas.microsoft.com/office/drawing/2014/main" id="{0A85CC13-A7A7-BDFA-5A06-32F7E41C9609}"/>
              </a:ext>
            </a:extLst>
          </p:cNvPr>
          <p:cNvSpPr/>
          <p:nvPr/>
        </p:nvSpPr>
        <p:spPr>
          <a:xfrm>
            <a:off x="3035707" y="21285025"/>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does total downtime affect daily production output?</a:t>
            </a:r>
          </a:p>
        </p:txBody>
      </p:sp>
      <p:sp>
        <p:nvSpPr>
          <p:cNvPr id="87" name="Freeform: Shape 86">
            <a:extLst>
              <a:ext uri="{FF2B5EF4-FFF2-40B4-BE49-F238E27FC236}">
                <a16:creationId xmlns:a16="http://schemas.microsoft.com/office/drawing/2014/main" id="{394E9BDF-C970-CA54-8F3C-4E933589B54D}"/>
              </a:ext>
            </a:extLst>
          </p:cNvPr>
          <p:cNvSpPr/>
          <p:nvPr/>
        </p:nvSpPr>
        <p:spPr>
          <a:xfrm flipH="1">
            <a:off x="3035707" y="23446197"/>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88" name="Freeform: Shape 87">
            <a:extLst>
              <a:ext uri="{FF2B5EF4-FFF2-40B4-BE49-F238E27FC236}">
                <a16:creationId xmlns:a16="http://schemas.microsoft.com/office/drawing/2014/main" id="{A8A6D853-2383-2AFE-AA2B-0CF8BDB61CAA}"/>
              </a:ext>
            </a:extLst>
          </p:cNvPr>
          <p:cNvSpPr/>
          <p:nvPr/>
        </p:nvSpPr>
        <p:spPr>
          <a:xfrm flipH="1">
            <a:off x="3572553" y="23446197"/>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average downtime per batch during the analysis period?</a:t>
            </a:r>
          </a:p>
        </p:txBody>
      </p:sp>
      <p:sp>
        <p:nvSpPr>
          <p:cNvPr id="89" name="Freeform: Shape 88">
            <a:extLst>
              <a:ext uri="{FF2B5EF4-FFF2-40B4-BE49-F238E27FC236}">
                <a16:creationId xmlns:a16="http://schemas.microsoft.com/office/drawing/2014/main" id="{93D9839C-589F-3CBB-7F17-5749C385CA90}"/>
              </a:ext>
            </a:extLst>
          </p:cNvPr>
          <p:cNvSpPr/>
          <p:nvPr/>
        </p:nvSpPr>
        <p:spPr>
          <a:xfrm>
            <a:off x="10976827" y="2543027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90" name="Freeform: Shape 89">
            <a:extLst>
              <a:ext uri="{FF2B5EF4-FFF2-40B4-BE49-F238E27FC236}">
                <a16:creationId xmlns:a16="http://schemas.microsoft.com/office/drawing/2014/main" id="{E23AF6C0-FAEB-5C4A-B5E5-5C7F200B81F9}"/>
              </a:ext>
            </a:extLst>
          </p:cNvPr>
          <p:cNvSpPr/>
          <p:nvPr/>
        </p:nvSpPr>
        <p:spPr>
          <a:xfrm>
            <a:off x="3048789" y="25430273"/>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account for at least 80% of total downtime?</a:t>
            </a:r>
          </a:p>
        </p:txBody>
      </p:sp>
      <p:sp>
        <p:nvSpPr>
          <p:cNvPr id="91" name="TextBox 90">
            <a:extLst>
              <a:ext uri="{FF2B5EF4-FFF2-40B4-BE49-F238E27FC236}">
                <a16:creationId xmlns:a16="http://schemas.microsoft.com/office/drawing/2014/main" id="{C9DE6423-A512-62B1-108B-C1B0424150A9}"/>
              </a:ext>
            </a:extLst>
          </p:cNvPr>
          <p:cNvSpPr txBox="1"/>
          <p:nvPr/>
        </p:nvSpPr>
        <p:spPr>
          <a:xfrm>
            <a:off x="3597956" y="22585200"/>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the relationship between downtime and production volume to quantify loss in productivity.</a:t>
            </a:r>
          </a:p>
        </p:txBody>
      </p:sp>
      <p:sp>
        <p:nvSpPr>
          <p:cNvPr id="92" name="TextBox 91">
            <a:extLst>
              <a:ext uri="{FF2B5EF4-FFF2-40B4-BE49-F238E27FC236}">
                <a16:creationId xmlns:a16="http://schemas.microsoft.com/office/drawing/2014/main" id="{BFA1DCE8-25FD-E2E1-99CE-F7EB66109299}"/>
              </a:ext>
            </a:extLst>
          </p:cNvPr>
          <p:cNvSpPr txBox="1"/>
          <p:nvPr/>
        </p:nvSpPr>
        <p:spPr>
          <a:xfrm>
            <a:off x="3597956" y="24708239"/>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average downtime minutes for each batch.</a:t>
            </a:r>
          </a:p>
        </p:txBody>
      </p:sp>
      <p:sp>
        <p:nvSpPr>
          <p:cNvPr id="93" name="TextBox 92">
            <a:extLst>
              <a:ext uri="{FF2B5EF4-FFF2-40B4-BE49-F238E27FC236}">
                <a16:creationId xmlns:a16="http://schemas.microsoft.com/office/drawing/2014/main" id="{D6CC3195-D9A7-5E7D-D848-1CE9D0FB2D8F}"/>
              </a:ext>
            </a:extLst>
          </p:cNvPr>
          <p:cNvSpPr txBox="1"/>
          <p:nvPr/>
        </p:nvSpPr>
        <p:spPr>
          <a:xfrm>
            <a:off x="3597956" y="26663911"/>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top downtime factors that cause roughly 80% of total downtime.</a:t>
            </a:r>
          </a:p>
        </p:txBody>
      </p:sp>
    </p:spTree>
    <p:extLst>
      <p:ext uri="{BB962C8B-B14F-4D97-AF65-F5344CB8AC3E}">
        <p14:creationId xmlns:p14="http://schemas.microsoft.com/office/powerpoint/2010/main" val="37221007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4C3A71B-A3CF-9254-B0C0-BB52342878D4}"/>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9" name="!!Products">
            <a:extLst>
              <a:ext uri="{FF2B5EF4-FFF2-40B4-BE49-F238E27FC236}">
                <a16:creationId xmlns:a16="http://schemas.microsoft.com/office/drawing/2014/main" id="{ABC440E5-8E17-8F1C-6130-E36785277E40}"/>
              </a:ext>
            </a:extLst>
          </p:cNvPr>
          <p:cNvSpPr/>
          <p:nvPr/>
        </p:nvSpPr>
        <p:spPr>
          <a:xfrm>
            <a:off x="455476" y="534579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PRODUCTS</a:t>
            </a:r>
          </a:p>
        </p:txBody>
      </p:sp>
      <p:sp>
        <p:nvSpPr>
          <p:cNvPr id="10" name="!!Operator">
            <a:extLst>
              <a:ext uri="{FF2B5EF4-FFF2-40B4-BE49-F238E27FC236}">
                <a16:creationId xmlns:a16="http://schemas.microsoft.com/office/drawing/2014/main" id="{38AD2402-E212-3D52-3802-2084B2DD33A8}"/>
              </a:ext>
            </a:extLst>
          </p:cNvPr>
          <p:cNvSpPr/>
          <p:nvPr/>
        </p:nvSpPr>
        <p:spPr>
          <a:xfrm>
            <a:off x="455476" y="4236220"/>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11" name="!!DT">
            <a:extLst>
              <a:ext uri="{FF2B5EF4-FFF2-40B4-BE49-F238E27FC236}">
                <a16:creationId xmlns:a16="http://schemas.microsoft.com/office/drawing/2014/main" id="{08D90A64-5172-10C4-0969-C38974676476}"/>
              </a:ext>
            </a:extLst>
          </p:cNvPr>
          <p:cNvSpPr/>
          <p:nvPr/>
        </p:nvSpPr>
        <p:spPr>
          <a:xfrm>
            <a:off x="455476" y="3126648"/>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12" name="!!PLP">
            <a:extLst>
              <a:ext uri="{FF2B5EF4-FFF2-40B4-BE49-F238E27FC236}">
                <a16:creationId xmlns:a16="http://schemas.microsoft.com/office/drawing/2014/main" id="{C0ADE83A-B78C-0944-FD7C-4ABD3B5A2B6F}"/>
              </a:ext>
            </a:extLst>
          </p:cNvPr>
          <p:cNvSpPr/>
          <p:nvPr/>
        </p:nvSpPr>
        <p:spPr>
          <a:xfrm>
            <a:off x="0" y="1106124"/>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venir Next LT Pro" panose="020B0504020202020204" pitchFamily="34" charset="0"/>
              </a:rPr>
              <a:t>PRODUCTION LINE PERFORMANCE</a:t>
            </a:r>
          </a:p>
        </p:txBody>
      </p:sp>
      <p:sp>
        <p:nvSpPr>
          <p:cNvPr id="13" name="!!Overview">
            <a:extLst>
              <a:ext uri="{FF2B5EF4-FFF2-40B4-BE49-F238E27FC236}">
                <a16:creationId xmlns:a16="http://schemas.microsoft.com/office/drawing/2014/main" id="{04C415E9-66F5-5E80-0B3B-0E1DA29B5239}"/>
              </a:ext>
            </a:extLst>
          </p:cNvPr>
          <p:cNvSpPr/>
          <p:nvPr/>
        </p:nvSpPr>
        <p:spPr>
          <a:xfrm>
            <a:off x="457200" y="0"/>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OVERVIEW</a:t>
            </a:r>
          </a:p>
        </p:txBody>
      </p:sp>
      <p:sp>
        <p:nvSpPr>
          <p:cNvPr id="41" name="Freeform: Shape 40">
            <a:extLst>
              <a:ext uri="{FF2B5EF4-FFF2-40B4-BE49-F238E27FC236}">
                <a16:creationId xmlns:a16="http://schemas.microsoft.com/office/drawing/2014/main" id="{2D80B962-1360-1DEB-B669-84B4394CD478}"/>
              </a:ext>
            </a:extLst>
          </p:cNvPr>
          <p:cNvSpPr/>
          <p:nvPr/>
        </p:nvSpPr>
        <p:spPr>
          <a:xfrm>
            <a:off x="10976827" y="332381"/>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42" name="Freeform: Shape 41">
            <a:extLst>
              <a:ext uri="{FF2B5EF4-FFF2-40B4-BE49-F238E27FC236}">
                <a16:creationId xmlns:a16="http://schemas.microsoft.com/office/drawing/2014/main" id="{2CFF5451-C7FA-74BF-11E2-37D945B550BC}"/>
              </a:ext>
            </a:extLst>
          </p:cNvPr>
          <p:cNvSpPr/>
          <p:nvPr/>
        </p:nvSpPr>
        <p:spPr>
          <a:xfrm>
            <a:off x="3035707" y="332381"/>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does total downtime affect daily production output?</a:t>
            </a:r>
          </a:p>
        </p:txBody>
      </p:sp>
      <p:sp>
        <p:nvSpPr>
          <p:cNvPr id="43" name="Freeform: Shape 42">
            <a:extLst>
              <a:ext uri="{FF2B5EF4-FFF2-40B4-BE49-F238E27FC236}">
                <a16:creationId xmlns:a16="http://schemas.microsoft.com/office/drawing/2014/main" id="{81786F38-0039-7F22-B5F0-8B9ACE466336}"/>
              </a:ext>
            </a:extLst>
          </p:cNvPr>
          <p:cNvSpPr/>
          <p:nvPr/>
        </p:nvSpPr>
        <p:spPr>
          <a:xfrm flipH="1">
            <a:off x="3035707" y="249355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44" name="Freeform: Shape 43">
            <a:extLst>
              <a:ext uri="{FF2B5EF4-FFF2-40B4-BE49-F238E27FC236}">
                <a16:creationId xmlns:a16="http://schemas.microsoft.com/office/drawing/2014/main" id="{D0264772-35F9-72A7-88D5-EB03519DB0B6}"/>
              </a:ext>
            </a:extLst>
          </p:cNvPr>
          <p:cNvSpPr/>
          <p:nvPr/>
        </p:nvSpPr>
        <p:spPr>
          <a:xfrm flipH="1">
            <a:off x="3572552" y="2493553"/>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average downtime per batch during the analysis period?</a:t>
            </a:r>
          </a:p>
        </p:txBody>
      </p:sp>
      <p:sp>
        <p:nvSpPr>
          <p:cNvPr id="45" name="Freeform: Shape 44">
            <a:extLst>
              <a:ext uri="{FF2B5EF4-FFF2-40B4-BE49-F238E27FC236}">
                <a16:creationId xmlns:a16="http://schemas.microsoft.com/office/drawing/2014/main" id="{F2DB8EB7-790E-D47D-D421-453112904723}"/>
              </a:ext>
            </a:extLst>
          </p:cNvPr>
          <p:cNvSpPr/>
          <p:nvPr/>
        </p:nvSpPr>
        <p:spPr>
          <a:xfrm>
            <a:off x="10976827" y="4477629"/>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46" name="Freeform: Shape 45">
            <a:extLst>
              <a:ext uri="{FF2B5EF4-FFF2-40B4-BE49-F238E27FC236}">
                <a16:creationId xmlns:a16="http://schemas.microsoft.com/office/drawing/2014/main" id="{B0D9FF0B-753B-1D79-DA03-7F0CF648336E}"/>
              </a:ext>
            </a:extLst>
          </p:cNvPr>
          <p:cNvSpPr/>
          <p:nvPr/>
        </p:nvSpPr>
        <p:spPr>
          <a:xfrm>
            <a:off x="3048789" y="4477629"/>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account for at least 80% of total downtime?</a:t>
            </a:r>
          </a:p>
        </p:txBody>
      </p:sp>
      <p:sp>
        <p:nvSpPr>
          <p:cNvPr id="47" name="TextBox 46">
            <a:extLst>
              <a:ext uri="{FF2B5EF4-FFF2-40B4-BE49-F238E27FC236}">
                <a16:creationId xmlns:a16="http://schemas.microsoft.com/office/drawing/2014/main" id="{FD114D1D-1F0C-C255-856C-EC9F771E81A4}"/>
              </a:ext>
            </a:extLst>
          </p:cNvPr>
          <p:cNvSpPr txBox="1"/>
          <p:nvPr/>
        </p:nvSpPr>
        <p:spPr>
          <a:xfrm>
            <a:off x="3597956" y="16325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the relationship between downtime and production volume to quantify loss in productivity.</a:t>
            </a:r>
          </a:p>
        </p:txBody>
      </p:sp>
      <p:sp>
        <p:nvSpPr>
          <p:cNvPr id="48" name="TextBox 47">
            <a:extLst>
              <a:ext uri="{FF2B5EF4-FFF2-40B4-BE49-F238E27FC236}">
                <a16:creationId xmlns:a16="http://schemas.microsoft.com/office/drawing/2014/main" id="{74C2D3B4-386C-8E62-092A-2BBD9D2C2F49}"/>
              </a:ext>
            </a:extLst>
          </p:cNvPr>
          <p:cNvSpPr txBox="1"/>
          <p:nvPr/>
        </p:nvSpPr>
        <p:spPr>
          <a:xfrm>
            <a:off x="3597956" y="3755595"/>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average downtime minutes for each batch.</a:t>
            </a:r>
          </a:p>
        </p:txBody>
      </p:sp>
      <p:sp>
        <p:nvSpPr>
          <p:cNvPr id="49" name="TextBox 48">
            <a:extLst>
              <a:ext uri="{FF2B5EF4-FFF2-40B4-BE49-F238E27FC236}">
                <a16:creationId xmlns:a16="http://schemas.microsoft.com/office/drawing/2014/main" id="{207FAE7C-8BFE-E754-B33C-454920D044FF}"/>
              </a:ext>
            </a:extLst>
          </p:cNvPr>
          <p:cNvSpPr txBox="1"/>
          <p:nvPr/>
        </p:nvSpPr>
        <p:spPr>
          <a:xfrm>
            <a:off x="3597956" y="571126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top downtime factors that cause roughly 80% of total downtime.</a:t>
            </a:r>
          </a:p>
        </p:txBody>
      </p:sp>
      <p:sp>
        <p:nvSpPr>
          <p:cNvPr id="2" name="Freeform: Shape 1">
            <a:extLst>
              <a:ext uri="{FF2B5EF4-FFF2-40B4-BE49-F238E27FC236}">
                <a16:creationId xmlns:a16="http://schemas.microsoft.com/office/drawing/2014/main" id="{69281A1E-FDBE-AAED-4E43-226B82283349}"/>
              </a:ext>
            </a:extLst>
          </p:cNvPr>
          <p:cNvSpPr/>
          <p:nvPr/>
        </p:nvSpPr>
        <p:spPr>
          <a:xfrm>
            <a:off x="21085065" y="332381"/>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3" name="Freeform: Shape 2">
            <a:extLst>
              <a:ext uri="{FF2B5EF4-FFF2-40B4-BE49-F238E27FC236}">
                <a16:creationId xmlns:a16="http://schemas.microsoft.com/office/drawing/2014/main" id="{C02531E5-D130-A508-38EC-E6DDA5A70DAE}"/>
              </a:ext>
            </a:extLst>
          </p:cNvPr>
          <p:cNvSpPr/>
          <p:nvPr/>
        </p:nvSpPr>
        <p:spPr>
          <a:xfrm>
            <a:off x="13143945" y="332381"/>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downtime?</a:t>
            </a:r>
          </a:p>
        </p:txBody>
      </p:sp>
      <p:sp>
        <p:nvSpPr>
          <p:cNvPr id="4" name="Freeform: Shape 3">
            <a:extLst>
              <a:ext uri="{FF2B5EF4-FFF2-40B4-BE49-F238E27FC236}">
                <a16:creationId xmlns:a16="http://schemas.microsoft.com/office/drawing/2014/main" id="{CB8054FE-936C-03D5-7576-F79E67885869}"/>
              </a:ext>
            </a:extLst>
          </p:cNvPr>
          <p:cNvSpPr/>
          <p:nvPr/>
        </p:nvSpPr>
        <p:spPr>
          <a:xfrm flipH="1">
            <a:off x="13143945" y="249355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5" name="Freeform: Shape 4">
            <a:extLst>
              <a:ext uri="{FF2B5EF4-FFF2-40B4-BE49-F238E27FC236}">
                <a16:creationId xmlns:a16="http://schemas.microsoft.com/office/drawing/2014/main" id="{FDCBAE01-B4DF-6FBF-7F2A-F8CAE41EEEDA}"/>
              </a:ext>
            </a:extLst>
          </p:cNvPr>
          <p:cNvSpPr/>
          <p:nvPr/>
        </p:nvSpPr>
        <p:spPr>
          <a:xfrm flipH="1">
            <a:off x="13706193" y="2493553"/>
            <a:ext cx="79157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total number of batches?</a:t>
            </a:r>
          </a:p>
        </p:txBody>
      </p:sp>
      <p:sp>
        <p:nvSpPr>
          <p:cNvPr id="6" name="Freeform: Shape 5">
            <a:extLst>
              <a:ext uri="{FF2B5EF4-FFF2-40B4-BE49-F238E27FC236}">
                <a16:creationId xmlns:a16="http://schemas.microsoft.com/office/drawing/2014/main" id="{F0B051C4-8149-0410-0548-AA49AB8AD5BF}"/>
              </a:ext>
            </a:extLst>
          </p:cNvPr>
          <p:cNvSpPr/>
          <p:nvPr/>
        </p:nvSpPr>
        <p:spPr>
          <a:xfrm>
            <a:off x="21085065" y="4477629"/>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41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7" name="Freeform: Shape 6">
            <a:extLst>
              <a:ext uri="{FF2B5EF4-FFF2-40B4-BE49-F238E27FC236}">
                <a16:creationId xmlns:a16="http://schemas.microsoft.com/office/drawing/2014/main" id="{462DC8D6-5D61-2C51-E815-B72CEE58E748}"/>
              </a:ext>
            </a:extLst>
          </p:cNvPr>
          <p:cNvSpPr/>
          <p:nvPr/>
        </p:nvSpPr>
        <p:spPr>
          <a:xfrm>
            <a:off x="13157027" y="4477629"/>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 of total downtime is from operators vs. non-operators?</a:t>
            </a:r>
          </a:p>
        </p:txBody>
      </p:sp>
      <p:sp>
        <p:nvSpPr>
          <p:cNvPr id="8" name="TextBox 7">
            <a:extLst>
              <a:ext uri="{FF2B5EF4-FFF2-40B4-BE49-F238E27FC236}">
                <a16:creationId xmlns:a16="http://schemas.microsoft.com/office/drawing/2014/main" id="{E2EA5CE2-E159-7C68-11B5-9050C2A234EA}"/>
              </a:ext>
            </a:extLst>
          </p:cNvPr>
          <p:cNvSpPr txBox="1"/>
          <p:nvPr/>
        </p:nvSpPr>
        <p:spPr>
          <a:xfrm>
            <a:off x="13706194" y="1632556"/>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total downtime minutes across the entire dataset</a:t>
            </a:r>
          </a:p>
        </p:txBody>
      </p:sp>
      <p:sp>
        <p:nvSpPr>
          <p:cNvPr id="23" name="TextBox 22">
            <a:extLst>
              <a:ext uri="{FF2B5EF4-FFF2-40B4-BE49-F238E27FC236}">
                <a16:creationId xmlns:a16="http://schemas.microsoft.com/office/drawing/2014/main" id="{0978CCEC-4600-82EC-8034-5E60674658B8}"/>
              </a:ext>
            </a:extLst>
          </p:cNvPr>
          <p:cNvSpPr txBox="1"/>
          <p:nvPr/>
        </p:nvSpPr>
        <p:spPr>
          <a:xfrm>
            <a:off x="13706194" y="3755595"/>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Count all batches produced during the analysis period</a:t>
            </a:r>
          </a:p>
        </p:txBody>
      </p:sp>
      <p:sp>
        <p:nvSpPr>
          <p:cNvPr id="24" name="TextBox 23">
            <a:extLst>
              <a:ext uri="{FF2B5EF4-FFF2-40B4-BE49-F238E27FC236}">
                <a16:creationId xmlns:a16="http://schemas.microsoft.com/office/drawing/2014/main" id="{A7EB5E9F-A8DD-5E85-8C52-CBFB0BDD7066}"/>
              </a:ext>
            </a:extLst>
          </p:cNvPr>
          <p:cNvSpPr txBox="1"/>
          <p:nvPr/>
        </p:nvSpPr>
        <p:spPr>
          <a:xfrm>
            <a:off x="13706194" y="571126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Compare the percentage of downtime caused by operators versus system/machine issues.</a:t>
            </a:r>
          </a:p>
        </p:txBody>
      </p:sp>
      <p:sp>
        <p:nvSpPr>
          <p:cNvPr id="52" name="!!dt1Freeform: Shape 24">
            <a:extLst>
              <a:ext uri="{FF2B5EF4-FFF2-40B4-BE49-F238E27FC236}">
                <a16:creationId xmlns:a16="http://schemas.microsoft.com/office/drawing/2014/main" id="{1A7956A3-778D-3E9D-9634-1687E93BB3F4}"/>
              </a:ext>
            </a:extLst>
          </p:cNvPr>
          <p:cNvSpPr/>
          <p:nvPr/>
        </p:nvSpPr>
        <p:spPr>
          <a:xfrm>
            <a:off x="10976827" y="21285025"/>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53" name="Freeform: Shape 52">
            <a:extLst>
              <a:ext uri="{FF2B5EF4-FFF2-40B4-BE49-F238E27FC236}">
                <a16:creationId xmlns:a16="http://schemas.microsoft.com/office/drawing/2014/main" id="{C7E4C0CD-6A20-C9E6-2363-43DBE2300C32}"/>
              </a:ext>
            </a:extLst>
          </p:cNvPr>
          <p:cNvSpPr/>
          <p:nvPr/>
        </p:nvSpPr>
        <p:spPr>
          <a:xfrm>
            <a:off x="3035707" y="21285025"/>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occurred downtime factor?</a:t>
            </a:r>
          </a:p>
        </p:txBody>
      </p:sp>
      <p:sp>
        <p:nvSpPr>
          <p:cNvPr id="54" name="!!dt2Freeform: Shape 26">
            <a:extLst>
              <a:ext uri="{FF2B5EF4-FFF2-40B4-BE49-F238E27FC236}">
                <a16:creationId xmlns:a16="http://schemas.microsoft.com/office/drawing/2014/main" id="{EC8A4D32-89E8-86BC-FCE5-7EAA31E57597}"/>
              </a:ext>
            </a:extLst>
          </p:cNvPr>
          <p:cNvSpPr/>
          <p:nvPr/>
        </p:nvSpPr>
        <p:spPr>
          <a:xfrm flipH="1">
            <a:off x="3035707" y="23446197"/>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55" name="Freeform: Shape 54">
            <a:extLst>
              <a:ext uri="{FF2B5EF4-FFF2-40B4-BE49-F238E27FC236}">
                <a16:creationId xmlns:a16="http://schemas.microsoft.com/office/drawing/2014/main" id="{5EF19000-C99E-F2A8-940B-AFDF152CD944}"/>
              </a:ext>
            </a:extLst>
          </p:cNvPr>
          <p:cNvSpPr/>
          <p:nvPr/>
        </p:nvSpPr>
        <p:spPr>
          <a:xfrm flipH="1">
            <a:off x="3572555" y="23446197"/>
            <a:ext cx="79411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 occurs most frequently?</a:t>
            </a:r>
          </a:p>
        </p:txBody>
      </p:sp>
      <p:sp>
        <p:nvSpPr>
          <p:cNvPr id="56" name="!!dt3Freeform: Shape 28">
            <a:extLst>
              <a:ext uri="{FF2B5EF4-FFF2-40B4-BE49-F238E27FC236}">
                <a16:creationId xmlns:a16="http://schemas.microsoft.com/office/drawing/2014/main" id="{A6159FE1-0CAB-5196-0DEA-F20AAF63F5AC}"/>
              </a:ext>
            </a:extLst>
          </p:cNvPr>
          <p:cNvSpPr/>
          <p:nvPr/>
        </p:nvSpPr>
        <p:spPr>
          <a:xfrm>
            <a:off x="10976827" y="2543027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57" name="Freeform: Shape 56">
            <a:extLst>
              <a:ext uri="{FF2B5EF4-FFF2-40B4-BE49-F238E27FC236}">
                <a16:creationId xmlns:a16="http://schemas.microsoft.com/office/drawing/2014/main" id="{0C34679B-0CE0-BF71-7AD8-5939A432203F}"/>
              </a:ext>
            </a:extLst>
          </p:cNvPr>
          <p:cNvSpPr/>
          <p:nvPr/>
        </p:nvSpPr>
        <p:spPr>
          <a:xfrm>
            <a:off x="3048789" y="25430273"/>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many downtime incidents occur per day?</a:t>
            </a:r>
          </a:p>
        </p:txBody>
      </p:sp>
      <p:sp>
        <p:nvSpPr>
          <p:cNvPr id="58" name="TextBox 57">
            <a:extLst>
              <a:ext uri="{FF2B5EF4-FFF2-40B4-BE49-F238E27FC236}">
                <a16:creationId xmlns:a16="http://schemas.microsoft.com/office/drawing/2014/main" id="{5403E8B6-62E9-D3F0-BD83-C7003E12F2B1}"/>
              </a:ext>
            </a:extLst>
          </p:cNvPr>
          <p:cNvSpPr txBox="1"/>
          <p:nvPr/>
        </p:nvSpPr>
        <p:spPr>
          <a:xfrm>
            <a:off x="3597956" y="22585200"/>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which downtime factor happens the most frequently by counting all recorded occurrences across the dataset.</a:t>
            </a:r>
          </a:p>
        </p:txBody>
      </p:sp>
      <p:sp>
        <p:nvSpPr>
          <p:cNvPr id="59" name="TextBox 58">
            <a:extLst>
              <a:ext uri="{FF2B5EF4-FFF2-40B4-BE49-F238E27FC236}">
                <a16:creationId xmlns:a16="http://schemas.microsoft.com/office/drawing/2014/main" id="{2CE7C0CA-50D4-FC3F-7310-30E34D34E012}"/>
              </a:ext>
            </a:extLst>
          </p:cNvPr>
          <p:cNvSpPr txBox="1"/>
          <p:nvPr/>
        </p:nvSpPr>
        <p:spPr>
          <a:xfrm>
            <a:off x="3597956" y="24708239"/>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Assess the count of each downtime factor to find which issue happens most often.</a:t>
            </a:r>
          </a:p>
        </p:txBody>
      </p:sp>
      <p:sp>
        <p:nvSpPr>
          <p:cNvPr id="60" name="TextBox 59">
            <a:extLst>
              <a:ext uri="{FF2B5EF4-FFF2-40B4-BE49-F238E27FC236}">
                <a16:creationId xmlns:a16="http://schemas.microsoft.com/office/drawing/2014/main" id="{FF75EF69-3AF2-725A-ACE6-272D94DC938E}"/>
              </a:ext>
            </a:extLst>
          </p:cNvPr>
          <p:cNvSpPr txBox="1"/>
          <p:nvPr/>
        </p:nvSpPr>
        <p:spPr>
          <a:xfrm>
            <a:off x="3597956" y="26663911"/>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how many downtime incidents happen each day.</a:t>
            </a:r>
          </a:p>
        </p:txBody>
      </p:sp>
    </p:spTree>
    <p:extLst>
      <p:ext uri="{BB962C8B-B14F-4D97-AF65-F5344CB8AC3E}">
        <p14:creationId xmlns:p14="http://schemas.microsoft.com/office/powerpoint/2010/main" val="28729552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8745B-3CCE-4455-F9D5-0A6645C101A1}"/>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5906221D-6ACA-E28D-21CE-B8E98CD5797F}"/>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9" name="!!Products">
            <a:extLst>
              <a:ext uri="{FF2B5EF4-FFF2-40B4-BE49-F238E27FC236}">
                <a16:creationId xmlns:a16="http://schemas.microsoft.com/office/drawing/2014/main" id="{6F1A20FA-C09E-CE79-12FC-D2D551F53049}"/>
              </a:ext>
            </a:extLst>
          </p:cNvPr>
          <p:cNvSpPr/>
          <p:nvPr/>
        </p:nvSpPr>
        <p:spPr>
          <a:xfrm>
            <a:off x="455476" y="534579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PRODUCTS</a:t>
            </a:r>
          </a:p>
        </p:txBody>
      </p:sp>
      <p:sp>
        <p:nvSpPr>
          <p:cNvPr id="10" name="!!Operator">
            <a:extLst>
              <a:ext uri="{FF2B5EF4-FFF2-40B4-BE49-F238E27FC236}">
                <a16:creationId xmlns:a16="http://schemas.microsoft.com/office/drawing/2014/main" id="{250A6D0E-3C4E-3F87-A2FC-E488E3B04750}"/>
              </a:ext>
            </a:extLst>
          </p:cNvPr>
          <p:cNvSpPr/>
          <p:nvPr/>
        </p:nvSpPr>
        <p:spPr>
          <a:xfrm>
            <a:off x="455476" y="4236220"/>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11" name="!!DT">
            <a:extLst>
              <a:ext uri="{FF2B5EF4-FFF2-40B4-BE49-F238E27FC236}">
                <a16:creationId xmlns:a16="http://schemas.microsoft.com/office/drawing/2014/main" id="{DF7BAE76-0FEF-368D-9146-5FD8FFF21893}"/>
              </a:ext>
            </a:extLst>
          </p:cNvPr>
          <p:cNvSpPr/>
          <p:nvPr/>
        </p:nvSpPr>
        <p:spPr>
          <a:xfrm>
            <a:off x="0" y="2367846"/>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DOWNTIME FACTORS</a:t>
            </a:r>
          </a:p>
        </p:txBody>
      </p:sp>
      <p:sp>
        <p:nvSpPr>
          <p:cNvPr id="12" name="!!PLP">
            <a:extLst>
              <a:ext uri="{FF2B5EF4-FFF2-40B4-BE49-F238E27FC236}">
                <a16:creationId xmlns:a16="http://schemas.microsoft.com/office/drawing/2014/main" id="{BE61D4B4-6C08-7A89-D26E-BD08372B6345}"/>
              </a:ext>
            </a:extLst>
          </p:cNvPr>
          <p:cNvSpPr/>
          <p:nvPr/>
        </p:nvSpPr>
        <p:spPr>
          <a:xfrm>
            <a:off x="457200" y="1308192"/>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13" name="!!Overview">
            <a:extLst>
              <a:ext uri="{FF2B5EF4-FFF2-40B4-BE49-F238E27FC236}">
                <a16:creationId xmlns:a16="http://schemas.microsoft.com/office/drawing/2014/main" id="{2C9BA115-4855-1704-5CE3-FB4911CD0134}"/>
              </a:ext>
            </a:extLst>
          </p:cNvPr>
          <p:cNvSpPr/>
          <p:nvPr/>
        </p:nvSpPr>
        <p:spPr>
          <a:xfrm>
            <a:off x="457200" y="0"/>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OVERVIEW</a:t>
            </a:r>
          </a:p>
        </p:txBody>
      </p:sp>
      <p:sp>
        <p:nvSpPr>
          <p:cNvPr id="34" name="!!dt1Freeform: Shape 24">
            <a:extLst>
              <a:ext uri="{FF2B5EF4-FFF2-40B4-BE49-F238E27FC236}">
                <a16:creationId xmlns:a16="http://schemas.microsoft.com/office/drawing/2014/main" id="{2F0B813C-6F44-5712-B710-AD15521B5B64}"/>
              </a:ext>
            </a:extLst>
          </p:cNvPr>
          <p:cNvSpPr/>
          <p:nvPr/>
        </p:nvSpPr>
        <p:spPr>
          <a:xfrm>
            <a:off x="10976827"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35" name="Freeform: Shape 34">
            <a:extLst>
              <a:ext uri="{FF2B5EF4-FFF2-40B4-BE49-F238E27FC236}">
                <a16:creationId xmlns:a16="http://schemas.microsoft.com/office/drawing/2014/main" id="{29D6B58B-4ADF-D93F-A29B-C39C0889B9F8}"/>
              </a:ext>
            </a:extLst>
          </p:cNvPr>
          <p:cNvSpPr/>
          <p:nvPr/>
        </p:nvSpPr>
        <p:spPr>
          <a:xfrm>
            <a:off x="3035707"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occurred downtime factor?</a:t>
            </a:r>
          </a:p>
        </p:txBody>
      </p:sp>
      <p:sp>
        <p:nvSpPr>
          <p:cNvPr id="36" name="!!dt2Freeform: Shape 26">
            <a:extLst>
              <a:ext uri="{FF2B5EF4-FFF2-40B4-BE49-F238E27FC236}">
                <a16:creationId xmlns:a16="http://schemas.microsoft.com/office/drawing/2014/main" id="{45F2682E-C1F6-FFC1-648E-4BF699B152DA}"/>
              </a:ext>
            </a:extLst>
          </p:cNvPr>
          <p:cNvSpPr/>
          <p:nvPr/>
        </p:nvSpPr>
        <p:spPr>
          <a:xfrm flipH="1">
            <a:off x="3035707"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37" name="Freeform: Shape 36">
            <a:extLst>
              <a:ext uri="{FF2B5EF4-FFF2-40B4-BE49-F238E27FC236}">
                <a16:creationId xmlns:a16="http://schemas.microsoft.com/office/drawing/2014/main" id="{84A5D5FF-6F7B-089B-9972-201DEEBF0596}"/>
              </a:ext>
            </a:extLst>
          </p:cNvPr>
          <p:cNvSpPr/>
          <p:nvPr/>
        </p:nvSpPr>
        <p:spPr>
          <a:xfrm flipH="1">
            <a:off x="3572555" y="2620414"/>
            <a:ext cx="79411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 occurs most frequently?</a:t>
            </a:r>
          </a:p>
        </p:txBody>
      </p:sp>
      <p:sp>
        <p:nvSpPr>
          <p:cNvPr id="38" name="!!dt3Freeform: Shape 28">
            <a:extLst>
              <a:ext uri="{FF2B5EF4-FFF2-40B4-BE49-F238E27FC236}">
                <a16:creationId xmlns:a16="http://schemas.microsoft.com/office/drawing/2014/main" id="{B89AC089-9722-9905-12C2-C430873B987E}"/>
              </a:ext>
            </a:extLst>
          </p:cNvPr>
          <p:cNvSpPr/>
          <p:nvPr/>
        </p:nvSpPr>
        <p:spPr>
          <a:xfrm>
            <a:off x="10976827"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39" name="Freeform: Shape 38">
            <a:extLst>
              <a:ext uri="{FF2B5EF4-FFF2-40B4-BE49-F238E27FC236}">
                <a16:creationId xmlns:a16="http://schemas.microsoft.com/office/drawing/2014/main" id="{2AAA301F-8DA6-2483-66F3-1277F9C583F2}"/>
              </a:ext>
            </a:extLst>
          </p:cNvPr>
          <p:cNvSpPr/>
          <p:nvPr/>
        </p:nvSpPr>
        <p:spPr>
          <a:xfrm>
            <a:off x="3048789"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many downtime incidents occur per day?</a:t>
            </a:r>
          </a:p>
        </p:txBody>
      </p:sp>
      <p:sp>
        <p:nvSpPr>
          <p:cNvPr id="40" name="TextBox 39">
            <a:extLst>
              <a:ext uri="{FF2B5EF4-FFF2-40B4-BE49-F238E27FC236}">
                <a16:creationId xmlns:a16="http://schemas.microsoft.com/office/drawing/2014/main" id="{51B0BB5F-4516-67ED-74F6-C3130EC196F6}"/>
              </a:ext>
            </a:extLst>
          </p:cNvPr>
          <p:cNvSpPr txBox="1"/>
          <p:nvPr/>
        </p:nvSpPr>
        <p:spPr>
          <a:xfrm>
            <a:off x="3597956" y="175941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which downtime factor happens the most frequently by counting all recorded occurrences across the dataset.</a:t>
            </a:r>
          </a:p>
        </p:txBody>
      </p:sp>
      <p:sp>
        <p:nvSpPr>
          <p:cNvPr id="41" name="TextBox 40">
            <a:extLst>
              <a:ext uri="{FF2B5EF4-FFF2-40B4-BE49-F238E27FC236}">
                <a16:creationId xmlns:a16="http://schemas.microsoft.com/office/drawing/2014/main" id="{A41F033C-D87C-BDF5-4E00-44F7DD707666}"/>
              </a:ext>
            </a:extLst>
          </p:cNvPr>
          <p:cNvSpPr txBox="1"/>
          <p:nvPr/>
        </p:nvSpPr>
        <p:spPr>
          <a:xfrm>
            <a:off x="3597956"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Assess the count of each downtime factor to find which issue happens most often.</a:t>
            </a:r>
          </a:p>
        </p:txBody>
      </p:sp>
      <p:sp>
        <p:nvSpPr>
          <p:cNvPr id="42" name="TextBox 41">
            <a:extLst>
              <a:ext uri="{FF2B5EF4-FFF2-40B4-BE49-F238E27FC236}">
                <a16:creationId xmlns:a16="http://schemas.microsoft.com/office/drawing/2014/main" id="{DE36B5DE-8137-8952-438B-784ACB9B568A}"/>
              </a:ext>
            </a:extLst>
          </p:cNvPr>
          <p:cNvSpPr txBox="1"/>
          <p:nvPr/>
        </p:nvSpPr>
        <p:spPr>
          <a:xfrm>
            <a:off x="3597956" y="5838128"/>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how many downtime incidents happen each day.</a:t>
            </a:r>
          </a:p>
        </p:txBody>
      </p:sp>
      <p:sp>
        <p:nvSpPr>
          <p:cNvPr id="2" name="Freeform: Shape 1">
            <a:extLst>
              <a:ext uri="{FF2B5EF4-FFF2-40B4-BE49-F238E27FC236}">
                <a16:creationId xmlns:a16="http://schemas.microsoft.com/office/drawing/2014/main" id="{5D8299F9-6C0E-38DF-3021-A47208F6E0F7}"/>
              </a:ext>
            </a:extLst>
          </p:cNvPr>
          <p:cNvSpPr/>
          <p:nvPr/>
        </p:nvSpPr>
        <p:spPr>
          <a:xfrm>
            <a:off x="20548219" y="332381"/>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3" name="Freeform: Shape 2">
            <a:extLst>
              <a:ext uri="{FF2B5EF4-FFF2-40B4-BE49-F238E27FC236}">
                <a16:creationId xmlns:a16="http://schemas.microsoft.com/office/drawing/2014/main" id="{6559C520-AE4D-D14B-7F51-905B02B9CF48}"/>
              </a:ext>
            </a:extLst>
          </p:cNvPr>
          <p:cNvSpPr/>
          <p:nvPr/>
        </p:nvSpPr>
        <p:spPr>
          <a:xfrm>
            <a:off x="12607099" y="332381"/>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does total downtime affect daily production output?</a:t>
            </a:r>
          </a:p>
        </p:txBody>
      </p:sp>
      <p:sp>
        <p:nvSpPr>
          <p:cNvPr id="4" name="Freeform: Shape 3">
            <a:extLst>
              <a:ext uri="{FF2B5EF4-FFF2-40B4-BE49-F238E27FC236}">
                <a16:creationId xmlns:a16="http://schemas.microsoft.com/office/drawing/2014/main" id="{A0A98C36-723B-6D92-895C-37EC47ADE3BD}"/>
              </a:ext>
            </a:extLst>
          </p:cNvPr>
          <p:cNvSpPr/>
          <p:nvPr/>
        </p:nvSpPr>
        <p:spPr>
          <a:xfrm flipH="1">
            <a:off x="12607099" y="249355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5" name="Freeform: Shape 4">
            <a:extLst>
              <a:ext uri="{FF2B5EF4-FFF2-40B4-BE49-F238E27FC236}">
                <a16:creationId xmlns:a16="http://schemas.microsoft.com/office/drawing/2014/main" id="{E2F09BDA-A9C5-0778-CD33-7D1CC9D6AAF8}"/>
              </a:ext>
            </a:extLst>
          </p:cNvPr>
          <p:cNvSpPr/>
          <p:nvPr/>
        </p:nvSpPr>
        <p:spPr>
          <a:xfrm flipH="1">
            <a:off x="13143944" y="2493553"/>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average downtime per batch during the analysis period?</a:t>
            </a:r>
          </a:p>
        </p:txBody>
      </p:sp>
      <p:sp>
        <p:nvSpPr>
          <p:cNvPr id="6" name="Freeform: Shape 5">
            <a:extLst>
              <a:ext uri="{FF2B5EF4-FFF2-40B4-BE49-F238E27FC236}">
                <a16:creationId xmlns:a16="http://schemas.microsoft.com/office/drawing/2014/main" id="{91546319-F919-6584-A92F-FE8BBC8A59B7}"/>
              </a:ext>
            </a:extLst>
          </p:cNvPr>
          <p:cNvSpPr/>
          <p:nvPr/>
        </p:nvSpPr>
        <p:spPr>
          <a:xfrm>
            <a:off x="20548219" y="4477629"/>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37000">
                <a:srgbClr val="3B507D"/>
              </a:gs>
              <a:gs pos="100000">
                <a:srgbClr val="112250"/>
              </a:gs>
            </a:gsLst>
            <a:lin ang="5400000" scaled="1"/>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7" name="Freeform: Shape 6">
            <a:extLst>
              <a:ext uri="{FF2B5EF4-FFF2-40B4-BE49-F238E27FC236}">
                <a16:creationId xmlns:a16="http://schemas.microsoft.com/office/drawing/2014/main" id="{724D2A9E-B2D5-F922-88FB-736D7EFF5DA8}"/>
              </a:ext>
            </a:extLst>
          </p:cNvPr>
          <p:cNvSpPr/>
          <p:nvPr/>
        </p:nvSpPr>
        <p:spPr>
          <a:xfrm>
            <a:off x="12620181" y="4477629"/>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account for at least 80% of total downtime?</a:t>
            </a:r>
          </a:p>
        </p:txBody>
      </p:sp>
      <p:sp>
        <p:nvSpPr>
          <p:cNvPr id="8" name="TextBox 7">
            <a:extLst>
              <a:ext uri="{FF2B5EF4-FFF2-40B4-BE49-F238E27FC236}">
                <a16:creationId xmlns:a16="http://schemas.microsoft.com/office/drawing/2014/main" id="{869BE715-B266-F9A4-880B-E97E40A40935}"/>
              </a:ext>
            </a:extLst>
          </p:cNvPr>
          <p:cNvSpPr txBox="1"/>
          <p:nvPr/>
        </p:nvSpPr>
        <p:spPr>
          <a:xfrm>
            <a:off x="13169348" y="16325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the relationship between downtime and production volume to quantify loss in productivity.</a:t>
            </a:r>
          </a:p>
        </p:txBody>
      </p:sp>
      <p:sp>
        <p:nvSpPr>
          <p:cNvPr id="14" name="TextBox 13">
            <a:extLst>
              <a:ext uri="{FF2B5EF4-FFF2-40B4-BE49-F238E27FC236}">
                <a16:creationId xmlns:a16="http://schemas.microsoft.com/office/drawing/2014/main" id="{75F5551A-2638-31CB-9096-73B2101AEE09}"/>
              </a:ext>
            </a:extLst>
          </p:cNvPr>
          <p:cNvSpPr txBox="1"/>
          <p:nvPr/>
        </p:nvSpPr>
        <p:spPr>
          <a:xfrm>
            <a:off x="13169348" y="3755595"/>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the average downtime minutes for each batch.</a:t>
            </a:r>
          </a:p>
        </p:txBody>
      </p:sp>
      <p:sp>
        <p:nvSpPr>
          <p:cNvPr id="15" name="TextBox 14">
            <a:extLst>
              <a:ext uri="{FF2B5EF4-FFF2-40B4-BE49-F238E27FC236}">
                <a16:creationId xmlns:a16="http://schemas.microsoft.com/office/drawing/2014/main" id="{7C96F1FC-6E66-A467-101D-A87D2628E004}"/>
              </a:ext>
            </a:extLst>
          </p:cNvPr>
          <p:cNvSpPr txBox="1"/>
          <p:nvPr/>
        </p:nvSpPr>
        <p:spPr>
          <a:xfrm>
            <a:off x="13169348" y="571126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top downtime factors that cause roughly 80% of total downtime.</a:t>
            </a:r>
          </a:p>
        </p:txBody>
      </p:sp>
      <p:sp>
        <p:nvSpPr>
          <p:cNvPr id="25" name="!!op1Freeform: Shape 24">
            <a:extLst>
              <a:ext uri="{FF2B5EF4-FFF2-40B4-BE49-F238E27FC236}">
                <a16:creationId xmlns:a16="http://schemas.microsoft.com/office/drawing/2014/main" id="{495DC1D8-BA02-5DA3-EFE5-70EF450D5726}"/>
              </a:ext>
            </a:extLst>
          </p:cNvPr>
          <p:cNvSpPr/>
          <p:nvPr/>
        </p:nvSpPr>
        <p:spPr>
          <a:xfrm>
            <a:off x="10819756" y="21285025"/>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26" name="Freeform: Shape 25">
            <a:extLst>
              <a:ext uri="{FF2B5EF4-FFF2-40B4-BE49-F238E27FC236}">
                <a16:creationId xmlns:a16="http://schemas.microsoft.com/office/drawing/2014/main" id="{05E01E10-6115-5F08-60D1-973D8294CE27}"/>
              </a:ext>
            </a:extLst>
          </p:cNvPr>
          <p:cNvSpPr/>
          <p:nvPr/>
        </p:nvSpPr>
        <p:spPr>
          <a:xfrm>
            <a:off x="2878636" y="21285025"/>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each operator’s efficiency score based on batches and downtime?</a:t>
            </a:r>
          </a:p>
        </p:txBody>
      </p:sp>
      <p:sp>
        <p:nvSpPr>
          <p:cNvPr id="27" name="!!op2Freeform: Shape 26">
            <a:extLst>
              <a:ext uri="{FF2B5EF4-FFF2-40B4-BE49-F238E27FC236}">
                <a16:creationId xmlns:a16="http://schemas.microsoft.com/office/drawing/2014/main" id="{1CE6F36B-4708-E59D-43D2-F83F466F7A39}"/>
              </a:ext>
            </a:extLst>
          </p:cNvPr>
          <p:cNvSpPr/>
          <p:nvPr/>
        </p:nvSpPr>
        <p:spPr>
          <a:xfrm flipH="1">
            <a:off x="2878636" y="23446197"/>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28" name="Freeform: Shape 27">
            <a:extLst>
              <a:ext uri="{FF2B5EF4-FFF2-40B4-BE49-F238E27FC236}">
                <a16:creationId xmlns:a16="http://schemas.microsoft.com/office/drawing/2014/main" id="{56D850BD-4215-1F92-C124-A4521099CD1C}"/>
              </a:ext>
            </a:extLst>
          </p:cNvPr>
          <p:cNvSpPr/>
          <p:nvPr/>
        </p:nvSpPr>
        <p:spPr>
          <a:xfrm flipH="1">
            <a:off x="3415482" y="23446197"/>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recurring downtime factor for each operator?</a:t>
            </a:r>
          </a:p>
        </p:txBody>
      </p:sp>
      <p:sp>
        <p:nvSpPr>
          <p:cNvPr id="29" name="!!op3Freeform: Shape 28">
            <a:extLst>
              <a:ext uri="{FF2B5EF4-FFF2-40B4-BE49-F238E27FC236}">
                <a16:creationId xmlns:a16="http://schemas.microsoft.com/office/drawing/2014/main" id="{6F7025C2-F78E-CFE0-2381-3494AE4A2869}"/>
              </a:ext>
            </a:extLst>
          </p:cNvPr>
          <p:cNvSpPr/>
          <p:nvPr/>
        </p:nvSpPr>
        <p:spPr>
          <a:xfrm>
            <a:off x="10819756" y="2543027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30" name="Freeform: Shape 29">
            <a:extLst>
              <a:ext uri="{FF2B5EF4-FFF2-40B4-BE49-F238E27FC236}">
                <a16:creationId xmlns:a16="http://schemas.microsoft.com/office/drawing/2014/main" id="{A4B5D2A9-C122-4964-A6F4-B4D7A2073F20}"/>
              </a:ext>
            </a:extLst>
          </p:cNvPr>
          <p:cNvSpPr/>
          <p:nvPr/>
        </p:nvSpPr>
        <p:spPr>
          <a:xfrm>
            <a:off x="2891718" y="25430273"/>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much downtime does each operator have for each downtime factor?</a:t>
            </a:r>
          </a:p>
        </p:txBody>
      </p:sp>
      <p:sp>
        <p:nvSpPr>
          <p:cNvPr id="31" name="TextBox 30">
            <a:extLst>
              <a:ext uri="{FF2B5EF4-FFF2-40B4-BE49-F238E27FC236}">
                <a16:creationId xmlns:a16="http://schemas.microsoft.com/office/drawing/2014/main" id="{6919DCC6-E3C0-12A7-E5BE-667F45168348}"/>
              </a:ext>
            </a:extLst>
          </p:cNvPr>
          <p:cNvSpPr txBox="1"/>
          <p:nvPr/>
        </p:nvSpPr>
        <p:spPr>
          <a:xfrm>
            <a:off x="3440885" y="22585200"/>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Evaluate operator efficiency by comparing batches handled, and downtime involvement.</a:t>
            </a:r>
          </a:p>
        </p:txBody>
      </p:sp>
      <p:sp>
        <p:nvSpPr>
          <p:cNvPr id="32" name="TextBox 31">
            <a:extLst>
              <a:ext uri="{FF2B5EF4-FFF2-40B4-BE49-F238E27FC236}">
                <a16:creationId xmlns:a16="http://schemas.microsoft.com/office/drawing/2014/main" id="{66ACFF9D-44EC-73D6-0108-C00FA8ACF824}"/>
              </a:ext>
            </a:extLst>
          </p:cNvPr>
          <p:cNvSpPr txBox="1"/>
          <p:nvPr/>
        </p:nvSpPr>
        <p:spPr>
          <a:xfrm>
            <a:off x="3440885" y="24708239"/>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 most frequently associated with each operator.</a:t>
            </a:r>
          </a:p>
        </p:txBody>
      </p:sp>
      <p:sp>
        <p:nvSpPr>
          <p:cNvPr id="33" name="TextBox 32">
            <a:extLst>
              <a:ext uri="{FF2B5EF4-FFF2-40B4-BE49-F238E27FC236}">
                <a16:creationId xmlns:a16="http://schemas.microsoft.com/office/drawing/2014/main" id="{92664652-C302-F880-7C83-A176BED4FE0A}"/>
              </a:ext>
            </a:extLst>
          </p:cNvPr>
          <p:cNvSpPr txBox="1"/>
          <p:nvPr/>
        </p:nvSpPr>
        <p:spPr>
          <a:xfrm>
            <a:off x="3440885" y="26663911"/>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patterns linking operators to specific downtime factors to understand root causes and behavioral trends.</a:t>
            </a:r>
          </a:p>
        </p:txBody>
      </p:sp>
    </p:spTree>
    <p:extLst>
      <p:ext uri="{BB962C8B-B14F-4D97-AF65-F5344CB8AC3E}">
        <p14:creationId xmlns:p14="http://schemas.microsoft.com/office/powerpoint/2010/main" val="37335714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B8666-247C-9CE6-EA91-56653C395C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280067-BC1B-048D-D24F-0497A05EB836}"/>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9" name="!!Products">
            <a:extLst>
              <a:ext uri="{FF2B5EF4-FFF2-40B4-BE49-F238E27FC236}">
                <a16:creationId xmlns:a16="http://schemas.microsoft.com/office/drawing/2014/main" id="{8751615C-2509-2E98-5693-2538F3ED973C}"/>
              </a:ext>
            </a:extLst>
          </p:cNvPr>
          <p:cNvSpPr/>
          <p:nvPr/>
        </p:nvSpPr>
        <p:spPr>
          <a:xfrm>
            <a:off x="455476" y="534579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PRODUCTS</a:t>
            </a:r>
          </a:p>
        </p:txBody>
      </p:sp>
      <p:sp>
        <p:nvSpPr>
          <p:cNvPr id="10" name="!!Operator">
            <a:extLst>
              <a:ext uri="{FF2B5EF4-FFF2-40B4-BE49-F238E27FC236}">
                <a16:creationId xmlns:a16="http://schemas.microsoft.com/office/drawing/2014/main" id="{408B4E0A-5145-655C-678B-6A926F9C8D1E}"/>
              </a:ext>
            </a:extLst>
          </p:cNvPr>
          <p:cNvSpPr/>
          <p:nvPr/>
        </p:nvSpPr>
        <p:spPr>
          <a:xfrm>
            <a:off x="0" y="3326992"/>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OPERATOR</a:t>
            </a:r>
          </a:p>
        </p:txBody>
      </p:sp>
      <p:sp>
        <p:nvSpPr>
          <p:cNvPr id="11" name="!!DT">
            <a:extLst>
              <a:ext uri="{FF2B5EF4-FFF2-40B4-BE49-F238E27FC236}">
                <a16:creationId xmlns:a16="http://schemas.microsoft.com/office/drawing/2014/main" id="{8AA05590-EB41-7D68-6705-6754908DDC43}"/>
              </a:ext>
            </a:extLst>
          </p:cNvPr>
          <p:cNvSpPr/>
          <p:nvPr/>
        </p:nvSpPr>
        <p:spPr>
          <a:xfrm>
            <a:off x="455476" y="2359160"/>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12" name="!!PLP">
            <a:extLst>
              <a:ext uri="{FF2B5EF4-FFF2-40B4-BE49-F238E27FC236}">
                <a16:creationId xmlns:a16="http://schemas.microsoft.com/office/drawing/2014/main" id="{2C9C521B-5346-3AC9-1021-952BCC279071}"/>
              </a:ext>
            </a:extLst>
          </p:cNvPr>
          <p:cNvSpPr/>
          <p:nvPr/>
        </p:nvSpPr>
        <p:spPr>
          <a:xfrm>
            <a:off x="457200" y="1107848"/>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13" name="!!Overview">
            <a:extLst>
              <a:ext uri="{FF2B5EF4-FFF2-40B4-BE49-F238E27FC236}">
                <a16:creationId xmlns:a16="http://schemas.microsoft.com/office/drawing/2014/main" id="{B25A0763-9593-AB26-4419-2EC0A2964F6C}"/>
              </a:ext>
            </a:extLst>
          </p:cNvPr>
          <p:cNvSpPr/>
          <p:nvPr/>
        </p:nvSpPr>
        <p:spPr>
          <a:xfrm>
            <a:off x="457200" y="0"/>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OVERVIEW</a:t>
            </a:r>
          </a:p>
        </p:txBody>
      </p:sp>
      <p:sp>
        <p:nvSpPr>
          <p:cNvPr id="25" name="!!op1Freeform: Shape 24">
            <a:extLst>
              <a:ext uri="{FF2B5EF4-FFF2-40B4-BE49-F238E27FC236}">
                <a16:creationId xmlns:a16="http://schemas.microsoft.com/office/drawing/2014/main" id="{7DF251CF-26B1-B23F-9881-FA83227FC6A2}"/>
              </a:ext>
            </a:extLst>
          </p:cNvPr>
          <p:cNvSpPr/>
          <p:nvPr/>
        </p:nvSpPr>
        <p:spPr>
          <a:xfrm>
            <a:off x="10819756"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26" name="Freeform: Shape 25">
            <a:extLst>
              <a:ext uri="{FF2B5EF4-FFF2-40B4-BE49-F238E27FC236}">
                <a16:creationId xmlns:a16="http://schemas.microsoft.com/office/drawing/2014/main" id="{030109E7-CBAB-A370-572D-CE8FD40EFFEB}"/>
              </a:ext>
            </a:extLst>
          </p:cNvPr>
          <p:cNvSpPr/>
          <p:nvPr/>
        </p:nvSpPr>
        <p:spPr>
          <a:xfrm>
            <a:off x="2878636"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each operator’s efficiency score based on batches and downtime?</a:t>
            </a:r>
          </a:p>
        </p:txBody>
      </p:sp>
      <p:sp>
        <p:nvSpPr>
          <p:cNvPr id="27" name="!!op2Freeform: Shape 26">
            <a:extLst>
              <a:ext uri="{FF2B5EF4-FFF2-40B4-BE49-F238E27FC236}">
                <a16:creationId xmlns:a16="http://schemas.microsoft.com/office/drawing/2014/main" id="{9AB29A69-9C96-B3E2-2194-CFA419E47A46}"/>
              </a:ext>
            </a:extLst>
          </p:cNvPr>
          <p:cNvSpPr/>
          <p:nvPr/>
        </p:nvSpPr>
        <p:spPr>
          <a:xfrm flipH="1">
            <a:off x="2878636"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28" name="Freeform: Shape 27">
            <a:extLst>
              <a:ext uri="{FF2B5EF4-FFF2-40B4-BE49-F238E27FC236}">
                <a16:creationId xmlns:a16="http://schemas.microsoft.com/office/drawing/2014/main" id="{FCC39A16-97E4-F9E5-4524-BEF105CF471D}"/>
              </a:ext>
            </a:extLst>
          </p:cNvPr>
          <p:cNvSpPr/>
          <p:nvPr/>
        </p:nvSpPr>
        <p:spPr>
          <a:xfrm flipH="1">
            <a:off x="3415482" y="2620414"/>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recurring downtime factor for each operator?</a:t>
            </a:r>
          </a:p>
        </p:txBody>
      </p:sp>
      <p:sp>
        <p:nvSpPr>
          <p:cNvPr id="29" name="!!op3Freeform: Shape 28">
            <a:extLst>
              <a:ext uri="{FF2B5EF4-FFF2-40B4-BE49-F238E27FC236}">
                <a16:creationId xmlns:a16="http://schemas.microsoft.com/office/drawing/2014/main" id="{F5AA9AE0-204E-146E-60DC-8AEB06A9DB37}"/>
              </a:ext>
            </a:extLst>
          </p:cNvPr>
          <p:cNvSpPr/>
          <p:nvPr/>
        </p:nvSpPr>
        <p:spPr>
          <a:xfrm>
            <a:off x="10819756"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30" name="Freeform: Shape 29">
            <a:extLst>
              <a:ext uri="{FF2B5EF4-FFF2-40B4-BE49-F238E27FC236}">
                <a16:creationId xmlns:a16="http://schemas.microsoft.com/office/drawing/2014/main" id="{60627C02-0B8D-3D54-EF64-01E936EF44B3}"/>
              </a:ext>
            </a:extLst>
          </p:cNvPr>
          <p:cNvSpPr/>
          <p:nvPr/>
        </p:nvSpPr>
        <p:spPr>
          <a:xfrm>
            <a:off x="2891718"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much downtime does each operator have for each downtime factor?</a:t>
            </a:r>
          </a:p>
        </p:txBody>
      </p:sp>
      <p:sp>
        <p:nvSpPr>
          <p:cNvPr id="31" name="TextBox 30">
            <a:extLst>
              <a:ext uri="{FF2B5EF4-FFF2-40B4-BE49-F238E27FC236}">
                <a16:creationId xmlns:a16="http://schemas.microsoft.com/office/drawing/2014/main" id="{BB4C42E9-036A-6C77-3EF6-6D324CA417D6}"/>
              </a:ext>
            </a:extLst>
          </p:cNvPr>
          <p:cNvSpPr txBox="1"/>
          <p:nvPr/>
        </p:nvSpPr>
        <p:spPr>
          <a:xfrm>
            <a:off x="3440885" y="175941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Evaluate operator efficiency by comparing batches handled, and downtime involvement.</a:t>
            </a:r>
          </a:p>
        </p:txBody>
      </p:sp>
      <p:sp>
        <p:nvSpPr>
          <p:cNvPr id="32" name="TextBox 31">
            <a:extLst>
              <a:ext uri="{FF2B5EF4-FFF2-40B4-BE49-F238E27FC236}">
                <a16:creationId xmlns:a16="http://schemas.microsoft.com/office/drawing/2014/main" id="{B4EA7AC2-DFE5-ABBC-B55A-94B0B6DBE7AC}"/>
              </a:ext>
            </a:extLst>
          </p:cNvPr>
          <p:cNvSpPr txBox="1"/>
          <p:nvPr/>
        </p:nvSpPr>
        <p:spPr>
          <a:xfrm>
            <a:off x="3440885"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 most frequently associated with each operator.</a:t>
            </a:r>
          </a:p>
        </p:txBody>
      </p:sp>
      <p:sp>
        <p:nvSpPr>
          <p:cNvPr id="33" name="TextBox 32">
            <a:extLst>
              <a:ext uri="{FF2B5EF4-FFF2-40B4-BE49-F238E27FC236}">
                <a16:creationId xmlns:a16="http://schemas.microsoft.com/office/drawing/2014/main" id="{A0A51C9C-92DB-B1B6-6A50-52B927AD2701}"/>
              </a:ext>
            </a:extLst>
          </p:cNvPr>
          <p:cNvSpPr txBox="1"/>
          <p:nvPr/>
        </p:nvSpPr>
        <p:spPr>
          <a:xfrm>
            <a:off x="3440885" y="5838128"/>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patterns linking operators to specific downtime factors to understand root causes and behavioral trends.</a:t>
            </a:r>
          </a:p>
        </p:txBody>
      </p:sp>
      <p:sp>
        <p:nvSpPr>
          <p:cNvPr id="58" name="!!dt1Freeform: Shape 24">
            <a:extLst>
              <a:ext uri="{FF2B5EF4-FFF2-40B4-BE49-F238E27FC236}">
                <a16:creationId xmlns:a16="http://schemas.microsoft.com/office/drawing/2014/main" id="{B68E66C6-0EB2-4C75-EB49-05C2B49FBCA2}"/>
              </a:ext>
            </a:extLst>
          </p:cNvPr>
          <p:cNvSpPr/>
          <p:nvPr/>
        </p:nvSpPr>
        <p:spPr>
          <a:xfrm>
            <a:off x="20796326"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59" name="Freeform: Shape 58">
            <a:extLst>
              <a:ext uri="{FF2B5EF4-FFF2-40B4-BE49-F238E27FC236}">
                <a16:creationId xmlns:a16="http://schemas.microsoft.com/office/drawing/2014/main" id="{BEDD8015-E716-B199-C933-FC6379A6FD88}"/>
              </a:ext>
            </a:extLst>
          </p:cNvPr>
          <p:cNvSpPr/>
          <p:nvPr/>
        </p:nvSpPr>
        <p:spPr>
          <a:xfrm>
            <a:off x="12855206"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occurred downtime factor?</a:t>
            </a:r>
          </a:p>
        </p:txBody>
      </p:sp>
      <p:sp>
        <p:nvSpPr>
          <p:cNvPr id="60" name="!!dt2Freeform: Shape 26">
            <a:extLst>
              <a:ext uri="{FF2B5EF4-FFF2-40B4-BE49-F238E27FC236}">
                <a16:creationId xmlns:a16="http://schemas.microsoft.com/office/drawing/2014/main" id="{AE1DA9E7-92E4-3893-8D45-FF71DCB263CC}"/>
              </a:ext>
            </a:extLst>
          </p:cNvPr>
          <p:cNvSpPr/>
          <p:nvPr/>
        </p:nvSpPr>
        <p:spPr>
          <a:xfrm flipH="1">
            <a:off x="12855206"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61" name="Freeform: Shape 60">
            <a:extLst>
              <a:ext uri="{FF2B5EF4-FFF2-40B4-BE49-F238E27FC236}">
                <a16:creationId xmlns:a16="http://schemas.microsoft.com/office/drawing/2014/main" id="{BE7DFDBB-8966-8366-9B59-56AF95116EB0}"/>
              </a:ext>
            </a:extLst>
          </p:cNvPr>
          <p:cNvSpPr/>
          <p:nvPr/>
        </p:nvSpPr>
        <p:spPr>
          <a:xfrm flipH="1">
            <a:off x="13392054" y="2620414"/>
            <a:ext cx="7941119"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 occurs most frequently?</a:t>
            </a:r>
          </a:p>
        </p:txBody>
      </p:sp>
      <p:sp>
        <p:nvSpPr>
          <p:cNvPr id="62" name="!!dt3Freeform: Shape 28">
            <a:extLst>
              <a:ext uri="{FF2B5EF4-FFF2-40B4-BE49-F238E27FC236}">
                <a16:creationId xmlns:a16="http://schemas.microsoft.com/office/drawing/2014/main" id="{21A3DFFF-E537-E614-CEBA-95526E3B2FB9}"/>
              </a:ext>
            </a:extLst>
          </p:cNvPr>
          <p:cNvSpPr/>
          <p:nvPr/>
        </p:nvSpPr>
        <p:spPr>
          <a:xfrm>
            <a:off x="20796326"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63" name="Freeform: Shape 62">
            <a:extLst>
              <a:ext uri="{FF2B5EF4-FFF2-40B4-BE49-F238E27FC236}">
                <a16:creationId xmlns:a16="http://schemas.microsoft.com/office/drawing/2014/main" id="{BF8F244D-774C-2748-E74A-F1E97BE59312}"/>
              </a:ext>
            </a:extLst>
          </p:cNvPr>
          <p:cNvSpPr/>
          <p:nvPr/>
        </p:nvSpPr>
        <p:spPr>
          <a:xfrm>
            <a:off x="12868288"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many downtime incidents occur per day?</a:t>
            </a:r>
          </a:p>
        </p:txBody>
      </p:sp>
      <p:sp>
        <p:nvSpPr>
          <p:cNvPr id="64" name="TextBox 63">
            <a:extLst>
              <a:ext uri="{FF2B5EF4-FFF2-40B4-BE49-F238E27FC236}">
                <a16:creationId xmlns:a16="http://schemas.microsoft.com/office/drawing/2014/main" id="{19C65278-99E8-75F2-FC01-14A3BC21510F}"/>
              </a:ext>
            </a:extLst>
          </p:cNvPr>
          <p:cNvSpPr txBox="1"/>
          <p:nvPr/>
        </p:nvSpPr>
        <p:spPr>
          <a:xfrm>
            <a:off x="13417455" y="175941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which downtime factor happens the most frequently by counting all recorded occurrences across the dataset.</a:t>
            </a:r>
          </a:p>
        </p:txBody>
      </p:sp>
      <p:sp>
        <p:nvSpPr>
          <p:cNvPr id="65" name="TextBox 64">
            <a:extLst>
              <a:ext uri="{FF2B5EF4-FFF2-40B4-BE49-F238E27FC236}">
                <a16:creationId xmlns:a16="http://schemas.microsoft.com/office/drawing/2014/main" id="{9384FDEB-A0A2-DB2A-A822-C0318A069CA8}"/>
              </a:ext>
            </a:extLst>
          </p:cNvPr>
          <p:cNvSpPr txBox="1"/>
          <p:nvPr/>
        </p:nvSpPr>
        <p:spPr>
          <a:xfrm>
            <a:off x="13417455"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Assess the count of each downtime factor to find which issue happens most often.</a:t>
            </a:r>
          </a:p>
        </p:txBody>
      </p:sp>
      <p:sp>
        <p:nvSpPr>
          <p:cNvPr id="66" name="TextBox 65">
            <a:extLst>
              <a:ext uri="{FF2B5EF4-FFF2-40B4-BE49-F238E27FC236}">
                <a16:creationId xmlns:a16="http://schemas.microsoft.com/office/drawing/2014/main" id="{723577EB-978E-01F9-FAAB-831900223437}"/>
              </a:ext>
            </a:extLst>
          </p:cNvPr>
          <p:cNvSpPr txBox="1"/>
          <p:nvPr/>
        </p:nvSpPr>
        <p:spPr>
          <a:xfrm>
            <a:off x="13417455" y="5838128"/>
            <a:ext cx="7941120"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how many downtime incidents happen each day.</a:t>
            </a:r>
          </a:p>
        </p:txBody>
      </p:sp>
      <p:sp>
        <p:nvSpPr>
          <p:cNvPr id="67" name="!!pr1Freeform: Shape 24">
            <a:extLst>
              <a:ext uri="{FF2B5EF4-FFF2-40B4-BE49-F238E27FC236}">
                <a16:creationId xmlns:a16="http://schemas.microsoft.com/office/drawing/2014/main" id="{E599DC1A-F189-8144-3637-A329419DB1E1}"/>
              </a:ext>
            </a:extLst>
          </p:cNvPr>
          <p:cNvSpPr/>
          <p:nvPr/>
        </p:nvSpPr>
        <p:spPr>
          <a:xfrm>
            <a:off x="10819756" y="21285025"/>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68" name="Freeform: Shape 67">
            <a:extLst>
              <a:ext uri="{FF2B5EF4-FFF2-40B4-BE49-F238E27FC236}">
                <a16:creationId xmlns:a16="http://schemas.microsoft.com/office/drawing/2014/main" id="{8AD010A7-6EBB-BDA9-1342-67B1FA15140B}"/>
              </a:ext>
            </a:extLst>
          </p:cNvPr>
          <p:cNvSpPr/>
          <p:nvPr/>
        </p:nvSpPr>
        <p:spPr>
          <a:xfrm>
            <a:off x="2878636" y="21285025"/>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factors cause the most downtime for each product?</a:t>
            </a:r>
          </a:p>
        </p:txBody>
      </p:sp>
      <p:sp>
        <p:nvSpPr>
          <p:cNvPr id="69" name="!!pr2Freeform: Shape 26">
            <a:extLst>
              <a:ext uri="{FF2B5EF4-FFF2-40B4-BE49-F238E27FC236}">
                <a16:creationId xmlns:a16="http://schemas.microsoft.com/office/drawing/2014/main" id="{B8A29E83-58E9-426C-0E22-B3C4E2350A84}"/>
              </a:ext>
            </a:extLst>
          </p:cNvPr>
          <p:cNvSpPr/>
          <p:nvPr/>
        </p:nvSpPr>
        <p:spPr>
          <a:xfrm flipH="1">
            <a:off x="2878636" y="23446197"/>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70" name="Freeform: Shape 69">
            <a:extLst>
              <a:ext uri="{FF2B5EF4-FFF2-40B4-BE49-F238E27FC236}">
                <a16:creationId xmlns:a16="http://schemas.microsoft.com/office/drawing/2014/main" id="{9B6581E3-61C5-2403-D776-2F1DCCD02E55}"/>
              </a:ext>
            </a:extLst>
          </p:cNvPr>
          <p:cNvSpPr/>
          <p:nvPr/>
        </p:nvSpPr>
        <p:spPr>
          <a:xfrm flipH="1">
            <a:off x="3415482" y="23446197"/>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percentage of production time is lost to downtime for each product?</a:t>
            </a:r>
          </a:p>
        </p:txBody>
      </p:sp>
      <p:sp>
        <p:nvSpPr>
          <p:cNvPr id="71" name="!!prFreeform: Shape 28">
            <a:extLst>
              <a:ext uri="{FF2B5EF4-FFF2-40B4-BE49-F238E27FC236}">
                <a16:creationId xmlns:a16="http://schemas.microsoft.com/office/drawing/2014/main" id="{FB9A92FC-A01A-D980-4C06-44B45061DA39}"/>
              </a:ext>
            </a:extLst>
          </p:cNvPr>
          <p:cNvSpPr/>
          <p:nvPr/>
        </p:nvSpPr>
        <p:spPr>
          <a:xfrm>
            <a:off x="10819756" y="25430273"/>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72" name="Freeform: Shape 71">
            <a:extLst>
              <a:ext uri="{FF2B5EF4-FFF2-40B4-BE49-F238E27FC236}">
                <a16:creationId xmlns:a16="http://schemas.microsoft.com/office/drawing/2014/main" id="{D439DE56-D9C9-9F8E-6158-63830D5796BC}"/>
              </a:ext>
            </a:extLst>
          </p:cNvPr>
          <p:cNvSpPr/>
          <p:nvPr/>
        </p:nvSpPr>
        <p:spPr>
          <a:xfrm>
            <a:off x="2891718" y="25430273"/>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affect each product the most?</a:t>
            </a:r>
          </a:p>
        </p:txBody>
      </p:sp>
      <p:sp>
        <p:nvSpPr>
          <p:cNvPr id="73" name="TextBox 72">
            <a:extLst>
              <a:ext uri="{FF2B5EF4-FFF2-40B4-BE49-F238E27FC236}">
                <a16:creationId xmlns:a16="http://schemas.microsoft.com/office/drawing/2014/main" id="{86B07BC2-E2A2-69D2-4CBF-AA5511649277}"/>
              </a:ext>
            </a:extLst>
          </p:cNvPr>
          <p:cNvSpPr txBox="1"/>
          <p:nvPr/>
        </p:nvSpPr>
        <p:spPr>
          <a:xfrm>
            <a:off x="3440885" y="22585200"/>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factors that contribute the most downtime minutes for each product.</a:t>
            </a:r>
          </a:p>
        </p:txBody>
      </p:sp>
      <p:sp>
        <p:nvSpPr>
          <p:cNvPr id="74" name="TextBox 73">
            <a:extLst>
              <a:ext uri="{FF2B5EF4-FFF2-40B4-BE49-F238E27FC236}">
                <a16:creationId xmlns:a16="http://schemas.microsoft.com/office/drawing/2014/main" id="{93FAD769-671B-D193-FE56-E495CEC2E008}"/>
              </a:ext>
            </a:extLst>
          </p:cNvPr>
          <p:cNvSpPr txBox="1"/>
          <p:nvPr/>
        </p:nvSpPr>
        <p:spPr>
          <a:xfrm>
            <a:off x="3440885" y="24708239"/>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how much of each product’s available production time is consumed by downtime.</a:t>
            </a:r>
          </a:p>
        </p:txBody>
      </p:sp>
      <p:sp>
        <p:nvSpPr>
          <p:cNvPr id="75" name="TextBox 74">
            <a:extLst>
              <a:ext uri="{FF2B5EF4-FFF2-40B4-BE49-F238E27FC236}">
                <a16:creationId xmlns:a16="http://schemas.microsoft.com/office/drawing/2014/main" id="{9ADC28C2-F80C-F2D0-468A-5399D3714F9C}"/>
              </a:ext>
            </a:extLst>
          </p:cNvPr>
          <p:cNvSpPr txBox="1"/>
          <p:nvPr/>
        </p:nvSpPr>
        <p:spPr>
          <a:xfrm>
            <a:off x="3440885" y="26663911"/>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each product and determine which downtime factors contribute the most to its total downtime.</a:t>
            </a:r>
          </a:p>
        </p:txBody>
      </p:sp>
    </p:spTree>
    <p:extLst>
      <p:ext uri="{BB962C8B-B14F-4D97-AF65-F5344CB8AC3E}">
        <p14:creationId xmlns:p14="http://schemas.microsoft.com/office/powerpoint/2010/main" val="39605782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04414-2B0E-D6D9-DBFC-0B66688215A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739D886E-41AC-48B4-EABA-846659CA9B88}"/>
              </a:ext>
            </a:extLst>
          </p:cNvPr>
          <p:cNvPicPr>
            <a:picLocks noChangeAspect="1"/>
          </p:cNvPicPr>
          <p:nvPr/>
        </p:nvPicPr>
        <p:blipFill>
          <a:blip r:embed="rId2">
            <a:alphaModFix amt="35000"/>
          </a:blip>
          <a:stretch>
            <a:fillRect/>
          </a:stretch>
        </p:blipFill>
        <p:spPr>
          <a:xfrm>
            <a:off x="-646110" y="-47382"/>
            <a:ext cx="12838110" cy="7209230"/>
          </a:xfrm>
          <a:prstGeom prst="rect">
            <a:avLst/>
          </a:prstGeom>
        </p:spPr>
      </p:pic>
      <p:sp>
        <p:nvSpPr>
          <p:cNvPr id="9" name="!!Products">
            <a:extLst>
              <a:ext uri="{FF2B5EF4-FFF2-40B4-BE49-F238E27FC236}">
                <a16:creationId xmlns:a16="http://schemas.microsoft.com/office/drawing/2014/main" id="{D5C64D87-4D32-5358-5EBB-B788A1B7B8D3}"/>
              </a:ext>
            </a:extLst>
          </p:cNvPr>
          <p:cNvSpPr/>
          <p:nvPr/>
        </p:nvSpPr>
        <p:spPr>
          <a:xfrm>
            <a:off x="0" y="4434840"/>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10" name="!!Operator">
            <a:extLst>
              <a:ext uri="{FF2B5EF4-FFF2-40B4-BE49-F238E27FC236}">
                <a16:creationId xmlns:a16="http://schemas.microsoft.com/office/drawing/2014/main" id="{FFC861CE-3066-DF7D-E2E9-EE12981E24F8}"/>
              </a:ext>
            </a:extLst>
          </p:cNvPr>
          <p:cNvSpPr/>
          <p:nvPr/>
        </p:nvSpPr>
        <p:spPr>
          <a:xfrm>
            <a:off x="455476" y="3324406"/>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11" name="!!DT">
            <a:extLst>
              <a:ext uri="{FF2B5EF4-FFF2-40B4-BE49-F238E27FC236}">
                <a16:creationId xmlns:a16="http://schemas.microsoft.com/office/drawing/2014/main" id="{5767A726-2CB3-F9BB-2FEC-B1CD543050F0}"/>
              </a:ext>
            </a:extLst>
          </p:cNvPr>
          <p:cNvSpPr/>
          <p:nvPr/>
        </p:nvSpPr>
        <p:spPr>
          <a:xfrm>
            <a:off x="455476" y="221397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12" name="!!PLP">
            <a:extLst>
              <a:ext uri="{FF2B5EF4-FFF2-40B4-BE49-F238E27FC236}">
                <a16:creationId xmlns:a16="http://schemas.microsoft.com/office/drawing/2014/main" id="{1DA3D318-C3FF-D570-E946-57EDD696F4EA}"/>
              </a:ext>
            </a:extLst>
          </p:cNvPr>
          <p:cNvSpPr/>
          <p:nvPr/>
        </p:nvSpPr>
        <p:spPr>
          <a:xfrm>
            <a:off x="457200" y="1106986"/>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13" name="!!Overview">
            <a:extLst>
              <a:ext uri="{FF2B5EF4-FFF2-40B4-BE49-F238E27FC236}">
                <a16:creationId xmlns:a16="http://schemas.microsoft.com/office/drawing/2014/main" id="{9AD94628-3AA3-2046-35EA-E835E6DE5997}"/>
              </a:ext>
            </a:extLst>
          </p:cNvPr>
          <p:cNvSpPr/>
          <p:nvPr/>
        </p:nvSpPr>
        <p:spPr>
          <a:xfrm>
            <a:off x="457200" y="0"/>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OVERVIEW</a:t>
            </a:r>
          </a:p>
        </p:txBody>
      </p:sp>
      <p:sp>
        <p:nvSpPr>
          <p:cNvPr id="2" name="!!pr1Freeform: Shape 24">
            <a:extLst>
              <a:ext uri="{FF2B5EF4-FFF2-40B4-BE49-F238E27FC236}">
                <a16:creationId xmlns:a16="http://schemas.microsoft.com/office/drawing/2014/main" id="{5FF2F443-121A-E3AB-7858-52E38CD87C97}"/>
              </a:ext>
            </a:extLst>
          </p:cNvPr>
          <p:cNvSpPr/>
          <p:nvPr/>
        </p:nvSpPr>
        <p:spPr>
          <a:xfrm>
            <a:off x="10819756"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3" name="Freeform: Shape 2">
            <a:extLst>
              <a:ext uri="{FF2B5EF4-FFF2-40B4-BE49-F238E27FC236}">
                <a16:creationId xmlns:a16="http://schemas.microsoft.com/office/drawing/2014/main" id="{77A2298F-3D9F-CB0D-FD64-368336EEF27D}"/>
              </a:ext>
            </a:extLst>
          </p:cNvPr>
          <p:cNvSpPr/>
          <p:nvPr/>
        </p:nvSpPr>
        <p:spPr>
          <a:xfrm>
            <a:off x="2878636"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factors cause the most downtime for each product?</a:t>
            </a:r>
          </a:p>
        </p:txBody>
      </p:sp>
      <p:sp>
        <p:nvSpPr>
          <p:cNvPr id="4" name="!!pr2Freeform: Shape 26">
            <a:extLst>
              <a:ext uri="{FF2B5EF4-FFF2-40B4-BE49-F238E27FC236}">
                <a16:creationId xmlns:a16="http://schemas.microsoft.com/office/drawing/2014/main" id="{25D483EF-5DB4-C311-A401-A2A82DB4139C}"/>
              </a:ext>
            </a:extLst>
          </p:cNvPr>
          <p:cNvSpPr/>
          <p:nvPr/>
        </p:nvSpPr>
        <p:spPr>
          <a:xfrm flipH="1">
            <a:off x="2878636"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5" name="Freeform: Shape 4">
            <a:extLst>
              <a:ext uri="{FF2B5EF4-FFF2-40B4-BE49-F238E27FC236}">
                <a16:creationId xmlns:a16="http://schemas.microsoft.com/office/drawing/2014/main" id="{1BFA1970-A922-96DE-5C62-20A7100AB502}"/>
              </a:ext>
            </a:extLst>
          </p:cNvPr>
          <p:cNvSpPr/>
          <p:nvPr/>
        </p:nvSpPr>
        <p:spPr>
          <a:xfrm flipH="1">
            <a:off x="3415482" y="2620414"/>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percentage of production time is lost to downtime for each product?</a:t>
            </a:r>
          </a:p>
        </p:txBody>
      </p:sp>
      <p:sp>
        <p:nvSpPr>
          <p:cNvPr id="6" name="!!prFreeform: Shape 28">
            <a:extLst>
              <a:ext uri="{FF2B5EF4-FFF2-40B4-BE49-F238E27FC236}">
                <a16:creationId xmlns:a16="http://schemas.microsoft.com/office/drawing/2014/main" id="{EA4E6B32-9E54-2B98-89B3-FB7CD2F78470}"/>
              </a:ext>
            </a:extLst>
          </p:cNvPr>
          <p:cNvSpPr/>
          <p:nvPr/>
        </p:nvSpPr>
        <p:spPr>
          <a:xfrm>
            <a:off x="10819756"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7" name="Freeform: Shape 6">
            <a:extLst>
              <a:ext uri="{FF2B5EF4-FFF2-40B4-BE49-F238E27FC236}">
                <a16:creationId xmlns:a16="http://schemas.microsoft.com/office/drawing/2014/main" id="{7A640B17-94C8-CB1E-83BE-E717FED88B90}"/>
              </a:ext>
            </a:extLst>
          </p:cNvPr>
          <p:cNvSpPr/>
          <p:nvPr/>
        </p:nvSpPr>
        <p:spPr>
          <a:xfrm>
            <a:off x="2891718"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affect each product the most?</a:t>
            </a:r>
          </a:p>
        </p:txBody>
      </p:sp>
      <p:sp>
        <p:nvSpPr>
          <p:cNvPr id="8" name="TextBox 7">
            <a:extLst>
              <a:ext uri="{FF2B5EF4-FFF2-40B4-BE49-F238E27FC236}">
                <a16:creationId xmlns:a16="http://schemas.microsoft.com/office/drawing/2014/main" id="{D2547FD6-A488-BDCE-CB2F-7F4DF3906362}"/>
              </a:ext>
            </a:extLst>
          </p:cNvPr>
          <p:cNvSpPr txBox="1"/>
          <p:nvPr/>
        </p:nvSpPr>
        <p:spPr>
          <a:xfrm>
            <a:off x="3440885" y="1759417"/>
            <a:ext cx="809389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factors that contribute the most downtime minutes for each product.</a:t>
            </a:r>
          </a:p>
        </p:txBody>
      </p:sp>
      <p:sp>
        <p:nvSpPr>
          <p:cNvPr id="14" name="TextBox 13">
            <a:extLst>
              <a:ext uri="{FF2B5EF4-FFF2-40B4-BE49-F238E27FC236}">
                <a16:creationId xmlns:a16="http://schemas.microsoft.com/office/drawing/2014/main" id="{1BBD5A0B-1493-3B76-32FB-C550594AC5D4}"/>
              </a:ext>
            </a:extLst>
          </p:cNvPr>
          <p:cNvSpPr txBox="1"/>
          <p:nvPr/>
        </p:nvSpPr>
        <p:spPr>
          <a:xfrm>
            <a:off x="3440885"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how much of each product’s available production time is consumed by downtime.</a:t>
            </a:r>
          </a:p>
        </p:txBody>
      </p:sp>
      <p:sp>
        <p:nvSpPr>
          <p:cNvPr id="15" name="TextBox 14">
            <a:extLst>
              <a:ext uri="{FF2B5EF4-FFF2-40B4-BE49-F238E27FC236}">
                <a16:creationId xmlns:a16="http://schemas.microsoft.com/office/drawing/2014/main" id="{6C13A5EE-93E0-B738-B125-8E9BC39109AE}"/>
              </a:ext>
            </a:extLst>
          </p:cNvPr>
          <p:cNvSpPr txBox="1"/>
          <p:nvPr/>
        </p:nvSpPr>
        <p:spPr>
          <a:xfrm>
            <a:off x="3440885" y="5838128"/>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each product and determine which downtime factors contribute the most to its total downtime.</a:t>
            </a:r>
          </a:p>
        </p:txBody>
      </p:sp>
      <p:sp>
        <p:nvSpPr>
          <p:cNvPr id="34" name="!!op1Freeform: Shape 24">
            <a:extLst>
              <a:ext uri="{FF2B5EF4-FFF2-40B4-BE49-F238E27FC236}">
                <a16:creationId xmlns:a16="http://schemas.microsoft.com/office/drawing/2014/main" id="{2E044A31-D507-143E-1B80-C0541307DE00}"/>
              </a:ext>
            </a:extLst>
          </p:cNvPr>
          <p:cNvSpPr/>
          <p:nvPr/>
        </p:nvSpPr>
        <p:spPr>
          <a:xfrm>
            <a:off x="20796326"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35" name="Freeform: Shape 34">
            <a:extLst>
              <a:ext uri="{FF2B5EF4-FFF2-40B4-BE49-F238E27FC236}">
                <a16:creationId xmlns:a16="http://schemas.microsoft.com/office/drawing/2014/main" id="{2E920BE8-240A-E21A-7565-0AB8EC7805A4}"/>
              </a:ext>
            </a:extLst>
          </p:cNvPr>
          <p:cNvSpPr/>
          <p:nvPr/>
        </p:nvSpPr>
        <p:spPr>
          <a:xfrm>
            <a:off x="12855206"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each operator’s efficiency score based on batches and downtime?</a:t>
            </a:r>
          </a:p>
        </p:txBody>
      </p:sp>
      <p:sp>
        <p:nvSpPr>
          <p:cNvPr id="36" name="!!op2Freeform: Shape 26">
            <a:extLst>
              <a:ext uri="{FF2B5EF4-FFF2-40B4-BE49-F238E27FC236}">
                <a16:creationId xmlns:a16="http://schemas.microsoft.com/office/drawing/2014/main" id="{D3ABA6B9-FD45-6BFE-9B41-EB69B1D21E81}"/>
              </a:ext>
            </a:extLst>
          </p:cNvPr>
          <p:cNvSpPr/>
          <p:nvPr/>
        </p:nvSpPr>
        <p:spPr>
          <a:xfrm flipH="1">
            <a:off x="12855206"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37" name="Freeform: Shape 36">
            <a:extLst>
              <a:ext uri="{FF2B5EF4-FFF2-40B4-BE49-F238E27FC236}">
                <a16:creationId xmlns:a16="http://schemas.microsoft.com/office/drawing/2014/main" id="{B75614C0-068B-BB72-A120-48E5B1FAE081}"/>
              </a:ext>
            </a:extLst>
          </p:cNvPr>
          <p:cNvSpPr/>
          <p:nvPr/>
        </p:nvSpPr>
        <p:spPr>
          <a:xfrm flipH="1">
            <a:off x="13392052" y="2620414"/>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is the most recurring downtime factor for each operator?</a:t>
            </a:r>
          </a:p>
        </p:txBody>
      </p:sp>
      <p:sp>
        <p:nvSpPr>
          <p:cNvPr id="38" name="!!op3Freeform: Shape 28">
            <a:extLst>
              <a:ext uri="{FF2B5EF4-FFF2-40B4-BE49-F238E27FC236}">
                <a16:creationId xmlns:a16="http://schemas.microsoft.com/office/drawing/2014/main" id="{E3D43864-A3E3-84EE-51A9-6F6F378736C2}"/>
              </a:ext>
            </a:extLst>
          </p:cNvPr>
          <p:cNvSpPr/>
          <p:nvPr/>
        </p:nvSpPr>
        <p:spPr>
          <a:xfrm>
            <a:off x="20796326"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39" name="Freeform: Shape 38">
            <a:extLst>
              <a:ext uri="{FF2B5EF4-FFF2-40B4-BE49-F238E27FC236}">
                <a16:creationId xmlns:a16="http://schemas.microsoft.com/office/drawing/2014/main" id="{DCA93214-FE25-33B0-C8BA-A2BD58DCF9D9}"/>
              </a:ext>
            </a:extLst>
          </p:cNvPr>
          <p:cNvSpPr/>
          <p:nvPr/>
        </p:nvSpPr>
        <p:spPr>
          <a:xfrm>
            <a:off x="12868288"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How much downtime does each operator have for each downtime factor?</a:t>
            </a:r>
          </a:p>
        </p:txBody>
      </p:sp>
      <p:sp>
        <p:nvSpPr>
          <p:cNvPr id="40" name="TextBox 39">
            <a:extLst>
              <a:ext uri="{FF2B5EF4-FFF2-40B4-BE49-F238E27FC236}">
                <a16:creationId xmlns:a16="http://schemas.microsoft.com/office/drawing/2014/main" id="{EC0AAB95-3275-A2F6-2BB9-1808A2D9DA6B}"/>
              </a:ext>
            </a:extLst>
          </p:cNvPr>
          <p:cNvSpPr txBox="1"/>
          <p:nvPr/>
        </p:nvSpPr>
        <p:spPr>
          <a:xfrm>
            <a:off x="13417455" y="175941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Evaluate operator efficiency by comparing batches handled, and downtime involvement.</a:t>
            </a:r>
          </a:p>
        </p:txBody>
      </p:sp>
      <p:sp>
        <p:nvSpPr>
          <p:cNvPr id="41" name="TextBox 40">
            <a:extLst>
              <a:ext uri="{FF2B5EF4-FFF2-40B4-BE49-F238E27FC236}">
                <a16:creationId xmlns:a16="http://schemas.microsoft.com/office/drawing/2014/main" id="{437E19C3-8F4F-883C-67CB-982EFABBBEF2}"/>
              </a:ext>
            </a:extLst>
          </p:cNvPr>
          <p:cNvSpPr txBox="1"/>
          <p:nvPr/>
        </p:nvSpPr>
        <p:spPr>
          <a:xfrm>
            <a:off x="13417455"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 most frequently associated with each operator.</a:t>
            </a:r>
          </a:p>
        </p:txBody>
      </p:sp>
      <p:sp>
        <p:nvSpPr>
          <p:cNvPr id="42" name="TextBox 41">
            <a:extLst>
              <a:ext uri="{FF2B5EF4-FFF2-40B4-BE49-F238E27FC236}">
                <a16:creationId xmlns:a16="http://schemas.microsoft.com/office/drawing/2014/main" id="{0A140828-E059-F462-B3EE-7D3C8F5A6D75}"/>
              </a:ext>
            </a:extLst>
          </p:cNvPr>
          <p:cNvSpPr txBox="1"/>
          <p:nvPr/>
        </p:nvSpPr>
        <p:spPr>
          <a:xfrm>
            <a:off x="13417455" y="5838128"/>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patterns linking operators to specific downtime factors to understand root causes and behavioral trends.</a:t>
            </a:r>
          </a:p>
        </p:txBody>
      </p:sp>
      <p:sp>
        <p:nvSpPr>
          <p:cNvPr id="43" name="Freeform: Shape 42">
            <a:extLst>
              <a:ext uri="{FF2B5EF4-FFF2-40B4-BE49-F238E27FC236}">
                <a16:creationId xmlns:a16="http://schemas.microsoft.com/office/drawing/2014/main" id="{1E90EB1E-E1EC-29E6-B895-C2798E4CEF91}"/>
              </a:ext>
            </a:extLst>
          </p:cNvPr>
          <p:cNvSpPr/>
          <p:nvPr/>
        </p:nvSpPr>
        <p:spPr>
          <a:xfrm>
            <a:off x="2249720" y="-2758073"/>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TextBox 43">
            <a:extLst>
              <a:ext uri="{FF2B5EF4-FFF2-40B4-BE49-F238E27FC236}">
                <a16:creationId xmlns:a16="http://schemas.microsoft.com/office/drawing/2014/main" id="{2F270AAF-C3AD-9278-7F06-C3C41032E2CF}"/>
              </a:ext>
            </a:extLst>
          </p:cNvPr>
          <p:cNvSpPr txBox="1"/>
          <p:nvPr/>
        </p:nvSpPr>
        <p:spPr>
          <a:xfrm>
            <a:off x="2423897" y="-2311983"/>
            <a:ext cx="7692560" cy="646331"/>
          </a:xfrm>
          <a:prstGeom prst="rect">
            <a:avLst/>
          </a:prstGeom>
          <a:noFill/>
        </p:spPr>
        <p:txBody>
          <a:bodyPr wrap="square" rtlCol="0">
            <a:spAutoFit/>
          </a:bodyPr>
          <a:lstStyle/>
          <a:p>
            <a:r>
              <a:rPr lang="en-US" sz="3600" b="1" dirty="0"/>
              <a:t>SAMPLE OF ANALYSIS QUESTIONS</a:t>
            </a:r>
          </a:p>
        </p:txBody>
      </p:sp>
    </p:spTree>
    <p:extLst>
      <p:ext uri="{BB962C8B-B14F-4D97-AF65-F5344CB8AC3E}">
        <p14:creationId xmlns:p14="http://schemas.microsoft.com/office/powerpoint/2010/main" val="15367543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BEFC01-D395-BCFB-06DA-786D1C38CED8}"/>
              </a:ext>
            </a:extLst>
          </p:cNvPr>
          <p:cNvPicPr>
            <a:picLocks noChangeAspect="1"/>
          </p:cNvPicPr>
          <p:nvPr/>
        </p:nvPicPr>
        <p:blipFill>
          <a:blip r:embed="rId2">
            <a:alphaModFix amt="35000"/>
          </a:blip>
          <a:stretch>
            <a:fillRect/>
          </a:stretch>
        </p:blipFill>
        <p:spPr>
          <a:xfrm>
            <a:off x="0" y="-1"/>
            <a:ext cx="12261475" cy="6885421"/>
          </a:xfrm>
          <a:prstGeom prst="rect">
            <a:avLst/>
          </a:prstGeom>
        </p:spPr>
      </p:pic>
      <p:sp>
        <p:nvSpPr>
          <p:cNvPr id="53" name="Freeform: Shape 52">
            <a:extLst>
              <a:ext uri="{FF2B5EF4-FFF2-40B4-BE49-F238E27FC236}">
                <a16:creationId xmlns:a16="http://schemas.microsoft.com/office/drawing/2014/main" id="{E0F3A140-288C-2FD1-9E78-3EF7CD086E69}"/>
              </a:ext>
            </a:extLst>
          </p:cNvPr>
          <p:cNvSpPr/>
          <p:nvPr/>
        </p:nvSpPr>
        <p:spPr>
          <a:xfrm>
            <a:off x="2249720" y="18144"/>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TextBox 54">
            <a:extLst>
              <a:ext uri="{FF2B5EF4-FFF2-40B4-BE49-F238E27FC236}">
                <a16:creationId xmlns:a16="http://schemas.microsoft.com/office/drawing/2014/main" id="{145E2F0B-D750-38F6-BE47-5FE3B5C61653}"/>
              </a:ext>
            </a:extLst>
          </p:cNvPr>
          <p:cNvSpPr txBox="1"/>
          <p:nvPr/>
        </p:nvSpPr>
        <p:spPr>
          <a:xfrm>
            <a:off x="2423897" y="464234"/>
            <a:ext cx="7692560" cy="646331"/>
          </a:xfrm>
          <a:prstGeom prst="rect">
            <a:avLst/>
          </a:prstGeom>
          <a:noFill/>
        </p:spPr>
        <p:txBody>
          <a:bodyPr wrap="square" rtlCol="0">
            <a:spAutoFit/>
          </a:bodyPr>
          <a:lstStyle/>
          <a:p>
            <a:r>
              <a:rPr lang="en-US" sz="3600" b="1" dirty="0"/>
              <a:t>SAMPLE OF ANALYSIS QUESTIONS</a:t>
            </a:r>
          </a:p>
        </p:txBody>
      </p:sp>
      <p:sp>
        <p:nvSpPr>
          <p:cNvPr id="59" name="TextBox 58">
            <a:extLst>
              <a:ext uri="{FF2B5EF4-FFF2-40B4-BE49-F238E27FC236}">
                <a16:creationId xmlns:a16="http://schemas.microsoft.com/office/drawing/2014/main" id="{8FB0258B-6415-BDC9-487D-3135E85BC037}"/>
              </a:ext>
            </a:extLst>
          </p:cNvPr>
          <p:cNvSpPr txBox="1"/>
          <p:nvPr/>
        </p:nvSpPr>
        <p:spPr>
          <a:xfrm>
            <a:off x="3231702" y="1651005"/>
            <a:ext cx="6076950" cy="646331"/>
          </a:xfrm>
          <a:prstGeom prst="rect">
            <a:avLst/>
          </a:prstGeom>
          <a:noFill/>
        </p:spPr>
        <p:txBody>
          <a:bodyPr wrap="square" rtlCol="0">
            <a:spAutoFit/>
          </a:bodyPr>
          <a:lstStyle/>
          <a:p>
            <a:r>
              <a:rPr lang="en-US" sz="3600" b="1" dirty="0"/>
              <a:t>What is the total downtime?</a:t>
            </a:r>
          </a:p>
        </p:txBody>
      </p:sp>
      <p:grpSp>
        <p:nvGrpSpPr>
          <p:cNvPr id="65" name="Group 64">
            <a:extLst>
              <a:ext uri="{FF2B5EF4-FFF2-40B4-BE49-F238E27FC236}">
                <a16:creationId xmlns:a16="http://schemas.microsoft.com/office/drawing/2014/main" id="{3A590938-7D5B-FF42-1509-9BA6AC80BA9B}"/>
              </a:ext>
            </a:extLst>
          </p:cNvPr>
          <p:cNvGrpSpPr/>
          <p:nvPr/>
        </p:nvGrpSpPr>
        <p:grpSpPr>
          <a:xfrm>
            <a:off x="1178526" y="2667000"/>
            <a:ext cx="4554986" cy="1475474"/>
            <a:chOff x="426590" y="2667000"/>
            <a:chExt cx="4554986" cy="1475474"/>
          </a:xfrm>
          <a:effectLst>
            <a:outerShdw blurRad="482600" dist="38100" dir="8100000" algn="tr" rotWithShape="0">
              <a:prstClr val="black">
                <a:alpha val="40000"/>
              </a:prstClr>
            </a:outerShdw>
          </a:effectLst>
        </p:grpSpPr>
        <p:pic>
          <p:nvPicPr>
            <p:cNvPr id="61" name="Picture 60">
              <a:extLst>
                <a:ext uri="{FF2B5EF4-FFF2-40B4-BE49-F238E27FC236}">
                  <a16:creationId xmlns:a16="http://schemas.microsoft.com/office/drawing/2014/main" id="{D561558E-6E86-F008-0D2C-4A59658AB9C2}"/>
                </a:ext>
              </a:extLst>
            </p:cNvPr>
            <p:cNvPicPr>
              <a:picLocks noChangeAspect="1"/>
            </p:cNvPicPr>
            <p:nvPr/>
          </p:nvPicPr>
          <p:blipFill>
            <a:blip r:embed="rId3"/>
            <a:srcRect r="18809"/>
            <a:stretch>
              <a:fillRect/>
            </a:stretch>
          </p:blipFill>
          <p:spPr>
            <a:xfrm>
              <a:off x="426590" y="2667000"/>
              <a:ext cx="4554986" cy="762000"/>
            </a:xfrm>
            <a:prstGeom prst="rect">
              <a:avLst/>
            </a:prstGeom>
          </p:spPr>
        </p:pic>
        <p:pic>
          <p:nvPicPr>
            <p:cNvPr id="63" name="Picture 62">
              <a:extLst>
                <a:ext uri="{FF2B5EF4-FFF2-40B4-BE49-F238E27FC236}">
                  <a16:creationId xmlns:a16="http://schemas.microsoft.com/office/drawing/2014/main" id="{D1FDF550-DA02-B899-E595-FB1833837B9C}"/>
                </a:ext>
              </a:extLst>
            </p:cNvPr>
            <p:cNvPicPr>
              <a:picLocks noChangeAspect="1"/>
            </p:cNvPicPr>
            <p:nvPr/>
          </p:nvPicPr>
          <p:blipFill>
            <a:blip r:embed="rId4"/>
            <a:stretch>
              <a:fillRect/>
            </a:stretch>
          </p:blipFill>
          <p:spPr>
            <a:xfrm>
              <a:off x="449495" y="3609074"/>
              <a:ext cx="3600450" cy="533400"/>
            </a:xfrm>
            <a:prstGeom prst="rect">
              <a:avLst/>
            </a:prstGeom>
          </p:spPr>
        </p:pic>
      </p:grpSp>
      <p:pic>
        <p:nvPicPr>
          <p:cNvPr id="67" name="Picture 66">
            <a:extLst>
              <a:ext uri="{FF2B5EF4-FFF2-40B4-BE49-F238E27FC236}">
                <a16:creationId xmlns:a16="http://schemas.microsoft.com/office/drawing/2014/main" id="{CF02CDE7-947B-D5F2-9751-2D3F643A09EC}"/>
              </a:ext>
            </a:extLst>
          </p:cNvPr>
          <p:cNvPicPr>
            <a:picLocks noChangeAspect="1"/>
          </p:cNvPicPr>
          <p:nvPr/>
        </p:nvPicPr>
        <p:blipFill>
          <a:blip r:embed="rId5"/>
          <a:stretch>
            <a:fillRect/>
          </a:stretch>
        </p:blipFill>
        <p:spPr>
          <a:xfrm>
            <a:off x="6876076" y="2667000"/>
            <a:ext cx="4791075" cy="1095375"/>
          </a:xfrm>
          <a:prstGeom prst="rect">
            <a:avLst/>
          </a:prstGeom>
          <a:effectLst>
            <a:outerShdw blurRad="482600" dist="38100" dir="8100000" algn="t" rotWithShape="0">
              <a:prstClr val="black">
                <a:alpha val="40000"/>
              </a:prstClr>
            </a:outerShdw>
          </a:effectLst>
        </p:spPr>
      </p:pic>
      <p:sp>
        <p:nvSpPr>
          <p:cNvPr id="71" name="!!Products">
            <a:extLst>
              <a:ext uri="{FF2B5EF4-FFF2-40B4-BE49-F238E27FC236}">
                <a16:creationId xmlns:a16="http://schemas.microsoft.com/office/drawing/2014/main" id="{1AB60971-C3EC-F940-A725-EA7F0B774A4C}"/>
              </a:ext>
            </a:extLst>
          </p:cNvPr>
          <p:cNvSpPr/>
          <p:nvPr/>
        </p:nvSpPr>
        <p:spPr>
          <a:xfrm>
            <a:off x="-3924300" y="4434840"/>
            <a:ext cx="2423160" cy="24231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venir Next LT Pro" panose="020B0504020202020204" pitchFamily="34" charset="0"/>
              </a:rPr>
              <a:t>PRODUCTS</a:t>
            </a:r>
          </a:p>
        </p:txBody>
      </p:sp>
      <p:sp>
        <p:nvSpPr>
          <p:cNvPr id="72" name="!!Operator">
            <a:extLst>
              <a:ext uri="{FF2B5EF4-FFF2-40B4-BE49-F238E27FC236}">
                <a16:creationId xmlns:a16="http://schemas.microsoft.com/office/drawing/2014/main" id="{E08C5B26-303D-BFB3-412F-E8A04FA6D062}"/>
              </a:ext>
            </a:extLst>
          </p:cNvPr>
          <p:cNvSpPr/>
          <p:nvPr/>
        </p:nvSpPr>
        <p:spPr>
          <a:xfrm>
            <a:off x="-3468824" y="3324406"/>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OPERATOR</a:t>
            </a:r>
          </a:p>
        </p:txBody>
      </p:sp>
      <p:sp>
        <p:nvSpPr>
          <p:cNvPr id="73" name="!!DT">
            <a:extLst>
              <a:ext uri="{FF2B5EF4-FFF2-40B4-BE49-F238E27FC236}">
                <a16:creationId xmlns:a16="http://schemas.microsoft.com/office/drawing/2014/main" id="{BC22D762-434D-40D4-ED02-E5C62FE7577F}"/>
              </a:ext>
            </a:extLst>
          </p:cNvPr>
          <p:cNvSpPr/>
          <p:nvPr/>
        </p:nvSpPr>
        <p:spPr>
          <a:xfrm>
            <a:off x="-3468824" y="2213972"/>
            <a:ext cx="1512208" cy="1512208"/>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DOWNTIME FACTORS</a:t>
            </a:r>
          </a:p>
        </p:txBody>
      </p:sp>
      <p:sp>
        <p:nvSpPr>
          <p:cNvPr id="74" name="!!PLP">
            <a:extLst>
              <a:ext uri="{FF2B5EF4-FFF2-40B4-BE49-F238E27FC236}">
                <a16:creationId xmlns:a16="http://schemas.microsoft.com/office/drawing/2014/main" id="{57EAD460-D9B6-A044-727D-B695316F047A}"/>
              </a:ext>
            </a:extLst>
          </p:cNvPr>
          <p:cNvSpPr/>
          <p:nvPr/>
        </p:nvSpPr>
        <p:spPr>
          <a:xfrm>
            <a:off x="-3467100" y="1106986"/>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PRODUCTION LINE PERFORMANCE</a:t>
            </a:r>
          </a:p>
        </p:txBody>
      </p:sp>
      <p:sp>
        <p:nvSpPr>
          <p:cNvPr id="75" name="!!Overview">
            <a:extLst>
              <a:ext uri="{FF2B5EF4-FFF2-40B4-BE49-F238E27FC236}">
                <a16:creationId xmlns:a16="http://schemas.microsoft.com/office/drawing/2014/main" id="{50FBFF71-B0AA-BEAF-40ED-01474B31E402}"/>
              </a:ext>
            </a:extLst>
          </p:cNvPr>
          <p:cNvSpPr/>
          <p:nvPr/>
        </p:nvSpPr>
        <p:spPr>
          <a:xfrm>
            <a:off x="-3467100" y="0"/>
            <a:ext cx="1508760" cy="1508760"/>
          </a:xfrm>
          <a:prstGeom prst="ellipse">
            <a:avLst/>
          </a:pr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venir Next LT Pro" panose="020B0504020202020204" pitchFamily="34" charset="0"/>
              </a:rPr>
              <a:t>OVERVIEW</a:t>
            </a:r>
          </a:p>
        </p:txBody>
      </p:sp>
      <p:sp>
        <p:nvSpPr>
          <p:cNvPr id="76" name="!!pr1Freeform: Shape 24">
            <a:extLst>
              <a:ext uri="{FF2B5EF4-FFF2-40B4-BE49-F238E27FC236}">
                <a16:creationId xmlns:a16="http://schemas.microsoft.com/office/drawing/2014/main" id="{A7E2F18A-8A3A-C8A0-072E-012E8DC5297A}"/>
              </a:ext>
            </a:extLst>
          </p:cNvPr>
          <p:cNvSpPr/>
          <p:nvPr/>
        </p:nvSpPr>
        <p:spPr>
          <a:xfrm>
            <a:off x="20954356" y="459242"/>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77" name="Freeform: Shape 76">
            <a:extLst>
              <a:ext uri="{FF2B5EF4-FFF2-40B4-BE49-F238E27FC236}">
                <a16:creationId xmlns:a16="http://schemas.microsoft.com/office/drawing/2014/main" id="{A5ADD412-A0E2-6634-52AB-5CDCE6E2F266}"/>
              </a:ext>
            </a:extLst>
          </p:cNvPr>
          <p:cNvSpPr/>
          <p:nvPr/>
        </p:nvSpPr>
        <p:spPr>
          <a:xfrm>
            <a:off x="13013236" y="459242"/>
            <a:ext cx="7941120"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factors cause the most downtime for each product?</a:t>
            </a:r>
          </a:p>
        </p:txBody>
      </p:sp>
      <p:sp>
        <p:nvSpPr>
          <p:cNvPr id="78" name="!!pr2Freeform: Shape 26">
            <a:extLst>
              <a:ext uri="{FF2B5EF4-FFF2-40B4-BE49-F238E27FC236}">
                <a16:creationId xmlns:a16="http://schemas.microsoft.com/office/drawing/2014/main" id="{863E13AF-04A9-2E33-8160-BE7A02D51066}"/>
              </a:ext>
            </a:extLst>
          </p:cNvPr>
          <p:cNvSpPr/>
          <p:nvPr/>
        </p:nvSpPr>
        <p:spPr>
          <a:xfrm flipH="1">
            <a:off x="13013236" y="2620414"/>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79" name="Freeform: Shape 78">
            <a:extLst>
              <a:ext uri="{FF2B5EF4-FFF2-40B4-BE49-F238E27FC236}">
                <a16:creationId xmlns:a16="http://schemas.microsoft.com/office/drawing/2014/main" id="{96BED2D8-E8F5-8FAD-55FB-919103009D1A}"/>
              </a:ext>
            </a:extLst>
          </p:cNvPr>
          <p:cNvSpPr/>
          <p:nvPr/>
        </p:nvSpPr>
        <p:spPr>
          <a:xfrm flipH="1">
            <a:off x="13550082" y="2620414"/>
            <a:ext cx="7941121"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What percentage of production time is lost to downtime for each product?</a:t>
            </a:r>
          </a:p>
        </p:txBody>
      </p:sp>
      <p:sp>
        <p:nvSpPr>
          <p:cNvPr id="80" name="!!prFreeform: Shape 28">
            <a:extLst>
              <a:ext uri="{FF2B5EF4-FFF2-40B4-BE49-F238E27FC236}">
                <a16:creationId xmlns:a16="http://schemas.microsoft.com/office/drawing/2014/main" id="{12C7FB52-8CAB-B89F-9C85-FA6A51AD6791}"/>
              </a:ext>
            </a:extLst>
          </p:cNvPr>
          <p:cNvSpPr/>
          <p:nvPr/>
        </p:nvSpPr>
        <p:spPr>
          <a:xfrm>
            <a:off x="20954356" y="4604490"/>
            <a:ext cx="536849" cy="1049518"/>
          </a:xfrm>
          <a:custGeom>
            <a:avLst/>
            <a:gdLst>
              <a:gd name="connsiteX0" fmla="*/ 0 w 536849"/>
              <a:gd name="connsiteY0" fmla="*/ 0 h 1681864"/>
              <a:gd name="connsiteX1" fmla="*/ 205740 w 536849"/>
              <a:gd name="connsiteY1" fmla="*/ 0 h 1681864"/>
              <a:gd name="connsiteX2" fmla="*/ 536849 w 536849"/>
              <a:gd name="connsiteY2" fmla="*/ 331109 h 1681864"/>
              <a:gd name="connsiteX3" fmla="*/ 536849 w 536849"/>
              <a:gd name="connsiteY3" fmla="*/ 1350755 h 1681864"/>
              <a:gd name="connsiteX4" fmla="*/ 205740 w 536849"/>
              <a:gd name="connsiteY4" fmla="*/ 1681864 h 1681864"/>
              <a:gd name="connsiteX5" fmla="*/ 0 w 536849"/>
              <a:gd name="connsiteY5" fmla="*/ 1681864 h 1681864"/>
              <a:gd name="connsiteX6" fmla="*/ 0 w 536849"/>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849" h="1681864">
                <a:moveTo>
                  <a:pt x="0" y="0"/>
                </a:moveTo>
                <a:lnTo>
                  <a:pt x="205740" y="0"/>
                </a:lnTo>
                <a:cubicBezTo>
                  <a:pt x="388606" y="0"/>
                  <a:pt x="536849" y="148243"/>
                  <a:pt x="536849" y="331109"/>
                </a:cubicBezTo>
                <a:lnTo>
                  <a:pt x="536849" y="1350755"/>
                </a:lnTo>
                <a:cubicBezTo>
                  <a:pt x="536849" y="1533621"/>
                  <a:pt x="388606" y="1681864"/>
                  <a:pt x="205740" y="1681864"/>
                </a:cubicBezTo>
                <a:lnTo>
                  <a:pt x="0" y="1681864"/>
                </a:lnTo>
                <a:lnTo>
                  <a:pt x="0" y="0"/>
                </a:lnTo>
                <a:close/>
              </a:path>
            </a:pathLst>
          </a:custGeom>
          <a:gradFill>
            <a:gsLst>
              <a:gs pos="7000">
                <a:srgbClr val="3B507D"/>
              </a:gs>
              <a:gs pos="80000">
                <a:srgbClr val="112250"/>
              </a:gs>
            </a:gsLst>
            <a:lin ang="5400000" scaled="0"/>
          </a:gra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81" name="Freeform: Shape 80">
            <a:extLst>
              <a:ext uri="{FF2B5EF4-FFF2-40B4-BE49-F238E27FC236}">
                <a16:creationId xmlns:a16="http://schemas.microsoft.com/office/drawing/2014/main" id="{3BCD324A-3CB5-E0D4-13DA-57573C3440AD}"/>
              </a:ext>
            </a:extLst>
          </p:cNvPr>
          <p:cNvSpPr/>
          <p:nvPr/>
        </p:nvSpPr>
        <p:spPr>
          <a:xfrm>
            <a:off x="13026318" y="4604490"/>
            <a:ext cx="7928038" cy="1049518"/>
          </a:xfrm>
          <a:custGeom>
            <a:avLst/>
            <a:gdLst>
              <a:gd name="connsiteX0" fmla="*/ 331109 w 6015512"/>
              <a:gd name="connsiteY0" fmla="*/ 0 h 1681864"/>
              <a:gd name="connsiteX1" fmla="*/ 6015512 w 6015512"/>
              <a:gd name="connsiteY1" fmla="*/ 0 h 1681864"/>
              <a:gd name="connsiteX2" fmla="*/ 6015512 w 6015512"/>
              <a:gd name="connsiteY2" fmla="*/ 1681864 h 1681864"/>
              <a:gd name="connsiteX3" fmla="*/ 331109 w 6015512"/>
              <a:gd name="connsiteY3" fmla="*/ 1681864 h 1681864"/>
              <a:gd name="connsiteX4" fmla="*/ 0 w 6015512"/>
              <a:gd name="connsiteY4" fmla="*/ 1350755 h 1681864"/>
              <a:gd name="connsiteX5" fmla="*/ 0 w 6015512"/>
              <a:gd name="connsiteY5" fmla="*/ 331109 h 1681864"/>
              <a:gd name="connsiteX6" fmla="*/ 331109 w 6015512"/>
              <a:gd name="connsiteY6" fmla="*/ 0 h 168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5512" h="1681864">
                <a:moveTo>
                  <a:pt x="331109" y="0"/>
                </a:moveTo>
                <a:lnTo>
                  <a:pt x="6015512" y="0"/>
                </a:lnTo>
                <a:lnTo>
                  <a:pt x="6015512" y="1681864"/>
                </a:lnTo>
                <a:lnTo>
                  <a:pt x="331109" y="1681864"/>
                </a:lnTo>
                <a:cubicBezTo>
                  <a:pt x="148243" y="1681864"/>
                  <a:pt x="0" y="1533621"/>
                  <a:pt x="0" y="1350755"/>
                </a:cubicBezTo>
                <a:lnTo>
                  <a:pt x="0" y="331109"/>
                </a:lnTo>
                <a:cubicBezTo>
                  <a:pt x="0" y="148243"/>
                  <a:pt x="148243" y="0"/>
                  <a:pt x="331109" y="0"/>
                </a:cubicBezTo>
                <a:close/>
              </a:path>
            </a:pathLst>
          </a:custGeom>
          <a:gradFill>
            <a:gsLst>
              <a:gs pos="100000">
                <a:srgbClr val="E0C58E"/>
              </a:gs>
              <a:gs pos="0">
                <a:srgbClr val="FFFFFF">
                  <a:lumMod val="0"/>
                  <a:lumOff val="10000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Which downtime factors affect each product the most?</a:t>
            </a:r>
          </a:p>
        </p:txBody>
      </p:sp>
      <p:sp>
        <p:nvSpPr>
          <p:cNvPr id="82" name="TextBox 81">
            <a:extLst>
              <a:ext uri="{FF2B5EF4-FFF2-40B4-BE49-F238E27FC236}">
                <a16:creationId xmlns:a16="http://schemas.microsoft.com/office/drawing/2014/main" id="{956F914E-F582-9B85-1B5D-BBFB49B459C1}"/>
              </a:ext>
            </a:extLst>
          </p:cNvPr>
          <p:cNvSpPr txBox="1"/>
          <p:nvPr/>
        </p:nvSpPr>
        <p:spPr>
          <a:xfrm>
            <a:off x="13575485" y="1759417"/>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Identify the downtime factors that contribute the most downtime minutes for each product.</a:t>
            </a:r>
          </a:p>
        </p:txBody>
      </p:sp>
      <p:sp>
        <p:nvSpPr>
          <p:cNvPr id="83" name="TextBox 82">
            <a:extLst>
              <a:ext uri="{FF2B5EF4-FFF2-40B4-BE49-F238E27FC236}">
                <a16:creationId xmlns:a16="http://schemas.microsoft.com/office/drawing/2014/main" id="{AF47CED4-5AEC-C2AA-2711-2A5716BC084D}"/>
              </a:ext>
            </a:extLst>
          </p:cNvPr>
          <p:cNvSpPr txBox="1"/>
          <p:nvPr/>
        </p:nvSpPr>
        <p:spPr>
          <a:xfrm>
            <a:off x="13575485" y="3882456"/>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Calculate how much of each product’s available production time is consumed by downtime.</a:t>
            </a:r>
          </a:p>
        </p:txBody>
      </p:sp>
      <p:sp>
        <p:nvSpPr>
          <p:cNvPr id="84" name="TextBox 83">
            <a:extLst>
              <a:ext uri="{FF2B5EF4-FFF2-40B4-BE49-F238E27FC236}">
                <a16:creationId xmlns:a16="http://schemas.microsoft.com/office/drawing/2014/main" id="{65BC2B71-F619-DAB1-AB66-3CED7DDDBA86}"/>
              </a:ext>
            </a:extLst>
          </p:cNvPr>
          <p:cNvSpPr txBox="1"/>
          <p:nvPr/>
        </p:nvSpPr>
        <p:spPr>
          <a:xfrm>
            <a:off x="13575485" y="5838128"/>
            <a:ext cx="794112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Analyze each product and determine which downtime factors contribute the most to its total downtime.</a:t>
            </a:r>
          </a:p>
        </p:txBody>
      </p:sp>
      <p:sp>
        <p:nvSpPr>
          <p:cNvPr id="87" name="TextBox 86">
            <a:extLst>
              <a:ext uri="{FF2B5EF4-FFF2-40B4-BE49-F238E27FC236}">
                <a16:creationId xmlns:a16="http://schemas.microsoft.com/office/drawing/2014/main" id="{9669465E-A16D-D173-8C8E-2379D77DBADC}"/>
              </a:ext>
            </a:extLst>
          </p:cNvPr>
          <p:cNvSpPr txBox="1"/>
          <p:nvPr/>
        </p:nvSpPr>
        <p:spPr>
          <a:xfrm>
            <a:off x="669203" y="4375999"/>
            <a:ext cx="1121223" cy="369332"/>
          </a:xfrm>
          <a:prstGeom prst="rect">
            <a:avLst/>
          </a:prstGeom>
          <a:noFill/>
        </p:spPr>
        <p:txBody>
          <a:bodyPr wrap="square" rtlCol="0">
            <a:spAutoFit/>
          </a:bodyPr>
          <a:lstStyle/>
          <a:p>
            <a:r>
              <a:rPr lang="en-US" b="1" dirty="0"/>
              <a:t>Insight</a:t>
            </a:r>
          </a:p>
        </p:txBody>
      </p:sp>
      <p:sp>
        <p:nvSpPr>
          <p:cNvPr id="88" name="TextBox 87">
            <a:extLst>
              <a:ext uri="{FF2B5EF4-FFF2-40B4-BE49-F238E27FC236}">
                <a16:creationId xmlns:a16="http://schemas.microsoft.com/office/drawing/2014/main" id="{0421CB09-E793-0DF1-C7BB-8DE94BFA0E48}"/>
              </a:ext>
            </a:extLst>
          </p:cNvPr>
          <p:cNvSpPr txBox="1"/>
          <p:nvPr/>
        </p:nvSpPr>
        <p:spPr>
          <a:xfrm>
            <a:off x="669203" y="4745331"/>
            <a:ext cx="10853594" cy="646331"/>
          </a:xfrm>
          <a:prstGeom prst="rect">
            <a:avLst/>
          </a:prstGeom>
          <a:noFill/>
        </p:spPr>
        <p:txBody>
          <a:bodyPr wrap="square" rtlCol="0">
            <a:spAutoFit/>
          </a:bodyPr>
          <a:lstStyle/>
          <a:p>
            <a:r>
              <a:rPr lang="en-US" dirty="0"/>
              <a:t>The line accumulated 1,388 minutes of downtime, equivalent to nearly an entire production day, showing the importance of mitigating recurring downtime causes.</a:t>
            </a:r>
          </a:p>
        </p:txBody>
      </p:sp>
    </p:spTree>
    <p:extLst>
      <p:ext uri="{BB962C8B-B14F-4D97-AF65-F5344CB8AC3E}">
        <p14:creationId xmlns:p14="http://schemas.microsoft.com/office/powerpoint/2010/main" val="42248021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500"/>
                                        <p:tgtEl>
                                          <p:spTgt spid="8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87" grpId="0"/>
      <p:bldP spid="8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B8E4-2F81-BF88-CC3D-8D5ACD8519C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12039E3-72DB-2F45-0B9C-018660317D60}"/>
              </a:ext>
            </a:extLst>
          </p:cNvPr>
          <p:cNvPicPr>
            <a:picLocks noChangeAspect="1"/>
          </p:cNvPicPr>
          <p:nvPr/>
        </p:nvPicPr>
        <p:blipFill>
          <a:blip r:embed="rId2">
            <a:alphaModFix amt="35000"/>
          </a:blip>
          <a:stretch>
            <a:fillRect/>
          </a:stretch>
        </p:blipFill>
        <p:spPr>
          <a:xfrm>
            <a:off x="0" y="-1"/>
            <a:ext cx="12261475" cy="6885421"/>
          </a:xfrm>
          <a:prstGeom prst="rect">
            <a:avLst/>
          </a:prstGeom>
        </p:spPr>
      </p:pic>
      <p:sp>
        <p:nvSpPr>
          <p:cNvPr id="53" name="Freeform: Shape 52">
            <a:extLst>
              <a:ext uri="{FF2B5EF4-FFF2-40B4-BE49-F238E27FC236}">
                <a16:creationId xmlns:a16="http://schemas.microsoft.com/office/drawing/2014/main" id="{1E50EEB5-442C-052D-D415-8148AC81CE5A}"/>
              </a:ext>
            </a:extLst>
          </p:cNvPr>
          <p:cNvSpPr/>
          <p:nvPr/>
        </p:nvSpPr>
        <p:spPr>
          <a:xfrm>
            <a:off x="2249720" y="18144"/>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TextBox 54">
            <a:extLst>
              <a:ext uri="{FF2B5EF4-FFF2-40B4-BE49-F238E27FC236}">
                <a16:creationId xmlns:a16="http://schemas.microsoft.com/office/drawing/2014/main" id="{4C0E90E6-C9C9-39CA-DF46-65A168CE4F91}"/>
              </a:ext>
            </a:extLst>
          </p:cNvPr>
          <p:cNvSpPr txBox="1"/>
          <p:nvPr/>
        </p:nvSpPr>
        <p:spPr>
          <a:xfrm>
            <a:off x="2423897" y="464234"/>
            <a:ext cx="7692560" cy="646331"/>
          </a:xfrm>
          <a:prstGeom prst="rect">
            <a:avLst/>
          </a:prstGeom>
          <a:noFill/>
        </p:spPr>
        <p:txBody>
          <a:bodyPr wrap="square" rtlCol="0">
            <a:spAutoFit/>
          </a:bodyPr>
          <a:lstStyle/>
          <a:p>
            <a:r>
              <a:rPr lang="en-US" sz="3600" b="1" dirty="0"/>
              <a:t>SAMPLE OF ANALYSIS QUESTIONS</a:t>
            </a:r>
          </a:p>
        </p:txBody>
      </p:sp>
      <p:sp>
        <p:nvSpPr>
          <p:cNvPr id="3" name="TextBox 2">
            <a:extLst>
              <a:ext uri="{FF2B5EF4-FFF2-40B4-BE49-F238E27FC236}">
                <a16:creationId xmlns:a16="http://schemas.microsoft.com/office/drawing/2014/main" id="{F5A64BEE-B6FC-40A8-5278-D66A539D6B59}"/>
              </a:ext>
            </a:extLst>
          </p:cNvPr>
          <p:cNvSpPr txBox="1"/>
          <p:nvPr/>
        </p:nvSpPr>
        <p:spPr>
          <a:xfrm>
            <a:off x="1184275" y="1600641"/>
            <a:ext cx="9823450" cy="461665"/>
          </a:xfrm>
          <a:prstGeom prst="rect">
            <a:avLst/>
          </a:prstGeom>
          <a:noFill/>
        </p:spPr>
        <p:txBody>
          <a:bodyPr wrap="square" rtlCol="0">
            <a:spAutoFit/>
          </a:bodyPr>
          <a:lstStyle/>
          <a:p>
            <a:pPr algn="ctr"/>
            <a:r>
              <a:rPr lang="en-US" sz="2400" b="1" dirty="0"/>
              <a:t>Which downtime factors account for at least 80% of total downtime?</a:t>
            </a:r>
          </a:p>
        </p:txBody>
      </p:sp>
      <p:pic>
        <p:nvPicPr>
          <p:cNvPr id="9" name="Picture 8">
            <a:extLst>
              <a:ext uri="{FF2B5EF4-FFF2-40B4-BE49-F238E27FC236}">
                <a16:creationId xmlns:a16="http://schemas.microsoft.com/office/drawing/2014/main" id="{3D21F25F-D21E-A6ED-B7EE-56E487B976FF}"/>
              </a:ext>
            </a:extLst>
          </p:cNvPr>
          <p:cNvPicPr>
            <a:picLocks noChangeAspect="1"/>
          </p:cNvPicPr>
          <p:nvPr/>
        </p:nvPicPr>
        <p:blipFill>
          <a:blip r:embed="rId3"/>
          <a:srcRect r="3752"/>
          <a:stretch>
            <a:fillRect/>
          </a:stretch>
        </p:blipFill>
        <p:spPr>
          <a:xfrm>
            <a:off x="1178526" y="2052781"/>
            <a:ext cx="4095331" cy="1902913"/>
          </a:xfrm>
          <a:prstGeom prst="rect">
            <a:avLst/>
          </a:prstGeom>
          <a:effectLst>
            <a:outerShdw blurRad="482600" dist="38100" dir="8100000" algn="t" rotWithShape="0">
              <a:prstClr val="black">
                <a:alpha val="40000"/>
              </a:prstClr>
            </a:outerShdw>
          </a:effectLst>
        </p:spPr>
      </p:pic>
      <p:pic>
        <p:nvPicPr>
          <p:cNvPr id="12" name="Picture 11">
            <a:extLst>
              <a:ext uri="{FF2B5EF4-FFF2-40B4-BE49-F238E27FC236}">
                <a16:creationId xmlns:a16="http://schemas.microsoft.com/office/drawing/2014/main" id="{E016F5D0-13D0-249F-75B2-B5A7D7FA9BD2}"/>
              </a:ext>
            </a:extLst>
          </p:cNvPr>
          <p:cNvPicPr>
            <a:picLocks noChangeAspect="1"/>
          </p:cNvPicPr>
          <p:nvPr/>
        </p:nvPicPr>
        <p:blipFill>
          <a:blip r:embed="rId4"/>
          <a:stretch>
            <a:fillRect/>
          </a:stretch>
        </p:blipFill>
        <p:spPr>
          <a:xfrm>
            <a:off x="6834367" y="2052782"/>
            <a:ext cx="4179107" cy="3558907"/>
          </a:xfrm>
          <a:prstGeom prst="rect">
            <a:avLst/>
          </a:prstGeom>
          <a:effectLst>
            <a:outerShdw blurRad="482600" dist="38100" dir="8100000" algn="t" rotWithShape="0">
              <a:prstClr val="black">
                <a:alpha val="40000"/>
              </a:prstClr>
            </a:outerShdw>
          </a:effectLst>
        </p:spPr>
      </p:pic>
      <p:pic>
        <p:nvPicPr>
          <p:cNvPr id="14" name="Picture 13">
            <a:extLst>
              <a:ext uri="{FF2B5EF4-FFF2-40B4-BE49-F238E27FC236}">
                <a16:creationId xmlns:a16="http://schemas.microsoft.com/office/drawing/2014/main" id="{E6FA87B6-0837-83DA-DCA2-C74764C9F321}"/>
              </a:ext>
            </a:extLst>
          </p:cNvPr>
          <p:cNvPicPr>
            <a:picLocks noChangeAspect="1"/>
          </p:cNvPicPr>
          <p:nvPr/>
        </p:nvPicPr>
        <p:blipFill>
          <a:blip r:embed="rId5"/>
          <a:stretch>
            <a:fillRect/>
          </a:stretch>
        </p:blipFill>
        <p:spPr>
          <a:xfrm>
            <a:off x="1178526" y="3999679"/>
            <a:ext cx="3219032" cy="1606128"/>
          </a:xfrm>
          <a:prstGeom prst="rect">
            <a:avLst/>
          </a:prstGeom>
          <a:effectLst>
            <a:outerShdw blurRad="482600" dist="38100" dir="8100000" algn="t" rotWithShape="0">
              <a:prstClr val="black">
                <a:alpha val="40000"/>
              </a:prstClr>
            </a:outerShdw>
          </a:effectLst>
        </p:spPr>
      </p:pic>
      <p:sp>
        <p:nvSpPr>
          <p:cNvPr id="69" name="TextBox 68">
            <a:extLst>
              <a:ext uri="{FF2B5EF4-FFF2-40B4-BE49-F238E27FC236}">
                <a16:creationId xmlns:a16="http://schemas.microsoft.com/office/drawing/2014/main" id="{2656D278-4BBA-DF4C-9469-4B6195A0A22B}"/>
              </a:ext>
            </a:extLst>
          </p:cNvPr>
          <p:cNvSpPr txBox="1"/>
          <p:nvPr/>
        </p:nvSpPr>
        <p:spPr>
          <a:xfrm>
            <a:off x="669203" y="5735013"/>
            <a:ext cx="1121223" cy="369332"/>
          </a:xfrm>
          <a:prstGeom prst="rect">
            <a:avLst/>
          </a:prstGeom>
          <a:noFill/>
        </p:spPr>
        <p:txBody>
          <a:bodyPr wrap="square" rtlCol="0">
            <a:spAutoFit/>
          </a:bodyPr>
          <a:lstStyle/>
          <a:p>
            <a:r>
              <a:rPr lang="en-US" b="1" dirty="0"/>
              <a:t>Insight</a:t>
            </a:r>
          </a:p>
        </p:txBody>
      </p:sp>
      <p:sp>
        <p:nvSpPr>
          <p:cNvPr id="16" name="TextBox 15">
            <a:extLst>
              <a:ext uri="{FF2B5EF4-FFF2-40B4-BE49-F238E27FC236}">
                <a16:creationId xmlns:a16="http://schemas.microsoft.com/office/drawing/2014/main" id="{EB1E101F-78A9-B6A7-0710-309C697467E7}"/>
              </a:ext>
            </a:extLst>
          </p:cNvPr>
          <p:cNvSpPr txBox="1"/>
          <p:nvPr/>
        </p:nvSpPr>
        <p:spPr>
          <a:xfrm>
            <a:off x="669203" y="6104345"/>
            <a:ext cx="10338522" cy="646331"/>
          </a:xfrm>
          <a:prstGeom prst="rect">
            <a:avLst/>
          </a:prstGeom>
          <a:noFill/>
        </p:spPr>
        <p:txBody>
          <a:bodyPr wrap="square" rtlCol="0">
            <a:spAutoFit/>
          </a:bodyPr>
          <a:lstStyle/>
          <a:p>
            <a:r>
              <a:rPr lang="en-US" dirty="0"/>
              <a:t>Five of eleven downtime factors account for 1,038 minutes, representing roughly 75% of total downtime. These dominant causes require immediate prioritization for corrective action.</a:t>
            </a:r>
          </a:p>
        </p:txBody>
      </p:sp>
    </p:spTree>
    <p:extLst>
      <p:ext uri="{BB962C8B-B14F-4D97-AF65-F5344CB8AC3E}">
        <p14:creationId xmlns:p14="http://schemas.microsoft.com/office/powerpoint/2010/main" val="6948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FCFA-B686-D331-096B-C562304B1A3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841B8D1-7EB9-43CF-5C4E-116F3449770E}"/>
              </a:ext>
            </a:extLst>
          </p:cNvPr>
          <p:cNvPicPr>
            <a:picLocks noChangeAspect="1"/>
          </p:cNvPicPr>
          <p:nvPr/>
        </p:nvPicPr>
        <p:blipFill>
          <a:blip r:embed="rId2">
            <a:alphaModFix amt="35000"/>
          </a:blip>
          <a:stretch>
            <a:fillRect/>
          </a:stretch>
        </p:blipFill>
        <p:spPr>
          <a:xfrm>
            <a:off x="0" y="-1"/>
            <a:ext cx="12261475" cy="6885421"/>
          </a:xfrm>
          <a:prstGeom prst="rect">
            <a:avLst/>
          </a:prstGeom>
        </p:spPr>
      </p:pic>
      <p:sp>
        <p:nvSpPr>
          <p:cNvPr id="53" name="Freeform: Shape 52">
            <a:extLst>
              <a:ext uri="{FF2B5EF4-FFF2-40B4-BE49-F238E27FC236}">
                <a16:creationId xmlns:a16="http://schemas.microsoft.com/office/drawing/2014/main" id="{1EA7715B-6EC6-DA35-9D5A-28A080684B14}"/>
              </a:ext>
            </a:extLst>
          </p:cNvPr>
          <p:cNvSpPr/>
          <p:nvPr/>
        </p:nvSpPr>
        <p:spPr>
          <a:xfrm>
            <a:off x="2249720" y="18144"/>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TextBox 54">
            <a:extLst>
              <a:ext uri="{FF2B5EF4-FFF2-40B4-BE49-F238E27FC236}">
                <a16:creationId xmlns:a16="http://schemas.microsoft.com/office/drawing/2014/main" id="{8F8A79AE-539C-AA8F-4BCA-5DAA75680425}"/>
              </a:ext>
            </a:extLst>
          </p:cNvPr>
          <p:cNvSpPr txBox="1"/>
          <p:nvPr/>
        </p:nvSpPr>
        <p:spPr>
          <a:xfrm>
            <a:off x="2423897" y="464234"/>
            <a:ext cx="7692560" cy="646331"/>
          </a:xfrm>
          <a:prstGeom prst="rect">
            <a:avLst/>
          </a:prstGeom>
          <a:noFill/>
        </p:spPr>
        <p:txBody>
          <a:bodyPr wrap="square" rtlCol="0">
            <a:spAutoFit/>
          </a:bodyPr>
          <a:lstStyle/>
          <a:p>
            <a:r>
              <a:rPr lang="en-US" sz="3600" b="1" dirty="0"/>
              <a:t>SAMPLE OF ANALYSIS QUESTIONS</a:t>
            </a:r>
          </a:p>
        </p:txBody>
      </p:sp>
      <p:sp>
        <p:nvSpPr>
          <p:cNvPr id="3" name="TextBox 2">
            <a:extLst>
              <a:ext uri="{FF2B5EF4-FFF2-40B4-BE49-F238E27FC236}">
                <a16:creationId xmlns:a16="http://schemas.microsoft.com/office/drawing/2014/main" id="{49D54876-045E-8D3B-2903-CA8D34E377FF}"/>
              </a:ext>
            </a:extLst>
          </p:cNvPr>
          <p:cNvSpPr txBox="1"/>
          <p:nvPr/>
        </p:nvSpPr>
        <p:spPr>
          <a:xfrm>
            <a:off x="1184275" y="1600641"/>
            <a:ext cx="9823450" cy="461665"/>
          </a:xfrm>
          <a:prstGeom prst="rect">
            <a:avLst/>
          </a:prstGeom>
          <a:noFill/>
        </p:spPr>
        <p:txBody>
          <a:bodyPr wrap="square" rtlCol="0">
            <a:spAutoFit/>
          </a:bodyPr>
          <a:lstStyle/>
          <a:p>
            <a:pPr algn="ctr"/>
            <a:r>
              <a:rPr lang="en-US" sz="2400" b="1" dirty="0"/>
              <a:t>What is the most occurred downtime factor?</a:t>
            </a:r>
          </a:p>
        </p:txBody>
      </p:sp>
      <p:sp>
        <p:nvSpPr>
          <p:cNvPr id="69" name="TextBox 68">
            <a:extLst>
              <a:ext uri="{FF2B5EF4-FFF2-40B4-BE49-F238E27FC236}">
                <a16:creationId xmlns:a16="http://schemas.microsoft.com/office/drawing/2014/main" id="{93AFF6A1-A900-4170-81A5-1C8ECC522260}"/>
              </a:ext>
            </a:extLst>
          </p:cNvPr>
          <p:cNvSpPr txBox="1"/>
          <p:nvPr/>
        </p:nvSpPr>
        <p:spPr>
          <a:xfrm>
            <a:off x="669203" y="5735013"/>
            <a:ext cx="1121223" cy="369332"/>
          </a:xfrm>
          <a:prstGeom prst="rect">
            <a:avLst/>
          </a:prstGeom>
          <a:noFill/>
        </p:spPr>
        <p:txBody>
          <a:bodyPr wrap="square" rtlCol="0">
            <a:spAutoFit/>
          </a:bodyPr>
          <a:lstStyle/>
          <a:p>
            <a:r>
              <a:rPr lang="en-US" b="1" dirty="0"/>
              <a:t>Insight</a:t>
            </a:r>
          </a:p>
        </p:txBody>
      </p:sp>
      <p:sp>
        <p:nvSpPr>
          <p:cNvPr id="16" name="TextBox 15">
            <a:extLst>
              <a:ext uri="{FF2B5EF4-FFF2-40B4-BE49-F238E27FC236}">
                <a16:creationId xmlns:a16="http://schemas.microsoft.com/office/drawing/2014/main" id="{7F148007-F621-4954-1579-568B46FEFD2C}"/>
              </a:ext>
            </a:extLst>
          </p:cNvPr>
          <p:cNvSpPr txBox="1"/>
          <p:nvPr/>
        </p:nvSpPr>
        <p:spPr>
          <a:xfrm>
            <a:off x="669203" y="6104345"/>
            <a:ext cx="11268797" cy="646331"/>
          </a:xfrm>
          <a:prstGeom prst="rect">
            <a:avLst/>
          </a:prstGeom>
          <a:noFill/>
        </p:spPr>
        <p:txBody>
          <a:bodyPr wrap="square" rtlCol="0">
            <a:spAutoFit/>
          </a:bodyPr>
          <a:lstStyle/>
          <a:p>
            <a:r>
              <a:rPr lang="en-US" dirty="0"/>
              <a:t>Machine adjustment leads all downtime causes with 12 incidents, followed by machine failure (11) and inventory shortage (9). Their high recurrence suggests persistent issues driving frequent disruptions.</a:t>
            </a:r>
          </a:p>
        </p:txBody>
      </p:sp>
      <p:pic>
        <p:nvPicPr>
          <p:cNvPr id="8" name="Picture 7">
            <a:extLst>
              <a:ext uri="{FF2B5EF4-FFF2-40B4-BE49-F238E27FC236}">
                <a16:creationId xmlns:a16="http://schemas.microsoft.com/office/drawing/2014/main" id="{4554F5AC-4E75-20FA-B9D8-9BD46431CFC3}"/>
              </a:ext>
            </a:extLst>
          </p:cNvPr>
          <p:cNvPicPr>
            <a:picLocks noChangeAspect="1"/>
          </p:cNvPicPr>
          <p:nvPr/>
        </p:nvPicPr>
        <p:blipFill>
          <a:blip r:embed="rId3"/>
          <a:stretch>
            <a:fillRect/>
          </a:stretch>
        </p:blipFill>
        <p:spPr>
          <a:xfrm>
            <a:off x="1178526" y="2062306"/>
            <a:ext cx="4029075" cy="1809750"/>
          </a:xfrm>
          <a:prstGeom prst="rect">
            <a:avLst/>
          </a:prstGeom>
          <a:effectLst>
            <a:outerShdw blurRad="482600" dist="38100" dir="8100000" algn="t" rotWithShape="0">
              <a:prstClr val="black">
                <a:alpha val="40000"/>
              </a:prstClr>
            </a:outerShdw>
          </a:effectLst>
        </p:spPr>
      </p:pic>
      <p:pic>
        <p:nvPicPr>
          <p:cNvPr id="11" name="Picture 10">
            <a:extLst>
              <a:ext uri="{FF2B5EF4-FFF2-40B4-BE49-F238E27FC236}">
                <a16:creationId xmlns:a16="http://schemas.microsoft.com/office/drawing/2014/main" id="{024B09F3-A12E-7D73-ABD7-3F685FC5947D}"/>
              </a:ext>
            </a:extLst>
          </p:cNvPr>
          <p:cNvPicPr>
            <a:picLocks noChangeAspect="1"/>
          </p:cNvPicPr>
          <p:nvPr/>
        </p:nvPicPr>
        <p:blipFill>
          <a:blip r:embed="rId4"/>
          <a:stretch>
            <a:fillRect/>
          </a:stretch>
        </p:blipFill>
        <p:spPr>
          <a:xfrm>
            <a:off x="1178526" y="3853252"/>
            <a:ext cx="2324100" cy="1881761"/>
          </a:xfrm>
          <a:prstGeom prst="rect">
            <a:avLst/>
          </a:prstGeom>
          <a:effectLst>
            <a:outerShdw blurRad="482600" dist="38100" dir="8100000" algn="t" rotWithShape="0">
              <a:prstClr val="black">
                <a:alpha val="40000"/>
              </a:prstClr>
            </a:outerShdw>
          </a:effectLst>
        </p:spPr>
      </p:pic>
      <p:pic>
        <p:nvPicPr>
          <p:cNvPr id="24" name="Picture 23">
            <a:extLst>
              <a:ext uri="{FF2B5EF4-FFF2-40B4-BE49-F238E27FC236}">
                <a16:creationId xmlns:a16="http://schemas.microsoft.com/office/drawing/2014/main" id="{B1992940-0EC5-A6B0-ABF0-A66D721D9B16}"/>
              </a:ext>
            </a:extLst>
          </p:cNvPr>
          <p:cNvPicPr>
            <a:picLocks noChangeAspect="1"/>
          </p:cNvPicPr>
          <p:nvPr/>
        </p:nvPicPr>
        <p:blipFill>
          <a:blip r:embed="rId5"/>
          <a:stretch>
            <a:fillRect/>
          </a:stretch>
        </p:blipFill>
        <p:spPr>
          <a:xfrm>
            <a:off x="6808363" y="2046732"/>
            <a:ext cx="3762026" cy="3465998"/>
          </a:xfrm>
          <a:prstGeom prst="rect">
            <a:avLst/>
          </a:prstGeom>
          <a:effectLst>
            <a:outerShdw blurRad="482600" dist="38100" dir="8100000" algn="t" rotWithShape="0">
              <a:prstClr val="black">
                <a:alpha val="40000"/>
              </a:prstClr>
            </a:outerShdw>
          </a:effectLst>
        </p:spPr>
      </p:pic>
    </p:spTree>
    <p:extLst>
      <p:ext uri="{BB962C8B-B14F-4D97-AF65-F5344CB8AC3E}">
        <p14:creationId xmlns:p14="http://schemas.microsoft.com/office/powerpoint/2010/main" val="780309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25C8F-B1E1-DF03-DDF5-E5762B6A85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D457A7C-0EA2-23B6-3507-EA3433270094}"/>
              </a:ext>
            </a:extLst>
          </p:cNvPr>
          <p:cNvPicPr>
            <a:picLocks noChangeAspect="1"/>
          </p:cNvPicPr>
          <p:nvPr/>
        </p:nvPicPr>
        <p:blipFill>
          <a:blip r:embed="rId2">
            <a:alphaModFix amt="35000"/>
          </a:blip>
          <a:stretch>
            <a:fillRect/>
          </a:stretch>
        </p:blipFill>
        <p:spPr>
          <a:xfrm>
            <a:off x="0" y="-1"/>
            <a:ext cx="12261475" cy="6885421"/>
          </a:xfrm>
          <a:prstGeom prst="rect">
            <a:avLst/>
          </a:prstGeom>
        </p:spPr>
      </p:pic>
      <p:sp>
        <p:nvSpPr>
          <p:cNvPr id="53" name="Freeform: Shape 52">
            <a:extLst>
              <a:ext uri="{FF2B5EF4-FFF2-40B4-BE49-F238E27FC236}">
                <a16:creationId xmlns:a16="http://schemas.microsoft.com/office/drawing/2014/main" id="{D6E005E5-43D5-232C-386E-84BBC444043A}"/>
              </a:ext>
            </a:extLst>
          </p:cNvPr>
          <p:cNvSpPr/>
          <p:nvPr/>
        </p:nvSpPr>
        <p:spPr>
          <a:xfrm>
            <a:off x="2249720" y="18144"/>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TextBox 54">
            <a:extLst>
              <a:ext uri="{FF2B5EF4-FFF2-40B4-BE49-F238E27FC236}">
                <a16:creationId xmlns:a16="http://schemas.microsoft.com/office/drawing/2014/main" id="{E1B70031-87B1-10CC-4710-E14CB7F6100A}"/>
              </a:ext>
            </a:extLst>
          </p:cNvPr>
          <p:cNvSpPr txBox="1"/>
          <p:nvPr/>
        </p:nvSpPr>
        <p:spPr>
          <a:xfrm>
            <a:off x="2423897" y="464234"/>
            <a:ext cx="7692560" cy="646331"/>
          </a:xfrm>
          <a:prstGeom prst="rect">
            <a:avLst/>
          </a:prstGeom>
          <a:noFill/>
        </p:spPr>
        <p:txBody>
          <a:bodyPr wrap="square" rtlCol="0">
            <a:spAutoFit/>
          </a:bodyPr>
          <a:lstStyle/>
          <a:p>
            <a:r>
              <a:rPr lang="en-US" sz="3600" b="1" dirty="0"/>
              <a:t>SAMPLE OF ANALYSIS QUESTIONS</a:t>
            </a:r>
          </a:p>
        </p:txBody>
      </p:sp>
      <p:sp>
        <p:nvSpPr>
          <p:cNvPr id="3" name="TextBox 2">
            <a:extLst>
              <a:ext uri="{FF2B5EF4-FFF2-40B4-BE49-F238E27FC236}">
                <a16:creationId xmlns:a16="http://schemas.microsoft.com/office/drawing/2014/main" id="{D52880ED-DCA4-429C-BB73-25EA4399BB9F}"/>
              </a:ext>
            </a:extLst>
          </p:cNvPr>
          <p:cNvSpPr txBox="1"/>
          <p:nvPr/>
        </p:nvSpPr>
        <p:spPr>
          <a:xfrm>
            <a:off x="674687" y="1600641"/>
            <a:ext cx="10842625" cy="461665"/>
          </a:xfrm>
          <a:prstGeom prst="rect">
            <a:avLst/>
          </a:prstGeom>
          <a:noFill/>
        </p:spPr>
        <p:txBody>
          <a:bodyPr wrap="square" rtlCol="0">
            <a:spAutoFit/>
          </a:bodyPr>
          <a:lstStyle/>
          <a:p>
            <a:pPr algn="ctr"/>
            <a:r>
              <a:rPr lang="en-US" sz="2400" b="1" dirty="0"/>
              <a:t>What is each operator’s efficiency score based on batches and downtime?</a:t>
            </a:r>
          </a:p>
        </p:txBody>
      </p:sp>
      <p:sp>
        <p:nvSpPr>
          <p:cNvPr id="69" name="TextBox 68">
            <a:extLst>
              <a:ext uri="{FF2B5EF4-FFF2-40B4-BE49-F238E27FC236}">
                <a16:creationId xmlns:a16="http://schemas.microsoft.com/office/drawing/2014/main" id="{8D0FFF55-3625-58F2-2D5C-A1C0A7EF5570}"/>
              </a:ext>
            </a:extLst>
          </p:cNvPr>
          <p:cNvSpPr txBox="1"/>
          <p:nvPr/>
        </p:nvSpPr>
        <p:spPr>
          <a:xfrm>
            <a:off x="669203" y="5735013"/>
            <a:ext cx="1121223" cy="369332"/>
          </a:xfrm>
          <a:prstGeom prst="rect">
            <a:avLst/>
          </a:prstGeom>
          <a:noFill/>
        </p:spPr>
        <p:txBody>
          <a:bodyPr wrap="square" rtlCol="0">
            <a:spAutoFit/>
          </a:bodyPr>
          <a:lstStyle/>
          <a:p>
            <a:r>
              <a:rPr lang="en-US" b="1" dirty="0"/>
              <a:t>Insight</a:t>
            </a:r>
          </a:p>
        </p:txBody>
      </p:sp>
      <p:sp>
        <p:nvSpPr>
          <p:cNvPr id="16" name="TextBox 15">
            <a:extLst>
              <a:ext uri="{FF2B5EF4-FFF2-40B4-BE49-F238E27FC236}">
                <a16:creationId xmlns:a16="http://schemas.microsoft.com/office/drawing/2014/main" id="{F006B71D-880B-1C2D-E7D6-EB03B8A5C215}"/>
              </a:ext>
            </a:extLst>
          </p:cNvPr>
          <p:cNvSpPr txBox="1"/>
          <p:nvPr/>
        </p:nvSpPr>
        <p:spPr>
          <a:xfrm>
            <a:off x="669204" y="6104345"/>
            <a:ext cx="10338522" cy="646331"/>
          </a:xfrm>
          <a:prstGeom prst="rect">
            <a:avLst/>
          </a:prstGeom>
          <a:noFill/>
        </p:spPr>
        <p:txBody>
          <a:bodyPr wrap="square" rtlCol="0">
            <a:spAutoFit/>
          </a:bodyPr>
          <a:lstStyle/>
          <a:p>
            <a:r>
              <a:rPr lang="en-US" dirty="0"/>
              <a:t>Operator efficiency is relatively consistent across the team, ranging from 77% to 82%, indicating stable performance with minor improvement opportunities.</a:t>
            </a:r>
          </a:p>
        </p:txBody>
      </p:sp>
      <p:pic>
        <p:nvPicPr>
          <p:cNvPr id="4" name="Picture 3">
            <a:extLst>
              <a:ext uri="{FF2B5EF4-FFF2-40B4-BE49-F238E27FC236}">
                <a16:creationId xmlns:a16="http://schemas.microsoft.com/office/drawing/2014/main" id="{E9F3903E-DCBA-2824-018F-658A8E55C125}"/>
              </a:ext>
            </a:extLst>
          </p:cNvPr>
          <p:cNvPicPr>
            <a:picLocks noChangeAspect="1"/>
          </p:cNvPicPr>
          <p:nvPr/>
        </p:nvPicPr>
        <p:blipFill>
          <a:blip r:embed="rId3"/>
          <a:stretch>
            <a:fillRect/>
          </a:stretch>
        </p:blipFill>
        <p:spPr>
          <a:xfrm>
            <a:off x="6254074" y="1999462"/>
            <a:ext cx="4960026" cy="3601315"/>
          </a:xfrm>
          <a:prstGeom prst="rect">
            <a:avLst/>
          </a:prstGeom>
          <a:effectLst>
            <a:outerShdw blurRad="482600" dist="38100" dir="8100000" algn="t" rotWithShape="0">
              <a:prstClr val="black">
                <a:alpha val="40000"/>
              </a:prstClr>
            </a:outerShdw>
          </a:effectLst>
        </p:spPr>
      </p:pic>
      <p:pic>
        <p:nvPicPr>
          <p:cNvPr id="6" name="Picture 5">
            <a:extLst>
              <a:ext uri="{FF2B5EF4-FFF2-40B4-BE49-F238E27FC236}">
                <a16:creationId xmlns:a16="http://schemas.microsoft.com/office/drawing/2014/main" id="{9911E3EA-608A-627F-65A3-262E3D0475A0}"/>
              </a:ext>
            </a:extLst>
          </p:cNvPr>
          <p:cNvPicPr>
            <a:picLocks noChangeAspect="1"/>
          </p:cNvPicPr>
          <p:nvPr/>
        </p:nvPicPr>
        <p:blipFill>
          <a:blip r:embed="rId4"/>
          <a:stretch>
            <a:fillRect/>
          </a:stretch>
        </p:blipFill>
        <p:spPr>
          <a:xfrm>
            <a:off x="822926" y="2043447"/>
            <a:ext cx="4724400" cy="2867025"/>
          </a:xfrm>
          <a:prstGeom prst="rect">
            <a:avLst/>
          </a:prstGeom>
          <a:effectLst>
            <a:outerShdw blurRad="482600" dist="38100" dir="8100000" algn="t" rotWithShape="0">
              <a:prstClr val="black">
                <a:alpha val="40000"/>
              </a:prstClr>
            </a:outerShdw>
          </a:effectLst>
        </p:spPr>
      </p:pic>
      <p:pic>
        <p:nvPicPr>
          <p:cNvPr id="9" name="Picture 8">
            <a:extLst>
              <a:ext uri="{FF2B5EF4-FFF2-40B4-BE49-F238E27FC236}">
                <a16:creationId xmlns:a16="http://schemas.microsoft.com/office/drawing/2014/main" id="{A9587AD1-E90F-9838-3C27-6E87E9C8C79A}"/>
              </a:ext>
            </a:extLst>
          </p:cNvPr>
          <p:cNvPicPr>
            <a:picLocks noChangeAspect="1"/>
          </p:cNvPicPr>
          <p:nvPr/>
        </p:nvPicPr>
        <p:blipFill>
          <a:blip r:embed="rId5"/>
          <a:stretch>
            <a:fillRect/>
          </a:stretch>
        </p:blipFill>
        <p:spPr>
          <a:xfrm>
            <a:off x="866775" y="4820888"/>
            <a:ext cx="2828925" cy="952500"/>
          </a:xfrm>
          <a:prstGeom prst="rect">
            <a:avLst/>
          </a:prstGeom>
          <a:effectLst>
            <a:outerShdw blurRad="482600" dist="38100" dir="8100000" algn="t" rotWithShape="0">
              <a:prstClr val="black">
                <a:alpha val="40000"/>
              </a:prstClr>
            </a:outerShdw>
          </a:effectLst>
        </p:spPr>
      </p:pic>
    </p:spTree>
    <p:extLst>
      <p:ext uri="{BB962C8B-B14F-4D97-AF65-F5344CB8AC3E}">
        <p14:creationId xmlns:p14="http://schemas.microsoft.com/office/powerpoint/2010/main" val="136342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6AD3C-4AB1-062F-F4B2-8C5A06C0E83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CABCEF-79F3-BB42-9033-AAAAD11B9564}"/>
              </a:ext>
            </a:extLst>
          </p:cNvPr>
          <p:cNvPicPr>
            <a:picLocks noChangeAspect="1"/>
          </p:cNvPicPr>
          <p:nvPr/>
        </p:nvPicPr>
        <p:blipFill>
          <a:blip r:embed="rId2">
            <a:alphaModFix amt="35000"/>
          </a:blip>
          <a:stretch>
            <a:fillRect/>
          </a:stretch>
        </p:blipFill>
        <p:spPr>
          <a:xfrm>
            <a:off x="0" y="-1"/>
            <a:ext cx="12261475" cy="6885421"/>
          </a:xfrm>
          <a:prstGeom prst="rect">
            <a:avLst/>
          </a:prstGeom>
        </p:spPr>
      </p:pic>
      <p:sp>
        <p:nvSpPr>
          <p:cNvPr id="53" name="Freeform: Shape 52">
            <a:extLst>
              <a:ext uri="{FF2B5EF4-FFF2-40B4-BE49-F238E27FC236}">
                <a16:creationId xmlns:a16="http://schemas.microsoft.com/office/drawing/2014/main" id="{90F3D834-3BF0-6543-869C-954B26ED1871}"/>
              </a:ext>
            </a:extLst>
          </p:cNvPr>
          <p:cNvSpPr/>
          <p:nvPr/>
        </p:nvSpPr>
        <p:spPr>
          <a:xfrm>
            <a:off x="2249720" y="18144"/>
            <a:ext cx="7692560" cy="1538512"/>
          </a:xfrm>
          <a:custGeom>
            <a:avLst/>
            <a:gdLst>
              <a:gd name="connsiteX0" fmla="*/ 769256 w 7692560"/>
              <a:gd name="connsiteY0" fmla="*/ 0 h 1538512"/>
              <a:gd name="connsiteX1" fmla="*/ 1313202 w 7692560"/>
              <a:gd name="connsiteY1" fmla="*/ 225310 h 1538512"/>
              <a:gd name="connsiteX2" fmla="*/ 1370158 w 7692560"/>
              <a:gd name="connsiteY2" fmla="*/ 294340 h 1538512"/>
              <a:gd name="connsiteX3" fmla="*/ 1396499 w 7692560"/>
              <a:gd name="connsiteY3" fmla="*/ 239696 h 1538512"/>
              <a:gd name="connsiteX4" fmla="*/ 1538512 w 7692560"/>
              <a:gd name="connsiteY4" fmla="*/ 130628 h 1538512"/>
              <a:gd name="connsiteX5" fmla="*/ 1680526 w 7692560"/>
              <a:gd name="connsiteY5" fmla="*/ 239696 h 1538512"/>
              <a:gd name="connsiteX6" fmla="*/ 1706867 w 7692560"/>
              <a:gd name="connsiteY6" fmla="*/ 294340 h 1538512"/>
              <a:gd name="connsiteX7" fmla="*/ 1763823 w 7692560"/>
              <a:gd name="connsiteY7" fmla="*/ 225310 h 1538512"/>
              <a:gd name="connsiteX8" fmla="*/ 2307768 w 7692560"/>
              <a:gd name="connsiteY8" fmla="*/ 0 h 1538512"/>
              <a:gd name="connsiteX9" fmla="*/ 2851714 w 7692560"/>
              <a:gd name="connsiteY9" fmla="*/ 225310 h 1538512"/>
              <a:gd name="connsiteX10" fmla="*/ 2914776 w 7692560"/>
              <a:gd name="connsiteY10" fmla="*/ 301742 h 1538512"/>
              <a:gd name="connsiteX11" fmla="*/ 2944686 w 7692560"/>
              <a:gd name="connsiteY11" fmla="*/ 239696 h 1538512"/>
              <a:gd name="connsiteX12" fmla="*/ 3086699 w 7692560"/>
              <a:gd name="connsiteY12" fmla="*/ 130628 h 1538512"/>
              <a:gd name="connsiteX13" fmla="*/ 3228712 w 7692560"/>
              <a:gd name="connsiteY13" fmla="*/ 239696 h 1538512"/>
              <a:gd name="connsiteX14" fmla="*/ 3251486 w 7692560"/>
              <a:gd name="connsiteY14" fmla="*/ 286939 h 1538512"/>
              <a:gd name="connsiteX15" fmla="*/ 3302334 w 7692560"/>
              <a:gd name="connsiteY15" fmla="*/ 225310 h 1538512"/>
              <a:gd name="connsiteX16" fmla="*/ 3846280 w 7692560"/>
              <a:gd name="connsiteY16" fmla="*/ 0 h 1538512"/>
              <a:gd name="connsiteX17" fmla="*/ 4390226 w 7692560"/>
              <a:gd name="connsiteY17" fmla="*/ 225310 h 1538512"/>
              <a:gd name="connsiteX18" fmla="*/ 4459395 w 7692560"/>
              <a:gd name="connsiteY18" fmla="*/ 309144 h 1538512"/>
              <a:gd name="connsiteX19" fmla="*/ 4492872 w 7692560"/>
              <a:gd name="connsiteY19" fmla="*/ 239696 h 1538512"/>
              <a:gd name="connsiteX20" fmla="*/ 4634886 w 7692560"/>
              <a:gd name="connsiteY20" fmla="*/ 130628 h 1538512"/>
              <a:gd name="connsiteX21" fmla="*/ 4776899 w 7692560"/>
              <a:gd name="connsiteY21" fmla="*/ 239696 h 1538512"/>
              <a:gd name="connsiteX22" fmla="*/ 4796105 w 7692560"/>
              <a:gd name="connsiteY22" fmla="*/ 279537 h 1538512"/>
              <a:gd name="connsiteX23" fmla="*/ 4840846 w 7692560"/>
              <a:gd name="connsiteY23" fmla="*/ 225310 h 1538512"/>
              <a:gd name="connsiteX24" fmla="*/ 5384792 w 7692560"/>
              <a:gd name="connsiteY24" fmla="*/ 0 h 1538512"/>
              <a:gd name="connsiteX25" fmla="*/ 5928738 w 7692560"/>
              <a:gd name="connsiteY25" fmla="*/ 225310 h 1538512"/>
              <a:gd name="connsiteX26" fmla="*/ 6004014 w 7692560"/>
              <a:gd name="connsiteY26" fmla="*/ 316545 h 1538512"/>
              <a:gd name="connsiteX27" fmla="*/ 6041060 w 7692560"/>
              <a:gd name="connsiteY27" fmla="*/ 239696 h 1538512"/>
              <a:gd name="connsiteX28" fmla="*/ 6183073 w 7692560"/>
              <a:gd name="connsiteY28" fmla="*/ 130628 h 1538512"/>
              <a:gd name="connsiteX29" fmla="*/ 6325086 w 7692560"/>
              <a:gd name="connsiteY29" fmla="*/ 239696 h 1538512"/>
              <a:gd name="connsiteX30" fmla="*/ 6340724 w 7692560"/>
              <a:gd name="connsiteY30" fmla="*/ 272135 h 1538512"/>
              <a:gd name="connsiteX31" fmla="*/ 6379358 w 7692560"/>
              <a:gd name="connsiteY31" fmla="*/ 225310 h 1538512"/>
              <a:gd name="connsiteX32" fmla="*/ 6923304 w 7692560"/>
              <a:gd name="connsiteY32" fmla="*/ 0 h 1538512"/>
              <a:gd name="connsiteX33" fmla="*/ 7692560 w 7692560"/>
              <a:gd name="connsiteY33" fmla="*/ 769256 h 1538512"/>
              <a:gd name="connsiteX34" fmla="*/ 6923304 w 7692560"/>
              <a:gd name="connsiteY34" fmla="*/ 1538512 h 1538512"/>
              <a:gd name="connsiteX35" fmla="*/ 6379358 w 7692560"/>
              <a:gd name="connsiteY35" fmla="*/ 1313202 h 1538512"/>
              <a:gd name="connsiteX36" fmla="*/ 6340724 w 7692560"/>
              <a:gd name="connsiteY36" fmla="*/ 1266377 h 1538512"/>
              <a:gd name="connsiteX37" fmla="*/ 6325086 w 7692560"/>
              <a:gd name="connsiteY37" fmla="*/ 1298817 h 1538512"/>
              <a:gd name="connsiteX38" fmla="*/ 6183073 w 7692560"/>
              <a:gd name="connsiteY38" fmla="*/ 1407884 h 1538512"/>
              <a:gd name="connsiteX39" fmla="*/ 6041060 w 7692560"/>
              <a:gd name="connsiteY39" fmla="*/ 1298817 h 1538512"/>
              <a:gd name="connsiteX40" fmla="*/ 6004014 w 7692560"/>
              <a:gd name="connsiteY40" fmla="*/ 1221967 h 1538512"/>
              <a:gd name="connsiteX41" fmla="*/ 5928738 w 7692560"/>
              <a:gd name="connsiteY41" fmla="*/ 1313202 h 1538512"/>
              <a:gd name="connsiteX42" fmla="*/ 5384792 w 7692560"/>
              <a:gd name="connsiteY42" fmla="*/ 1538512 h 1538512"/>
              <a:gd name="connsiteX43" fmla="*/ 4840846 w 7692560"/>
              <a:gd name="connsiteY43" fmla="*/ 1313202 h 1538512"/>
              <a:gd name="connsiteX44" fmla="*/ 4796105 w 7692560"/>
              <a:gd name="connsiteY44" fmla="*/ 1258975 h 1538512"/>
              <a:gd name="connsiteX45" fmla="*/ 4776899 w 7692560"/>
              <a:gd name="connsiteY45" fmla="*/ 1298817 h 1538512"/>
              <a:gd name="connsiteX46" fmla="*/ 4634886 w 7692560"/>
              <a:gd name="connsiteY46" fmla="*/ 1407884 h 1538512"/>
              <a:gd name="connsiteX47" fmla="*/ 4492872 w 7692560"/>
              <a:gd name="connsiteY47" fmla="*/ 1298817 h 1538512"/>
              <a:gd name="connsiteX48" fmla="*/ 4459395 w 7692560"/>
              <a:gd name="connsiteY48" fmla="*/ 1229368 h 1538512"/>
              <a:gd name="connsiteX49" fmla="*/ 4390226 w 7692560"/>
              <a:gd name="connsiteY49" fmla="*/ 1313202 h 1538512"/>
              <a:gd name="connsiteX50" fmla="*/ 3846280 w 7692560"/>
              <a:gd name="connsiteY50" fmla="*/ 1538512 h 1538512"/>
              <a:gd name="connsiteX51" fmla="*/ 3302334 w 7692560"/>
              <a:gd name="connsiteY51" fmla="*/ 1313202 h 1538512"/>
              <a:gd name="connsiteX52" fmla="*/ 3251486 w 7692560"/>
              <a:gd name="connsiteY52" fmla="*/ 1251574 h 1538512"/>
              <a:gd name="connsiteX53" fmla="*/ 3228712 w 7692560"/>
              <a:gd name="connsiteY53" fmla="*/ 1298817 h 1538512"/>
              <a:gd name="connsiteX54" fmla="*/ 3086699 w 7692560"/>
              <a:gd name="connsiteY54" fmla="*/ 1407884 h 1538512"/>
              <a:gd name="connsiteX55" fmla="*/ 2944686 w 7692560"/>
              <a:gd name="connsiteY55" fmla="*/ 1298817 h 1538512"/>
              <a:gd name="connsiteX56" fmla="*/ 2914776 w 7692560"/>
              <a:gd name="connsiteY56" fmla="*/ 1236770 h 1538512"/>
              <a:gd name="connsiteX57" fmla="*/ 2851714 w 7692560"/>
              <a:gd name="connsiteY57" fmla="*/ 1313202 h 1538512"/>
              <a:gd name="connsiteX58" fmla="*/ 2307768 w 7692560"/>
              <a:gd name="connsiteY58" fmla="*/ 1538512 h 1538512"/>
              <a:gd name="connsiteX59" fmla="*/ 1763823 w 7692560"/>
              <a:gd name="connsiteY59" fmla="*/ 1313202 h 1538512"/>
              <a:gd name="connsiteX60" fmla="*/ 1706867 w 7692560"/>
              <a:gd name="connsiteY60" fmla="*/ 1244172 h 1538512"/>
              <a:gd name="connsiteX61" fmla="*/ 1680526 w 7692560"/>
              <a:gd name="connsiteY61" fmla="*/ 1298817 h 1538512"/>
              <a:gd name="connsiteX62" fmla="*/ 1538512 w 7692560"/>
              <a:gd name="connsiteY62" fmla="*/ 1407884 h 1538512"/>
              <a:gd name="connsiteX63" fmla="*/ 1396499 w 7692560"/>
              <a:gd name="connsiteY63" fmla="*/ 1298817 h 1538512"/>
              <a:gd name="connsiteX64" fmla="*/ 1370158 w 7692560"/>
              <a:gd name="connsiteY64" fmla="*/ 1244172 h 1538512"/>
              <a:gd name="connsiteX65" fmla="*/ 1313202 w 7692560"/>
              <a:gd name="connsiteY65" fmla="*/ 1313202 h 1538512"/>
              <a:gd name="connsiteX66" fmla="*/ 769256 w 7692560"/>
              <a:gd name="connsiteY66" fmla="*/ 1538512 h 1538512"/>
              <a:gd name="connsiteX67" fmla="*/ 0 w 7692560"/>
              <a:gd name="connsiteY67" fmla="*/ 769256 h 1538512"/>
              <a:gd name="connsiteX68" fmla="*/ 769256 w 7692560"/>
              <a:gd name="connsiteY68" fmla="*/ 0 h 153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692560" h="1538512">
                <a:moveTo>
                  <a:pt x="769256" y="0"/>
                </a:moveTo>
                <a:cubicBezTo>
                  <a:pt x="981680" y="0"/>
                  <a:pt x="1173994" y="86102"/>
                  <a:pt x="1313202" y="225310"/>
                </a:cubicBezTo>
                <a:lnTo>
                  <a:pt x="1370158" y="294340"/>
                </a:lnTo>
                <a:lnTo>
                  <a:pt x="1396499" y="239696"/>
                </a:lnTo>
                <a:cubicBezTo>
                  <a:pt x="1437037" y="170836"/>
                  <a:pt x="1485907" y="130628"/>
                  <a:pt x="1538512" y="130628"/>
                </a:cubicBezTo>
                <a:cubicBezTo>
                  <a:pt x="1591117" y="130628"/>
                  <a:pt x="1639987" y="170836"/>
                  <a:pt x="1680526" y="239696"/>
                </a:cubicBezTo>
                <a:lnTo>
                  <a:pt x="1706867" y="294340"/>
                </a:lnTo>
                <a:lnTo>
                  <a:pt x="1763823" y="225310"/>
                </a:lnTo>
                <a:cubicBezTo>
                  <a:pt x="1903030" y="86102"/>
                  <a:pt x="2095344" y="0"/>
                  <a:pt x="2307768" y="0"/>
                </a:cubicBezTo>
                <a:cubicBezTo>
                  <a:pt x="2520192" y="0"/>
                  <a:pt x="2712506" y="86102"/>
                  <a:pt x="2851714" y="225310"/>
                </a:cubicBezTo>
                <a:lnTo>
                  <a:pt x="2914776" y="301742"/>
                </a:lnTo>
                <a:lnTo>
                  <a:pt x="2944686" y="239696"/>
                </a:lnTo>
                <a:cubicBezTo>
                  <a:pt x="2985224" y="170836"/>
                  <a:pt x="3034094" y="130628"/>
                  <a:pt x="3086699" y="130628"/>
                </a:cubicBezTo>
                <a:cubicBezTo>
                  <a:pt x="3139304" y="130628"/>
                  <a:pt x="3188174" y="170836"/>
                  <a:pt x="3228712" y="239696"/>
                </a:cubicBezTo>
                <a:lnTo>
                  <a:pt x="3251486" y="286939"/>
                </a:lnTo>
                <a:lnTo>
                  <a:pt x="3302334" y="225310"/>
                </a:lnTo>
                <a:cubicBezTo>
                  <a:pt x="3441542" y="86102"/>
                  <a:pt x="3633856" y="0"/>
                  <a:pt x="3846280" y="0"/>
                </a:cubicBezTo>
                <a:cubicBezTo>
                  <a:pt x="4058704" y="0"/>
                  <a:pt x="4251018" y="86102"/>
                  <a:pt x="4390226" y="225310"/>
                </a:cubicBezTo>
                <a:lnTo>
                  <a:pt x="4459395" y="309144"/>
                </a:lnTo>
                <a:lnTo>
                  <a:pt x="4492872" y="239696"/>
                </a:lnTo>
                <a:cubicBezTo>
                  <a:pt x="4533411" y="170836"/>
                  <a:pt x="4582281" y="130628"/>
                  <a:pt x="4634886" y="130628"/>
                </a:cubicBezTo>
                <a:cubicBezTo>
                  <a:pt x="4687491" y="130628"/>
                  <a:pt x="4736361" y="170836"/>
                  <a:pt x="4776899" y="239696"/>
                </a:cubicBezTo>
                <a:lnTo>
                  <a:pt x="4796105" y="279537"/>
                </a:lnTo>
                <a:lnTo>
                  <a:pt x="4840846" y="225310"/>
                </a:lnTo>
                <a:cubicBezTo>
                  <a:pt x="4980054" y="86102"/>
                  <a:pt x="5172368" y="0"/>
                  <a:pt x="5384792" y="0"/>
                </a:cubicBezTo>
                <a:cubicBezTo>
                  <a:pt x="5597216" y="0"/>
                  <a:pt x="5789530" y="86102"/>
                  <a:pt x="5928738" y="225310"/>
                </a:cubicBezTo>
                <a:lnTo>
                  <a:pt x="6004014" y="316545"/>
                </a:lnTo>
                <a:lnTo>
                  <a:pt x="6041060" y="239696"/>
                </a:lnTo>
                <a:cubicBezTo>
                  <a:pt x="6081598" y="170836"/>
                  <a:pt x="6130468" y="130628"/>
                  <a:pt x="6183073" y="130628"/>
                </a:cubicBezTo>
                <a:cubicBezTo>
                  <a:pt x="6235678" y="130628"/>
                  <a:pt x="6284548" y="170836"/>
                  <a:pt x="6325086" y="239696"/>
                </a:cubicBezTo>
                <a:lnTo>
                  <a:pt x="6340724" y="272135"/>
                </a:lnTo>
                <a:lnTo>
                  <a:pt x="6379358" y="225310"/>
                </a:lnTo>
                <a:cubicBezTo>
                  <a:pt x="6518566" y="86102"/>
                  <a:pt x="6710880" y="0"/>
                  <a:pt x="6923304" y="0"/>
                </a:cubicBezTo>
                <a:cubicBezTo>
                  <a:pt x="7348152" y="0"/>
                  <a:pt x="7692560" y="344408"/>
                  <a:pt x="7692560" y="769256"/>
                </a:cubicBezTo>
                <a:cubicBezTo>
                  <a:pt x="7692560" y="1194104"/>
                  <a:pt x="7348152" y="1538512"/>
                  <a:pt x="6923304" y="1538512"/>
                </a:cubicBezTo>
                <a:cubicBezTo>
                  <a:pt x="6710880" y="1538512"/>
                  <a:pt x="6518566" y="1452410"/>
                  <a:pt x="6379358" y="1313202"/>
                </a:cubicBezTo>
                <a:lnTo>
                  <a:pt x="6340724" y="1266377"/>
                </a:lnTo>
                <a:lnTo>
                  <a:pt x="6325086" y="1298817"/>
                </a:lnTo>
                <a:cubicBezTo>
                  <a:pt x="6284548" y="1367676"/>
                  <a:pt x="6235678" y="1407884"/>
                  <a:pt x="6183073" y="1407884"/>
                </a:cubicBezTo>
                <a:cubicBezTo>
                  <a:pt x="6130468" y="1407884"/>
                  <a:pt x="6081598" y="1367676"/>
                  <a:pt x="6041060" y="1298817"/>
                </a:cubicBezTo>
                <a:lnTo>
                  <a:pt x="6004014" y="1221967"/>
                </a:lnTo>
                <a:lnTo>
                  <a:pt x="5928738" y="1313202"/>
                </a:lnTo>
                <a:cubicBezTo>
                  <a:pt x="5789530" y="1452410"/>
                  <a:pt x="5597216" y="1538512"/>
                  <a:pt x="5384792" y="1538512"/>
                </a:cubicBezTo>
                <a:cubicBezTo>
                  <a:pt x="5172368" y="1538512"/>
                  <a:pt x="4980054" y="1452410"/>
                  <a:pt x="4840846" y="1313202"/>
                </a:cubicBezTo>
                <a:lnTo>
                  <a:pt x="4796105" y="1258975"/>
                </a:lnTo>
                <a:lnTo>
                  <a:pt x="4776899" y="1298817"/>
                </a:lnTo>
                <a:cubicBezTo>
                  <a:pt x="4736361" y="1367676"/>
                  <a:pt x="4687491" y="1407884"/>
                  <a:pt x="4634886" y="1407884"/>
                </a:cubicBezTo>
                <a:cubicBezTo>
                  <a:pt x="4582281" y="1407884"/>
                  <a:pt x="4533411" y="1367676"/>
                  <a:pt x="4492872" y="1298817"/>
                </a:cubicBezTo>
                <a:lnTo>
                  <a:pt x="4459395" y="1229368"/>
                </a:lnTo>
                <a:lnTo>
                  <a:pt x="4390226" y="1313202"/>
                </a:lnTo>
                <a:cubicBezTo>
                  <a:pt x="4251018" y="1452410"/>
                  <a:pt x="4058704" y="1538512"/>
                  <a:pt x="3846280" y="1538512"/>
                </a:cubicBezTo>
                <a:cubicBezTo>
                  <a:pt x="3633856" y="1538512"/>
                  <a:pt x="3441542" y="1452410"/>
                  <a:pt x="3302334" y="1313202"/>
                </a:cubicBezTo>
                <a:lnTo>
                  <a:pt x="3251486" y="1251574"/>
                </a:lnTo>
                <a:lnTo>
                  <a:pt x="3228712" y="1298817"/>
                </a:lnTo>
                <a:cubicBezTo>
                  <a:pt x="3188174" y="1367676"/>
                  <a:pt x="3139304" y="1407884"/>
                  <a:pt x="3086699" y="1407884"/>
                </a:cubicBezTo>
                <a:cubicBezTo>
                  <a:pt x="3034094" y="1407884"/>
                  <a:pt x="2985224" y="1367676"/>
                  <a:pt x="2944686" y="1298817"/>
                </a:cubicBezTo>
                <a:lnTo>
                  <a:pt x="2914776" y="1236770"/>
                </a:lnTo>
                <a:lnTo>
                  <a:pt x="2851714" y="1313202"/>
                </a:lnTo>
                <a:cubicBezTo>
                  <a:pt x="2712506" y="1452410"/>
                  <a:pt x="2520192" y="1538512"/>
                  <a:pt x="2307768" y="1538512"/>
                </a:cubicBezTo>
                <a:cubicBezTo>
                  <a:pt x="2095344" y="1538512"/>
                  <a:pt x="1903030" y="1452410"/>
                  <a:pt x="1763823" y="1313202"/>
                </a:cubicBezTo>
                <a:lnTo>
                  <a:pt x="1706867" y="1244172"/>
                </a:lnTo>
                <a:lnTo>
                  <a:pt x="1680526" y="1298817"/>
                </a:lnTo>
                <a:cubicBezTo>
                  <a:pt x="1639987" y="1367676"/>
                  <a:pt x="1591117" y="1407884"/>
                  <a:pt x="1538512" y="1407884"/>
                </a:cubicBezTo>
                <a:cubicBezTo>
                  <a:pt x="1485907" y="1407884"/>
                  <a:pt x="1437037" y="1367676"/>
                  <a:pt x="1396499" y="1298817"/>
                </a:cubicBezTo>
                <a:lnTo>
                  <a:pt x="1370158" y="1244172"/>
                </a:lnTo>
                <a:lnTo>
                  <a:pt x="1313202" y="1313202"/>
                </a:lnTo>
                <a:cubicBezTo>
                  <a:pt x="1173994" y="1452410"/>
                  <a:pt x="981680" y="1538512"/>
                  <a:pt x="769256" y="1538512"/>
                </a:cubicBezTo>
                <a:cubicBezTo>
                  <a:pt x="344408" y="1538512"/>
                  <a:pt x="0" y="1194104"/>
                  <a:pt x="0" y="769256"/>
                </a:cubicBezTo>
                <a:cubicBezTo>
                  <a:pt x="0" y="344408"/>
                  <a:pt x="344408" y="0"/>
                  <a:pt x="769256" y="0"/>
                </a:cubicBezTo>
                <a:close/>
              </a:path>
            </a:pathLst>
          </a:custGeom>
          <a:solidFill>
            <a:srgbClr val="E8EDED"/>
          </a:solidFill>
          <a:ln>
            <a:solidFill>
              <a:srgbClr val="112250"/>
            </a:solidFill>
          </a:ln>
          <a:effectLst>
            <a:outerShdw blurRad="3175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TextBox 54">
            <a:extLst>
              <a:ext uri="{FF2B5EF4-FFF2-40B4-BE49-F238E27FC236}">
                <a16:creationId xmlns:a16="http://schemas.microsoft.com/office/drawing/2014/main" id="{A8F210B2-0CE5-E4D1-83C1-5F19ED3DFCD2}"/>
              </a:ext>
            </a:extLst>
          </p:cNvPr>
          <p:cNvSpPr txBox="1"/>
          <p:nvPr/>
        </p:nvSpPr>
        <p:spPr>
          <a:xfrm>
            <a:off x="2423897" y="464234"/>
            <a:ext cx="7692560" cy="646331"/>
          </a:xfrm>
          <a:prstGeom prst="rect">
            <a:avLst/>
          </a:prstGeom>
          <a:noFill/>
        </p:spPr>
        <p:txBody>
          <a:bodyPr wrap="square" rtlCol="0">
            <a:spAutoFit/>
          </a:bodyPr>
          <a:lstStyle/>
          <a:p>
            <a:r>
              <a:rPr lang="en-US" sz="3600" b="1" dirty="0"/>
              <a:t>SAMPLE OF ANALYSIS QUESTIONS</a:t>
            </a:r>
          </a:p>
        </p:txBody>
      </p:sp>
      <p:sp>
        <p:nvSpPr>
          <p:cNvPr id="3" name="TextBox 2">
            <a:extLst>
              <a:ext uri="{FF2B5EF4-FFF2-40B4-BE49-F238E27FC236}">
                <a16:creationId xmlns:a16="http://schemas.microsoft.com/office/drawing/2014/main" id="{D0C50694-EF6A-A85D-798B-97D2934AA7DD}"/>
              </a:ext>
            </a:extLst>
          </p:cNvPr>
          <p:cNvSpPr txBox="1"/>
          <p:nvPr/>
        </p:nvSpPr>
        <p:spPr>
          <a:xfrm>
            <a:off x="44450" y="1600641"/>
            <a:ext cx="12103099" cy="461665"/>
          </a:xfrm>
          <a:prstGeom prst="rect">
            <a:avLst/>
          </a:prstGeom>
          <a:noFill/>
        </p:spPr>
        <p:txBody>
          <a:bodyPr wrap="square" rtlCol="0">
            <a:spAutoFit/>
          </a:bodyPr>
          <a:lstStyle/>
          <a:p>
            <a:pPr algn="ctr"/>
            <a:r>
              <a:rPr lang="en-US" sz="2400" b="1" dirty="0"/>
              <a:t>What percentage of production time is lost to downtime for each product?</a:t>
            </a:r>
          </a:p>
        </p:txBody>
      </p:sp>
      <p:sp>
        <p:nvSpPr>
          <p:cNvPr id="69" name="TextBox 68">
            <a:extLst>
              <a:ext uri="{FF2B5EF4-FFF2-40B4-BE49-F238E27FC236}">
                <a16:creationId xmlns:a16="http://schemas.microsoft.com/office/drawing/2014/main" id="{D33AC2E0-41E4-5BA6-5C28-7255BEA9223E}"/>
              </a:ext>
            </a:extLst>
          </p:cNvPr>
          <p:cNvSpPr txBox="1"/>
          <p:nvPr/>
        </p:nvSpPr>
        <p:spPr>
          <a:xfrm>
            <a:off x="669203" y="5735013"/>
            <a:ext cx="1121223" cy="369332"/>
          </a:xfrm>
          <a:prstGeom prst="rect">
            <a:avLst/>
          </a:prstGeom>
          <a:noFill/>
        </p:spPr>
        <p:txBody>
          <a:bodyPr wrap="square" rtlCol="0">
            <a:spAutoFit/>
          </a:bodyPr>
          <a:lstStyle/>
          <a:p>
            <a:r>
              <a:rPr lang="en-US" b="1" dirty="0"/>
              <a:t>Insight</a:t>
            </a:r>
          </a:p>
        </p:txBody>
      </p:sp>
      <p:sp>
        <p:nvSpPr>
          <p:cNvPr id="16" name="TextBox 15">
            <a:extLst>
              <a:ext uri="{FF2B5EF4-FFF2-40B4-BE49-F238E27FC236}">
                <a16:creationId xmlns:a16="http://schemas.microsoft.com/office/drawing/2014/main" id="{813220C4-D883-DC28-4E17-E6E7166FB9D7}"/>
              </a:ext>
            </a:extLst>
          </p:cNvPr>
          <p:cNvSpPr txBox="1"/>
          <p:nvPr/>
        </p:nvSpPr>
        <p:spPr>
          <a:xfrm>
            <a:off x="669203" y="6104345"/>
            <a:ext cx="11268797" cy="369332"/>
          </a:xfrm>
          <a:prstGeom prst="rect">
            <a:avLst/>
          </a:prstGeom>
          <a:noFill/>
        </p:spPr>
        <p:txBody>
          <a:bodyPr wrap="square" rtlCol="0">
            <a:spAutoFit/>
          </a:bodyPr>
          <a:lstStyle/>
          <a:p>
            <a:r>
              <a:rPr lang="en-US" dirty="0"/>
              <a:t>OR-600 has the highest downtime impact (55.6%), while other products range between 31% and 38%.</a:t>
            </a:r>
          </a:p>
        </p:txBody>
      </p:sp>
      <p:pic>
        <p:nvPicPr>
          <p:cNvPr id="14" name="Picture 13">
            <a:extLst>
              <a:ext uri="{FF2B5EF4-FFF2-40B4-BE49-F238E27FC236}">
                <a16:creationId xmlns:a16="http://schemas.microsoft.com/office/drawing/2014/main" id="{1DA1DB81-C944-8F06-948B-A5B154C3B2CA}"/>
              </a:ext>
            </a:extLst>
          </p:cNvPr>
          <p:cNvPicPr>
            <a:picLocks noChangeAspect="1"/>
          </p:cNvPicPr>
          <p:nvPr/>
        </p:nvPicPr>
        <p:blipFill>
          <a:blip r:embed="rId3"/>
          <a:stretch>
            <a:fillRect/>
          </a:stretch>
        </p:blipFill>
        <p:spPr>
          <a:xfrm>
            <a:off x="669203" y="4486275"/>
            <a:ext cx="3343275" cy="1314450"/>
          </a:xfrm>
          <a:prstGeom prst="rect">
            <a:avLst/>
          </a:prstGeom>
          <a:effectLst>
            <a:outerShdw blurRad="482600" dist="38100" dir="8100000" algn="t" rotWithShape="0">
              <a:prstClr val="black">
                <a:alpha val="40000"/>
              </a:prstClr>
            </a:outerShdw>
          </a:effectLst>
        </p:spPr>
      </p:pic>
      <p:pic>
        <p:nvPicPr>
          <p:cNvPr id="17" name="Picture 16">
            <a:extLst>
              <a:ext uri="{FF2B5EF4-FFF2-40B4-BE49-F238E27FC236}">
                <a16:creationId xmlns:a16="http://schemas.microsoft.com/office/drawing/2014/main" id="{8011B92C-619D-02B5-517F-DAD8B0E47F4B}"/>
              </a:ext>
            </a:extLst>
          </p:cNvPr>
          <p:cNvPicPr>
            <a:picLocks noChangeAspect="1"/>
          </p:cNvPicPr>
          <p:nvPr/>
        </p:nvPicPr>
        <p:blipFill>
          <a:blip r:embed="rId4"/>
          <a:stretch>
            <a:fillRect/>
          </a:stretch>
        </p:blipFill>
        <p:spPr>
          <a:xfrm>
            <a:off x="6303601" y="2046733"/>
            <a:ext cx="4421549" cy="3753992"/>
          </a:xfrm>
          <a:prstGeom prst="rect">
            <a:avLst/>
          </a:prstGeom>
          <a:effectLst>
            <a:outerShdw blurRad="482600" dist="38100" dir="8100000" algn="t" rotWithShape="0">
              <a:prstClr val="black">
                <a:alpha val="40000"/>
              </a:prstClr>
            </a:outerShdw>
          </a:effectLst>
        </p:spPr>
      </p:pic>
      <p:pic>
        <p:nvPicPr>
          <p:cNvPr id="20" name="Picture 19">
            <a:extLst>
              <a:ext uri="{FF2B5EF4-FFF2-40B4-BE49-F238E27FC236}">
                <a16:creationId xmlns:a16="http://schemas.microsoft.com/office/drawing/2014/main" id="{B25514A6-59F3-AE2B-F26F-3B86096BAD33}"/>
              </a:ext>
            </a:extLst>
          </p:cNvPr>
          <p:cNvPicPr>
            <a:picLocks noChangeAspect="1"/>
          </p:cNvPicPr>
          <p:nvPr/>
        </p:nvPicPr>
        <p:blipFill>
          <a:blip r:embed="rId5"/>
          <a:stretch>
            <a:fillRect/>
          </a:stretch>
        </p:blipFill>
        <p:spPr>
          <a:xfrm>
            <a:off x="669203" y="2062306"/>
            <a:ext cx="5426797" cy="2423969"/>
          </a:xfrm>
          <a:prstGeom prst="rect">
            <a:avLst/>
          </a:prstGeom>
          <a:effectLst>
            <a:outerShdw blurRad="482600" dist="38100" dir="8100000" algn="t" rotWithShape="0">
              <a:prstClr val="black">
                <a:alpha val="40000"/>
              </a:prstClr>
            </a:outerShdw>
          </a:effectLst>
        </p:spPr>
      </p:pic>
      <p:pic>
        <p:nvPicPr>
          <p:cNvPr id="4" name="Picture 3">
            <a:extLst>
              <a:ext uri="{FF2B5EF4-FFF2-40B4-BE49-F238E27FC236}">
                <a16:creationId xmlns:a16="http://schemas.microsoft.com/office/drawing/2014/main" id="{0E0A6209-007B-3D69-3AE9-D2DDD15FC7EA}"/>
              </a:ext>
            </a:extLst>
          </p:cNvPr>
          <p:cNvPicPr>
            <a:picLocks noChangeAspect="1"/>
          </p:cNvPicPr>
          <p:nvPr/>
        </p:nvPicPr>
        <p:blipFill>
          <a:blip r:embed="rId6"/>
          <a:stretch>
            <a:fillRect/>
          </a:stretch>
        </p:blipFill>
        <p:spPr>
          <a:xfrm>
            <a:off x="425824" y="-7688534"/>
            <a:ext cx="4090771" cy="1182727"/>
          </a:xfrm>
          <a:prstGeom prst="rect">
            <a:avLst/>
          </a:prstGeom>
        </p:spPr>
      </p:pic>
      <p:pic>
        <p:nvPicPr>
          <p:cNvPr id="5" name="Picture 4">
            <a:extLst>
              <a:ext uri="{FF2B5EF4-FFF2-40B4-BE49-F238E27FC236}">
                <a16:creationId xmlns:a16="http://schemas.microsoft.com/office/drawing/2014/main" id="{E0266072-2373-937B-E333-6939380E7366}"/>
              </a:ext>
            </a:extLst>
          </p:cNvPr>
          <p:cNvPicPr>
            <a:picLocks noChangeAspect="1"/>
          </p:cNvPicPr>
          <p:nvPr/>
        </p:nvPicPr>
        <p:blipFill>
          <a:blip r:embed="rId7"/>
          <a:stretch>
            <a:fillRect/>
          </a:stretch>
        </p:blipFill>
        <p:spPr>
          <a:xfrm>
            <a:off x="425823" y="-6659234"/>
            <a:ext cx="11077392" cy="1072989"/>
          </a:xfrm>
          <a:prstGeom prst="rect">
            <a:avLst/>
          </a:prstGeom>
        </p:spPr>
      </p:pic>
      <p:pic>
        <p:nvPicPr>
          <p:cNvPr id="6" name="Picture 5">
            <a:extLst>
              <a:ext uri="{FF2B5EF4-FFF2-40B4-BE49-F238E27FC236}">
                <a16:creationId xmlns:a16="http://schemas.microsoft.com/office/drawing/2014/main" id="{45DF775C-18EB-2617-29C0-208029590464}"/>
              </a:ext>
            </a:extLst>
          </p:cNvPr>
          <p:cNvPicPr>
            <a:picLocks noChangeAspect="1"/>
          </p:cNvPicPr>
          <p:nvPr/>
        </p:nvPicPr>
        <p:blipFill>
          <a:blip r:embed="rId8"/>
          <a:stretch>
            <a:fillRect/>
          </a:stretch>
        </p:blipFill>
        <p:spPr>
          <a:xfrm>
            <a:off x="-698856091" y="-48902190"/>
            <a:ext cx="1236889481" cy="124265492"/>
          </a:xfrm>
          <a:prstGeom prst="rect">
            <a:avLst/>
          </a:prstGeom>
        </p:spPr>
      </p:pic>
      <p:pic>
        <p:nvPicPr>
          <p:cNvPr id="7" name="Picture 6">
            <a:extLst>
              <a:ext uri="{FF2B5EF4-FFF2-40B4-BE49-F238E27FC236}">
                <a16:creationId xmlns:a16="http://schemas.microsoft.com/office/drawing/2014/main" id="{14D0BBFB-3B7E-321B-7110-263DD4B48924}"/>
              </a:ext>
            </a:extLst>
          </p:cNvPr>
          <p:cNvPicPr>
            <a:picLocks noChangeAspect="1"/>
          </p:cNvPicPr>
          <p:nvPr/>
        </p:nvPicPr>
        <p:blipFill>
          <a:blip r:embed="rId9"/>
          <a:stretch>
            <a:fillRect/>
          </a:stretch>
        </p:blipFill>
        <p:spPr>
          <a:xfrm>
            <a:off x="447857" y="14043356"/>
            <a:ext cx="11077392" cy="1072989"/>
          </a:xfrm>
          <a:prstGeom prst="rect">
            <a:avLst/>
          </a:prstGeom>
        </p:spPr>
      </p:pic>
      <p:pic>
        <p:nvPicPr>
          <p:cNvPr id="8" name="Picture 7">
            <a:extLst>
              <a:ext uri="{FF2B5EF4-FFF2-40B4-BE49-F238E27FC236}">
                <a16:creationId xmlns:a16="http://schemas.microsoft.com/office/drawing/2014/main" id="{E816AE10-7AEB-0949-CEF9-A025430202D2}"/>
              </a:ext>
            </a:extLst>
          </p:cNvPr>
          <p:cNvPicPr>
            <a:picLocks noChangeAspect="1"/>
          </p:cNvPicPr>
          <p:nvPr/>
        </p:nvPicPr>
        <p:blipFill>
          <a:blip r:embed="rId10"/>
          <a:stretch>
            <a:fillRect/>
          </a:stretch>
        </p:blipFill>
        <p:spPr>
          <a:xfrm>
            <a:off x="425823" y="14962918"/>
            <a:ext cx="11077392" cy="1072989"/>
          </a:xfrm>
          <a:prstGeom prst="rect">
            <a:avLst/>
          </a:prstGeom>
        </p:spPr>
      </p:pic>
      <p:pic>
        <p:nvPicPr>
          <p:cNvPr id="9" name="Picture 8">
            <a:extLst>
              <a:ext uri="{FF2B5EF4-FFF2-40B4-BE49-F238E27FC236}">
                <a16:creationId xmlns:a16="http://schemas.microsoft.com/office/drawing/2014/main" id="{A37F4B37-8E5E-2736-DBC3-692137A591D2}"/>
              </a:ext>
            </a:extLst>
          </p:cNvPr>
          <p:cNvPicPr>
            <a:picLocks noChangeAspect="1"/>
          </p:cNvPicPr>
          <p:nvPr/>
        </p:nvPicPr>
        <p:blipFill>
          <a:blip r:embed="rId11"/>
          <a:stretch>
            <a:fillRect/>
          </a:stretch>
        </p:blipFill>
        <p:spPr>
          <a:xfrm>
            <a:off x="403789" y="15882481"/>
            <a:ext cx="11077392" cy="1072989"/>
          </a:xfrm>
          <a:prstGeom prst="rect">
            <a:avLst/>
          </a:prstGeom>
        </p:spPr>
      </p:pic>
    </p:spTree>
    <p:extLst>
      <p:ext uri="{BB962C8B-B14F-4D97-AF65-F5344CB8AC3E}">
        <p14:creationId xmlns:p14="http://schemas.microsoft.com/office/powerpoint/2010/main" val="3994486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98173-7B24-B6BE-3B75-11F9499005AD}"/>
            </a:ext>
          </a:extLst>
        </p:cNvPr>
        <p:cNvGrpSpPr/>
        <p:nvPr/>
      </p:nvGrpSpPr>
      <p:grpSpPr>
        <a:xfrm>
          <a:off x="0" y="0"/>
          <a:ext cx="0" cy="0"/>
          <a:chOff x="0" y="0"/>
          <a:chExt cx="0" cy="0"/>
        </a:xfrm>
      </p:grpSpPr>
      <p:pic>
        <p:nvPicPr>
          <p:cNvPr id="8" name="!!BackGround">
            <a:extLst>
              <a:ext uri="{FF2B5EF4-FFF2-40B4-BE49-F238E27FC236}">
                <a16:creationId xmlns:a16="http://schemas.microsoft.com/office/drawing/2014/main" id="{AB6F6A7A-8B09-1191-1E0A-A406285E28F3}"/>
              </a:ext>
            </a:extLst>
          </p:cNvPr>
          <p:cNvPicPr>
            <a:picLocks noChangeAspect="1"/>
          </p:cNvPicPr>
          <p:nvPr/>
        </p:nvPicPr>
        <p:blipFill>
          <a:blip r:embed="rId2">
            <a:alphaModFix/>
          </a:blip>
          <a:srcRect t="1532"/>
          <a:stretch>
            <a:fillRect/>
          </a:stretch>
        </p:blipFill>
        <p:spPr>
          <a:xfrm>
            <a:off x="0" y="0"/>
            <a:ext cx="12192000" cy="6876288"/>
          </a:xfrm>
          <a:prstGeom prst="rect">
            <a:avLst/>
          </a:prstGeom>
        </p:spPr>
      </p:pic>
      <p:graphicFrame>
        <p:nvGraphicFramePr>
          <p:cNvPr id="9" name="Table 8">
            <a:extLst>
              <a:ext uri="{FF2B5EF4-FFF2-40B4-BE49-F238E27FC236}">
                <a16:creationId xmlns:a16="http://schemas.microsoft.com/office/drawing/2014/main" id="{7A73627D-F6AB-70EA-4B96-AFADB4F9FC81}"/>
              </a:ext>
            </a:extLst>
          </p:cNvPr>
          <p:cNvGraphicFramePr>
            <a:graphicFrameLocks noGrp="1"/>
          </p:cNvGraphicFramePr>
          <p:nvPr/>
        </p:nvGraphicFramePr>
        <p:xfrm>
          <a:off x="0" y="0"/>
          <a:ext cx="12192003" cy="6858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519426978"/>
                    </a:ext>
                  </a:extLst>
                </a:gridCol>
                <a:gridCol w="1354667">
                  <a:extLst>
                    <a:ext uri="{9D8B030D-6E8A-4147-A177-3AD203B41FA5}">
                      <a16:colId xmlns:a16="http://schemas.microsoft.com/office/drawing/2014/main" val="2654214106"/>
                    </a:ext>
                  </a:extLst>
                </a:gridCol>
                <a:gridCol w="1354667">
                  <a:extLst>
                    <a:ext uri="{9D8B030D-6E8A-4147-A177-3AD203B41FA5}">
                      <a16:colId xmlns:a16="http://schemas.microsoft.com/office/drawing/2014/main" val="4017432569"/>
                    </a:ext>
                  </a:extLst>
                </a:gridCol>
                <a:gridCol w="1354667">
                  <a:extLst>
                    <a:ext uri="{9D8B030D-6E8A-4147-A177-3AD203B41FA5}">
                      <a16:colId xmlns:a16="http://schemas.microsoft.com/office/drawing/2014/main" val="490655211"/>
                    </a:ext>
                  </a:extLst>
                </a:gridCol>
                <a:gridCol w="1354667">
                  <a:extLst>
                    <a:ext uri="{9D8B030D-6E8A-4147-A177-3AD203B41FA5}">
                      <a16:colId xmlns:a16="http://schemas.microsoft.com/office/drawing/2014/main" val="937404553"/>
                    </a:ext>
                  </a:extLst>
                </a:gridCol>
                <a:gridCol w="1354667">
                  <a:extLst>
                    <a:ext uri="{9D8B030D-6E8A-4147-A177-3AD203B41FA5}">
                      <a16:colId xmlns:a16="http://schemas.microsoft.com/office/drawing/2014/main" val="1333819258"/>
                    </a:ext>
                  </a:extLst>
                </a:gridCol>
                <a:gridCol w="1354667">
                  <a:extLst>
                    <a:ext uri="{9D8B030D-6E8A-4147-A177-3AD203B41FA5}">
                      <a16:colId xmlns:a16="http://schemas.microsoft.com/office/drawing/2014/main" val="161208907"/>
                    </a:ext>
                  </a:extLst>
                </a:gridCol>
                <a:gridCol w="1354667">
                  <a:extLst>
                    <a:ext uri="{9D8B030D-6E8A-4147-A177-3AD203B41FA5}">
                      <a16:colId xmlns:a16="http://schemas.microsoft.com/office/drawing/2014/main" val="3858095531"/>
                    </a:ext>
                  </a:extLst>
                </a:gridCol>
                <a:gridCol w="1354667">
                  <a:extLst>
                    <a:ext uri="{9D8B030D-6E8A-4147-A177-3AD203B41FA5}">
                      <a16:colId xmlns:a16="http://schemas.microsoft.com/office/drawing/2014/main" val="290232393"/>
                    </a:ext>
                  </a:extLst>
                </a:gridCol>
              </a:tblGrid>
              <a:tr h="685800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8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7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6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5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4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3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2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10000"/>
                      </a:schemeClr>
                    </a:solidFill>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683273024"/>
                  </a:ext>
                </a:extLst>
              </a:tr>
            </a:tbl>
          </a:graphicData>
        </a:graphic>
      </p:graphicFrame>
      <p:pic>
        <p:nvPicPr>
          <p:cNvPr id="2" name="Picture 1">
            <a:extLst>
              <a:ext uri="{FF2B5EF4-FFF2-40B4-BE49-F238E27FC236}">
                <a16:creationId xmlns:a16="http://schemas.microsoft.com/office/drawing/2014/main" id="{8F2AB677-FADC-8B82-ECCC-E3FF88E0C0D1}"/>
              </a:ext>
            </a:extLst>
          </p:cNvPr>
          <p:cNvPicPr>
            <a:picLocks noChangeAspect="1"/>
          </p:cNvPicPr>
          <p:nvPr/>
        </p:nvPicPr>
        <p:blipFill>
          <a:blip r:embed="rId3"/>
          <a:stretch>
            <a:fillRect/>
          </a:stretch>
        </p:blipFill>
        <p:spPr>
          <a:xfrm>
            <a:off x="425824" y="397194"/>
            <a:ext cx="4090771" cy="1182727"/>
          </a:xfrm>
          <a:prstGeom prst="rect">
            <a:avLst/>
          </a:prstGeom>
        </p:spPr>
      </p:pic>
      <p:pic>
        <p:nvPicPr>
          <p:cNvPr id="3" name="Picture 2">
            <a:extLst>
              <a:ext uri="{FF2B5EF4-FFF2-40B4-BE49-F238E27FC236}">
                <a16:creationId xmlns:a16="http://schemas.microsoft.com/office/drawing/2014/main" id="{DFD54477-513C-CACF-53C4-50ACDCB36B77}"/>
              </a:ext>
            </a:extLst>
          </p:cNvPr>
          <p:cNvPicPr>
            <a:picLocks noChangeAspect="1"/>
          </p:cNvPicPr>
          <p:nvPr/>
        </p:nvPicPr>
        <p:blipFill>
          <a:blip r:embed="rId4"/>
          <a:stretch>
            <a:fillRect/>
          </a:stretch>
        </p:blipFill>
        <p:spPr>
          <a:xfrm>
            <a:off x="425823" y="1426494"/>
            <a:ext cx="11077392" cy="1072989"/>
          </a:xfrm>
          <a:prstGeom prst="rect">
            <a:avLst/>
          </a:prstGeom>
        </p:spPr>
      </p:pic>
      <p:pic>
        <p:nvPicPr>
          <p:cNvPr id="4" name="Picture 3">
            <a:extLst>
              <a:ext uri="{FF2B5EF4-FFF2-40B4-BE49-F238E27FC236}">
                <a16:creationId xmlns:a16="http://schemas.microsoft.com/office/drawing/2014/main" id="{08247423-1CE1-0386-66A1-3FD608E255FE}"/>
              </a:ext>
            </a:extLst>
          </p:cNvPr>
          <p:cNvPicPr>
            <a:picLocks noChangeAspect="1"/>
          </p:cNvPicPr>
          <p:nvPr/>
        </p:nvPicPr>
        <p:blipFill>
          <a:blip r:embed="rId5"/>
          <a:stretch>
            <a:fillRect/>
          </a:stretch>
        </p:blipFill>
        <p:spPr>
          <a:xfrm>
            <a:off x="419602" y="2346056"/>
            <a:ext cx="11772396" cy="1182727"/>
          </a:xfrm>
          <a:prstGeom prst="rect">
            <a:avLst/>
          </a:prstGeom>
        </p:spPr>
      </p:pic>
      <p:pic>
        <p:nvPicPr>
          <p:cNvPr id="5" name="Picture 4">
            <a:extLst>
              <a:ext uri="{FF2B5EF4-FFF2-40B4-BE49-F238E27FC236}">
                <a16:creationId xmlns:a16="http://schemas.microsoft.com/office/drawing/2014/main" id="{14E6EC90-D7E8-6429-C468-30A2C654F299}"/>
              </a:ext>
            </a:extLst>
          </p:cNvPr>
          <p:cNvPicPr>
            <a:picLocks noChangeAspect="1"/>
          </p:cNvPicPr>
          <p:nvPr/>
        </p:nvPicPr>
        <p:blipFill>
          <a:blip r:embed="rId6"/>
          <a:stretch>
            <a:fillRect/>
          </a:stretch>
        </p:blipFill>
        <p:spPr>
          <a:xfrm>
            <a:off x="447857" y="3375356"/>
            <a:ext cx="11077392" cy="1072989"/>
          </a:xfrm>
          <a:prstGeom prst="rect">
            <a:avLst/>
          </a:prstGeom>
        </p:spPr>
      </p:pic>
      <p:pic>
        <p:nvPicPr>
          <p:cNvPr id="6" name="Picture 5">
            <a:extLst>
              <a:ext uri="{FF2B5EF4-FFF2-40B4-BE49-F238E27FC236}">
                <a16:creationId xmlns:a16="http://schemas.microsoft.com/office/drawing/2014/main" id="{43DFBF5E-5D6F-BFD9-7077-88E8DEA27184}"/>
              </a:ext>
            </a:extLst>
          </p:cNvPr>
          <p:cNvPicPr>
            <a:picLocks noChangeAspect="1"/>
          </p:cNvPicPr>
          <p:nvPr/>
        </p:nvPicPr>
        <p:blipFill>
          <a:blip r:embed="rId7"/>
          <a:stretch>
            <a:fillRect/>
          </a:stretch>
        </p:blipFill>
        <p:spPr>
          <a:xfrm>
            <a:off x="425823" y="4294918"/>
            <a:ext cx="11077392" cy="1072989"/>
          </a:xfrm>
          <a:prstGeom prst="rect">
            <a:avLst/>
          </a:prstGeom>
        </p:spPr>
      </p:pic>
      <p:pic>
        <p:nvPicPr>
          <p:cNvPr id="7" name="Picture 6">
            <a:extLst>
              <a:ext uri="{FF2B5EF4-FFF2-40B4-BE49-F238E27FC236}">
                <a16:creationId xmlns:a16="http://schemas.microsoft.com/office/drawing/2014/main" id="{232A79F9-31C1-4F76-6C10-DDFD94BEFA28}"/>
              </a:ext>
            </a:extLst>
          </p:cNvPr>
          <p:cNvPicPr>
            <a:picLocks noChangeAspect="1"/>
          </p:cNvPicPr>
          <p:nvPr/>
        </p:nvPicPr>
        <p:blipFill>
          <a:blip r:embed="rId8"/>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4141794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2C506-6AA9-950B-F45B-28DBBC98CD6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289E0F1-F153-3D8A-1B2A-D6264D989387}"/>
              </a:ext>
            </a:extLst>
          </p:cNvPr>
          <p:cNvPicPr>
            <a:picLocks noChangeAspect="1"/>
          </p:cNvPicPr>
          <p:nvPr/>
        </p:nvPicPr>
        <p:blipFill>
          <a:blip r:embed="rId2"/>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EBE74C7D-98CD-F23C-E893-7EDC9910FD2A}"/>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E3BF7773-A724-4DA8-876D-C66002B5C7B4}"/>
              </a:ext>
            </a:extLst>
          </p:cNvPr>
          <p:cNvPicPr>
            <a:picLocks noChangeAspect="1"/>
          </p:cNvPicPr>
          <p:nvPr/>
        </p:nvPicPr>
        <p:blipFill>
          <a:blip r:embed="rId3"/>
          <a:stretch>
            <a:fillRect/>
          </a:stretch>
        </p:blipFill>
        <p:spPr>
          <a:xfrm>
            <a:off x="425824" y="-9938650"/>
            <a:ext cx="4090771" cy="1182727"/>
          </a:xfrm>
          <a:prstGeom prst="rect">
            <a:avLst/>
          </a:prstGeom>
        </p:spPr>
      </p:pic>
      <p:pic>
        <p:nvPicPr>
          <p:cNvPr id="40" name="Picture 39">
            <a:extLst>
              <a:ext uri="{FF2B5EF4-FFF2-40B4-BE49-F238E27FC236}">
                <a16:creationId xmlns:a16="http://schemas.microsoft.com/office/drawing/2014/main" id="{12F14142-CE88-1FDD-8DA4-5548C2C3E1AD}"/>
              </a:ext>
            </a:extLst>
          </p:cNvPr>
          <p:cNvPicPr>
            <a:picLocks noChangeAspect="1"/>
          </p:cNvPicPr>
          <p:nvPr/>
        </p:nvPicPr>
        <p:blipFill>
          <a:blip r:embed="rId4"/>
          <a:stretch>
            <a:fillRect/>
          </a:stretch>
        </p:blipFill>
        <p:spPr>
          <a:xfrm>
            <a:off x="425823" y="-8909350"/>
            <a:ext cx="11077392" cy="1072989"/>
          </a:xfrm>
          <a:prstGeom prst="rect">
            <a:avLst/>
          </a:prstGeom>
        </p:spPr>
      </p:pic>
      <p:pic>
        <p:nvPicPr>
          <p:cNvPr id="42" name="Picture 41">
            <a:extLst>
              <a:ext uri="{FF2B5EF4-FFF2-40B4-BE49-F238E27FC236}">
                <a16:creationId xmlns:a16="http://schemas.microsoft.com/office/drawing/2014/main" id="{2FD604DB-AB31-B3F1-F9DB-C63BDBF64359}"/>
              </a:ext>
            </a:extLst>
          </p:cNvPr>
          <p:cNvPicPr>
            <a:picLocks noChangeAspect="1"/>
          </p:cNvPicPr>
          <p:nvPr/>
        </p:nvPicPr>
        <p:blipFill>
          <a:blip r:embed="rId5"/>
          <a:stretch>
            <a:fillRect/>
          </a:stretch>
        </p:blipFill>
        <p:spPr>
          <a:xfrm>
            <a:off x="419602" y="-7989788"/>
            <a:ext cx="11772396" cy="1182727"/>
          </a:xfrm>
          <a:prstGeom prst="rect">
            <a:avLst/>
          </a:prstGeom>
        </p:spPr>
      </p:pic>
      <p:pic>
        <p:nvPicPr>
          <p:cNvPr id="44" name="Picture 43">
            <a:extLst>
              <a:ext uri="{FF2B5EF4-FFF2-40B4-BE49-F238E27FC236}">
                <a16:creationId xmlns:a16="http://schemas.microsoft.com/office/drawing/2014/main" id="{30AA93FB-402A-4528-8030-3A4495D80042}"/>
              </a:ext>
            </a:extLst>
          </p:cNvPr>
          <p:cNvPicPr>
            <a:picLocks noChangeAspect="1"/>
          </p:cNvPicPr>
          <p:nvPr/>
        </p:nvPicPr>
        <p:blipFill>
          <a:blip r:embed="rId6"/>
          <a:stretch>
            <a:fillRect/>
          </a:stretch>
        </p:blipFill>
        <p:spPr>
          <a:xfrm>
            <a:off x="-241573754" y="-24338130"/>
            <a:ext cx="674857498" cy="65368696"/>
          </a:xfrm>
          <a:prstGeom prst="rect">
            <a:avLst/>
          </a:prstGeom>
        </p:spPr>
      </p:pic>
      <p:pic>
        <p:nvPicPr>
          <p:cNvPr id="46" name="Picture 45">
            <a:extLst>
              <a:ext uri="{FF2B5EF4-FFF2-40B4-BE49-F238E27FC236}">
                <a16:creationId xmlns:a16="http://schemas.microsoft.com/office/drawing/2014/main" id="{583394B6-2F3D-9906-15D4-E17CBB06CC78}"/>
              </a:ext>
            </a:extLst>
          </p:cNvPr>
          <p:cNvPicPr>
            <a:picLocks noChangeAspect="1"/>
          </p:cNvPicPr>
          <p:nvPr/>
        </p:nvPicPr>
        <p:blipFill>
          <a:blip r:embed="rId7"/>
          <a:stretch>
            <a:fillRect/>
          </a:stretch>
        </p:blipFill>
        <p:spPr>
          <a:xfrm>
            <a:off x="425823" y="12715018"/>
            <a:ext cx="11077392" cy="1072989"/>
          </a:xfrm>
          <a:prstGeom prst="rect">
            <a:avLst/>
          </a:prstGeom>
        </p:spPr>
      </p:pic>
      <p:pic>
        <p:nvPicPr>
          <p:cNvPr id="48" name="Picture 47">
            <a:extLst>
              <a:ext uri="{FF2B5EF4-FFF2-40B4-BE49-F238E27FC236}">
                <a16:creationId xmlns:a16="http://schemas.microsoft.com/office/drawing/2014/main" id="{431C67D8-F127-282B-8E82-EDA2E0D5A837}"/>
              </a:ext>
            </a:extLst>
          </p:cNvPr>
          <p:cNvPicPr>
            <a:picLocks noChangeAspect="1"/>
          </p:cNvPicPr>
          <p:nvPr/>
        </p:nvPicPr>
        <p:blipFill>
          <a:blip r:embed="rId8"/>
          <a:stretch>
            <a:fillRect/>
          </a:stretch>
        </p:blipFill>
        <p:spPr>
          <a:xfrm>
            <a:off x="403789" y="13634581"/>
            <a:ext cx="11077392" cy="1072989"/>
          </a:xfrm>
          <a:prstGeom prst="rect">
            <a:avLst/>
          </a:prstGeom>
        </p:spPr>
      </p:pic>
      <p:pic>
        <p:nvPicPr>
          <p:cNvPr id="4" name="Picture 3">
            <a:extLst>
              <a:ext uri="{FF2B5EF4-FFF2-40B4-BE49-F238E27FC236}">
                <a16:creationId xmlns:a16="http://schemas.microsoft.com/office/drawing/2014/main" id="{E6526E40-DD61-1FAD-EA71-32E4EF3E88D5}"/>
              </a:ext>
            </a:extLst>
          </p:cNvPr>
          <p:cNvPicPr>
            <a:picLocks noChangeAspect="1"/>
          </p:cNvPicPr>
          <p:nvPr/>
        </p:nvPicPr>
        <p:blipFill>
          <a:blip r:embed="rId9"/>
          <a:stretch>
            <a:fillRect/>
          </a:stretch>
        </p:blipFill>
        <p:spPr>
          <a:xfrm>
            <a:off x="0" y="0"/>
            <a:ext cx="12192000" cy="6858000"/>
          </a:xfrm>
          <a:prstGeom prst="rect">
            <a:avLst/>
          </a:prstGeom>
        </p:spPr>
      </p:pic>
    </p:spTree>
    <p:extLst>
      <p:ext uri="{BB962C8B-B14F-4D97-AF65-F5344CB8AC3E}">
        <p14:creationId xmlns:p14="http://schemas.microsoft.com/office/powerpoint/2010/main" val="3992416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AE94E-BB4A-9A10-7C86-D6CDDE2F26D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0397B22-8D60-CB94-8B64-EBE56EF4AD7B}"/>
              </a:ext>
            </a:extLst>
          </p:cNvPr>
          <p:cNvPicPr>
            <a:picLocks noChangeAspect="1"/>
          </p:cNvPicPr>
          <p:nvPr/>
        </p:nvPicPr>
        <p:blipFill>
          <a:blip r:embed="rId2"/>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9CED0FDA-F2E2-4345-A82F-793E214692CF}"/>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AEC96398-4083-3185-7765-5B23D9C7D325}"/>
              </a:ext>
            </a:extLst>
          </p:cNvPr>
          <p:cNvPicPr>
            <a:picLocks noChangeAspect="1"/>
          </p:cNvPicPr>
          <p:nvPr/>
        </p:nvPicPr>
        <p:blipFill>
          <a:blip r:embed="rId3"/>
          <a:stretch>
            <a:fillRect/>
          </a:stretch>
        </p:blipFill>
        <p:spPr>
          <a:xfrm>
            <a:off x="425824" y="-9938650"/>
            <a:ext cx="4090771" cy="1182727"/>
          </a:xfrm>
          <a:prstGeom prst="rect">
            <a:avLst/>
          </a:prstGeom>
        </p:spPr>
      </p:pic>
      <p:pic>
        <p:nvPicPr>
          <p:cNvPr id="40" name="Picture 39">
            <a:extLst>
              <a:ext uri="{FF2B5EF4-FFF2-40B4-BE49-F238E27FC236}">
                <a16:creationId xmlns:a16="http://schemas.microsoft.com/office/drawing/2014/main" id="{EDB6B720-2BCD-CA3F-6DA2-85170B684628}"/>
              </a:ext>
            </a:extLst>
          </p:cNvPr>
          <p:cNvPicPr>
            <a:picLocks noChangeAspect="1"/>
          </p:cNvPicPr>
          <p:nvPr/>
        </p:nvPicPr>
        <p:blipFill>
          <a:blip r:embed="rId4"/>
          <a:stretch>
            <a:fillRect/>
          </a:stretch>
        </p:blipFill>
        <p:spPr>
          <a:xfrm>
            <a:off x="425823" y="-8909350"/>
            <a:ext cx="11077392" cy="1072989"/>
          </a:xfrm>
          <a:prstGeom prst="rect">
            <a:avLst/>
          </a:prstGeom>
        </p:spPr>
      </p:pic>
      <p:pic>
        <p:nvPicPr>
          <p:cNvPr id="42" name="Picture 41">
            <a:extLst>
              <a:ext uri="{FF2B5EF4-FFF2-40B4-BE49-F238E27FC236}">
                <a16:creationId xmlns:a16="http://schemas.microsoft.com/office/drawing/2014/main" id="{EE8087A5-40B3-054F-A858-F339257366C6}"/>
              </a:ext>
            </a:extLst>
          </p:cNvPr>
          <p:cNvPicPr>
            <a:picLocks noChangeAspect="1"/>
          </p:cNvPicPr>
          <p:nvPr/>
        </p:nvPicPr>
        <p:blipFill>
          <a:blip r:embed="rId5"/>
          <a:stretch>
            <a:fillRect/>
          </a:stretch>
        </p:blipFill>
        <p:spPr>
          <a:xfrm>
            <a:off x="419602" y="-7989788"/>
            <a:ext cx="11772396" cy="1182727"/>
          </a:xfrm>
          <a:prstGeom prst="rect">
            <a:avLst/>
          </a:prstGeom>
        </p:spPr>
      </p:pic>
      <p:pic>
        <p:nvPicPr>
          <p:cNvPr id="44" name="Picture 43">
            <a:extLst>
              <a:ext uri="{FF2B5EF4-FFF2-40B4-BE49-F238E27FC236}">
                <a16:creationId xmlns:a16="http://schemas.microsoft.com/office/drawing/2014/main" id="{C284D990-A5DD-8591-5D88-7BA384B687C8}"/>
              </a:ext>
            </a:extLst>
          </p:cNvPr>
          <p:cNvPicPr>
            <a:picLocks noChangeAspect="1"/>
          </p:cNvPicPr>
          <p:nvPr/>
        </p:nvPicPr>
        <p:blipFill>
          <a:blip r:embed="rId6"/>
          <a:stretch>
            <a:fillRect/>
          </a:stretch>
        </p:blipFill>
        <p:spPr>
          <a:xfrm>
            <a:off x="-241573754" y="-24338130"/>
            <a:ext cx="674857498" cy="65368696"/>
          </a:xfrm>
          <a:prstGeom prst="rect">
            <a:avLst/>
          </a:prstGeom>
        </p:spPr>
      </p:pic>
      <p:pic>
        <p:nvPicPr>
          <p:cNvPr id="46" name="Picture 45">
            <a:extLst>
              <a:ext uri="{FF2B5EF4-FFF2-40B4-BE49-F238E27FC236}">
                <a16:creationId xmlns:a16="http://schemas.microsoft.com/office/drawing/2014/main" id="{9FD82FDA-0C76-4ABE-0CA3-7E23D694D2DC}"/>
              </a:ext>
            </a:extLst>
          </p:cNvPr>
          <p:cNvPicPr>
            <a:picLocks noChangeAspect="1"/>
          </p:cNvPicPr>
          <p:nvPr/>
        </p:nvPicPr>
        <p:blipFill>
          <a:blip r:embed="rId7"/>
          <a:stretch>
            <a:fillRect/>
          </a:stretch>
        </p:blipFill>
        <p:spPr>
          <a:xfrm>
            <a:off x="425823" y="12715018"/>
            <a:ext cx="11077392" cy="1072989"/>
          </a:xfrm>
          <a:prstGeom prst="rect">
            <a:avLst/>
          </a:prstGeom>
        </p:spPr>
      </p:pic>
      <p:pic>
        <p:nvPicPr>
          <p:cNvPr id="48" name="Picture 47">
            <a:extLst>
              <a:ext uri="{FF2B5EF4-FFF2-40B4-BE49-F238E27FC236}">
                <a16:creationId xmlns:a16="http://schemas.microsoft.com/office/drawing/2014/main" id="{46E15EE7-1EFE-3D78-C4B3-1F8962828D4B}"/>
              </a:ext>
            </a:extLst>
          </p:cNvPr>
          <p:cNvPicPr>
            <a:picLocks noChangeAspect="1"/>
          </p:cNvPicPr>
          <p:nvPr/>
        </p:nvPicPr>
        <p:blipFill>
          <a:blip r:embed="rId8"/>
          <a:stretch>
            <a:fillRect/>
          </a:stretch>
        </p:blipFill>
        <p:spPr>
          <a:xfrm>
            <a:off x="403789" y="13634581"/>
            <a:ext cx="11077392" cy="1072989"/>
          </a:xfrm>
          <a:prstGeom prst="rect">
            <a:avLst/>
          </a:prstGeom>
        </p:spPr>
      </p:pic>
      <p:pic>
        <p:nvPicPr>
          <p:cNvPr id="5" name="Picture 4">
            <a:extLst>
              <a:ext uri="{FF2B5EF4-FFF2-40B4-BE49-F238E27FC236}">
                <a16:creationId xmlns:a16="http://schemas.microsoft.com/office/drawing/2014/main" id="{2C0432F3-1D02-2007-DAA0-C5CF5815E5DE}"/>
              </a:ext>
            </a:extLst>
          </p:cNvPr>
          <p:cNvPicPr>
            <a:picLocks noChangeAspect="1"/>
          </p:cNvPicPr>
          <p:nvPr/>
        </p:nvPicPr>
        <p:blipFill>
          <a:blip r:embed="rId9"/>
          <a:stretch>
            <a:fillRect/>
          </a:stretch>
        </p:blipFill>
        <p:spPr>
          <a:xfrm>
            <a:off x="0" y="0"/>
            <a:ext cx="12192000" cy="6858000"/>
          </a:xfrm>
          <a:prstGeom prst="rect">
            <a:avLst/>
          </a:prstGeom>
        </p:spPr>
      </p:pic>
    </p:spTree>
    <p:extLst>
      <p:ext uri="{BB962C8B-B14F-4D97-AF65-F5344CB8AC3E}">
        <p14:creationId xmlns:p14="http://schemas.microsoft.com/office/powerpoint/2010/main" val="2640584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FAEA86-B9A3-0F93-82DA-3C4ACEF2A8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14C4228-3397-8BBE-6FA6-25DD3228A494}"/>
              </a:ext>
            </a:extLst>
          </p:cNvPr>
          <p:cNvPicPr>
            <a:picLocks noChangeAspect="1"/>
          </p:cNvPicPr>
          <p:nvPr/>
        </p:nvPicPr>
        <p:blipFill>
          <a:blip r:embed="rId2"/>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55FC978D-0D0A-D9EF-C696-9517064FA8BD}"/>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88B01C8B-EBF5-F93D-B2D9-D091E0E1BA62}"/>
              </a:ext>
            </a:extLst>
          </p:cNvPr>
          <p:cNvPicPr>
            <a:picLocks noChangeAspect="1"/>
          </p:cNvPicPr>
          <p:nvPr/>
        </p:nvPicPr>
        <p:blipFill>
          <a:blip r:embed="rId3"/>
          <a:stretch>
            <a:fillRect/>
          </a:stretch>
        </p:blipFill>
        <p:spPr>
          <a:xfrm>
            <a:off x="425824" y="397194"/>
            <a:ext cx="4090771" cy="1182727"/>
          </a:xfrm>
          <a:prstGeom prst="rect">
            <a:avLst/>
          </a:prstGeom>
        </p:spPr>
      </p:pic>
      <p:pic>
        <p:nvPicPr>
          <p:cNvPr id="40" name="Picture 39">
            <a:extLst>
              <a:ext uri="{FF2B5EF4-FFF2-40B4-BE49-F238E27FC236}">
                <a16:creationId xmlns:a16="http://schemas.microsoft.com/office/drawing/2014/main" id="{894E94F3-3B78-E4A3-C76E-237B1144BECA}"/>
              </a:ext>
            </a:extLst>
          </p:cNvPr>
          <p:cNvPicPr>
            <a:picLocks noChangeAspect="1"/>
          </p:cNvPicPr>
          <p:nvPr/>
        </p:nvPicPr>
        <p:blipFill>
          <a:blip r:embed="rId4"/>
          <a:stretch>
            <a:fillRect/>
          </a:stretch>
        </p:blipFill>
        <p:spPr>
          <a:xfrm>
            <a:off x="425823" y="1426494"/>
            <a:ext cx="11077392" cy="1072989"/>
          </a:xfrm>
          <a:prstGeom prst="rect">
            <a:avLst/>
          </a:prstGeom>
        </p:spPr>
      </p:pic>
      <p:pic>
        <p:nvPicPr>
          <p:cNvPr id="42" name="Picture 41">
            <a:extLst>
              <a:ext uri="{FF2B5EF4-FFF2-40B4-BE49-F238E27FC236}">
                <a16:creationId xmlns:a16="http://schemas.microsoft.com/office/drawing/2014/main" id="{38EF8374-8FA7-3C6F-F270-D18E2103B50F}"/>
              </a:ext>
            </a:extLst>
          </p:cNvPr>
          <p:cNvPicPr>
            <a:picLocks noChangeAspect="1"/>
          </p:cNvPicPr>
          <p:nvPr/>
        </p:nvPicPr>
        <p:blipFill>
          <a:blip r:embed="rId5"/>
          <a:stretch>
            <a:fillRect/>
          </a:stretch>
        </p:blipFill>
        <p:spPr>
          <a:xfrm>
            <a:off x="419602" y="2346056"/>
            <a:ext cx="11772396" cy="1182727"/>
          </a:xfrm>
          <a:prstGeom prst="rect">
            <a:avLst/>
          </a:prstGeom>
        </p:spPr>
      </p:pic>
      <p:pic>
        <p:nvPicPr>
          <p:cNvPr id="44" name="Picture 43">
            <a:extLst>
              <a:ext uri="{FF2B5EF4-FFF2-40B4-BE49-F238E27FC236}">
                <a16:creationId xmlns:a16="http://schemas.microsoft.com/office/drawing/2014/main" id="{1E2C5B9F-DA52-CC43-B960-A8AE418B6E8E}"/>
              </a:ext>
            </a:extLst>
          </p:cNvPr>
          <p:cNvPicPr>
            <a:picLocks noChangeAspect="1"/>
          </p:cNvPicPr>
          <p:nvPr/>
        </p:nvPicPr>
        <p:blipFill>
          <a:blip r:embed="rId6"/>
          <a:stretch>
            <a:fillRect/>
          </a:stretch>
        </p:blipFill>
        <p:spPr>
          <a:xfrm>
            <a:off x="447857" y="3375356"/>
            <a:ext cx="11077392" cy="1072989"/>
          </a:xfrm>
          <a:prstGeom prst="rect">
            <a:avLst/>
          </a:prstGeom>
        </p:spPr>
      </p:pic>
      <p:pic>
        <p:nvPicPr>
          <p:cNvPr id="46" name="Picture 45">
            <a:extLst>
              <a:ext uri="{FF2B5EF4-FFF2-40B4-BE49-F238E27FC236}">
                <a16:creationId xmlns:a16="http://schemas.microsoft.com/office/drawing/2014/main" id="{875F9344-CE4D-3275-863F-1721AAEC629A}"/>
              </a:ext>
            </a:extLst>
          </p:cNvPr>
          <p:cNvPicPr>
            <a:picLocks noChangeAspect="1"/>
          </p:cNvPicPr>
          <p:nvPr/>
        </p:nvPicPr>
        <p:blipFill>
          <a:blip r:embed="rId7"/>
          <a:stretch>
            <a:fillRect/>
          </a:stretch>
        </p:blipFill>
        <p:spPr>
          <a:xfrm>
            <a:off x="425823" y="4294918"/>
            <a:ext cx="11077392" cy="1072989"/>
          </a:xfrm>
          <a:prstGeom prst="rect">
            <a:avLst/>
          </a:prstGeom>
        </p:spPr>
      </p:pic>
      <p:pic>
        <p:nvPicPr>
          <p:cNvPr id="48" name="Picture 47">
            <a:extLst>
              <a:ext uri="{FF2B5EF4-FFF2-40B4-BE49-F238E27FC236}">
                <a16:creationId xmlns:a16="http://schemas.microsoft.com/office/drawing/2014/main" id="{C0904F5C-1FBB-9C41-46E1-569A34FB2B61}"/>
              </a:ext>
            </a:extLst>
          </p:cNvPr>
          <p:cNvPicPr>
            <a:picLocks noChangeAspect="1"/>
          </p:cNvPicPr>
          <p:nvPr/>
        </p:nvPicPr>
        <p:blipFill>
          <a:blip r:embed="rId8"/>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42380936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1EBDE8-8FED-B324-F36A-4FDD13DCD9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F6BB946-5A55-3BD7-7E22-54D4D92F905D}"/>
              </a:ext>
            </a:extLst>
          </p:cNvPr>
          <p:cNvPicPr>
            <a:picLocks noChangeAspect="1"/>
          </p:cNvPicPr>
          <p:nvPr/>
        </p:nvPicPr>
        <p:blipFill>
          <a:blip r:embed="rId3"/>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0678778A-E191-D6AE-A41C-518A78302794}"/>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01806BB7-7CE9-E5FC-5667-1C2FA429A513}"/>
              </a:ext>
            </a:extLst>
          </p:cNvPr>
          <p:cNvPicPr>
            <a:picLocks noChangeAspect="1"/>
          </p:cNvPicPr>
          <p:nvPr/>
        </p:nvPicPr>
        <p:blipFill>
          <a:blip r:embed="rId4"/>
          <a:stretch>
            <a:fillRect/>
          </a:stretch>
        </p:blipFill>
        <p:spPr>
          <a:xfrm>
            <a:off x="425824" y="-7164782"/>
            <a:ext cx="4090771" cy="1182727"/>
          </a:xfrm>
          <a:prstGeom prst="rect">
            <a:avLst/>
          </a:prstGeom>
        </p:spPr>
      </p:pic>
      <p:pic>
        <p:nvPicPr>
          <p:cNvPr id="40" name="Picture 39">
            <a:extLst>
              <a:ext uri="{FF2B5EF4-FFF2-40B4-BE49-F238E27FC236}">
                <a16:creationId xmlns:a16="http://schemas.microsoft.com/office/drawing/2014/main" id="{544C62DE-5327-EBD7-25C8-F958DD94971D}"/>
              </a:ext>
            </a:extLst>
          </p:cNvPr>
          <p:cNvPicPr>
            <a:picLocks noChangeAspect="1"/>
          </p:cNvPicPr>
          <p:nvPr/>
        </p:nvPicPr>
        <p:blipFill>
          <a:blip r:embed="rId5"/>
          <a:stretch>
            <a:fillRect/>
          </a:stretch>
        </p:blipFill>
        <p:spPr>
          <a:xfrm>
            <a:off x="425823" y="-6135482"/>
            <a:ext cx="11077392" cy="1072989"/>
          </a:xfrm>
          <a:prstGeom prst="rect">
            <a:avLst/>
          </a:prstGeom>
        </p:spPr>
      </p:pic>
      <p:pic>
        <p:nvPicPr>
          <p:cNvPr id="42" name="Picture 41">
            <a:extLst>
              <a:ext uri="{FF2B5EF4-FFF2-40B4-BE49-F238E27FC236}">
                <a16:creationId xmlns:a16="http://schemas.microsoft.com/office/drawing/2014/main" id="{3591F313-5420-CF50-6A26-9622870DEA0F}"/>
              </a:ext>
            </a:extLst>
          </p:cNvPr>
          <p:cNvPicPr>
            <a:picLocks noChangeAspect="1"/>
          </p:cNvPicPr>
          <p:nvPr/>
        </p:nvPicPr>
        <p:blipFill>
          <a:blip r:embed="rId6"/>
          <a:stretch>
            <a:fillRect/>
          </a:stretch>
        </p:blipFill>
        <p:spPr>
          <a:xfrm>
            <a:off x="419602" y="-5215920"/>
            <a:ext cx="11772396" cy="1182727"/>
          </a:xfrm>
          <a:prstGeom prst="rect">
            <a:avLst/>
          </a:prstGeom>
        </p:spPr>
      </p:pic>
      <p:pic>
        <p:nvPicPr>
          <p:cNvPr id="44" name="Picture 43">
            <a:extLst>
              <a:ext uri="{FF2B5EF4-FFF2-40B4-BE49-F238E27FC236}">
                <a16:creationId xmlns:a16="http://schemas.microsoft.com/office/drawing/2014/main" id="{2B470A04-176C-B862-9DF2-40269C7AC3A7}"/>
              </a:ext>
            </a:extLst>
          </p:cNvPr>
          <p:cNvPicPr>
            <a:picLocks noChangeAspect="1"/>
          </p:cNvPicPr>
          <p:nvPr/>
        </p:nvPicPr>
        <p:blipFill>
          <a:blip r:embed="rId7"/>
          <a:stretch>
            <a:fillRect/>
          </a:stretch>
        </p:blipFill>
        <p:spPr>
          <a:xfrm>
            <a:off x="447857" y="-4186620"/>
            <a:ext cx="11077392" cy="1072989"/>
          </a:xfrm>
          <a:prstGeom prst="rect">
            <a:avLst/>
          </a:prstGeom>
        </p:spPr>
      </p:pic>
      <p:pic>
        <p:nvPicPr>
          <p:cNvPr id="46" name="Picture 45">
            <a:extLst>
              <a:ext uri="{FF2B5EF4-FFF2-40B4-BE49-F238E27FC236}">
                <a16:creationId xmlns:a16="http://schemas.microsoft.com/office/drawing/2014/main" id="{F800B762-9104-3F91-0656-66B90A3144BC}"/>
              </a:ext>
            </a:extLst>
          </p:cNvPr>
          <p:cNvPicPr>
            <a:picLocks noChangeAspect="1"/>
          </p:cNvPicPr>
          <p:nvPr/>
        </p:nvPicPr>
        <p:blipFill>
          <a:blip r:embed="rId8"/>
          <a:stretch>
            <a:fillRect/>
          </a:stretch>
        </p:blipFill>
        <p:spPr>
          <a:xfrm>
            <a:off x="-336203246" y="-49742355"/>
            <a:ext cx="1259734350" cy="122021600"/>
          </a:xfrm>
          <a:prstGeom prst="rect">
            <a:avLst/>
          </a:prstGeom>
        </p:spPr>
      </p:pic>
      <p:pic>
        <p:nvPicPr>
          <p:cNvPr id="48" name="Picture 47">
            <a:extLst>
              <a:ext uri="{FF2B5EF4-FFF2-40B4-BE49-F238E27FC236}">
                <a16:creationId xmlns:a16="http://schemas.microsoft.com/office/drawing/2014/main" id="{6313EFF6-4B5E-28E6-F875-DAFAD4C8ABF8}"/>
              </a:ext>
            </a:extLst>
          </p:cNvPr>
          <p:cNvPicPr>
            <a:picLocks noChangeAspect="1"/>
          </p:cNvPicPr>
          <p:nvPr/>
        </p:nvPicPr>
        <p:blipFill>
          <a:blip r:embed="rId9"/>
          <a:stretch>
            <a:fillRect/>
          </a:stretch>
        </p:blipFill>
        <p:spPr>
          <a:xfrm>
            <a:off x="403789" y="13503645"/>
            <a:ext cx="11077392" cy="1072989"/>
          </a:xfrm>
          <a:prstGeom prst="rect">
            <a:avLst/>
          </a:prstGeom>
        </p:spPr>
      </p:pic>
    </p:spTree>
    <p:extLst>
      <p:ext uri="{BB962C8B-B14F-4D97-AF65-F5344CB8AC3E}">
        <p14:creationId xmlns:p14="http://schemas.microsoft.com/office/powerpoint/2010/main" val="42684166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F1D9-7B6E-E5A8-6073-D51DD74107C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64D2185-E47C-C1B4-5EC0-9D96EEA09400}"/>
              </a:ext>
            </a:extLst>
          </p:cNvPr>
          <p:cNvPicPr>
            <a:picLocks noChangeAspect="1"/>
          </p:cNvPicPr>
          <p:nvPr/>
        </p:nvPicPr>
        <p:blipFill>
          <a:blip r:embed="rId2"/>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2517627D-1FB7-BDAD-A357-BF5AE0228342}"/>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4A8CBBE1-C10B-B6D8-56D3-3D90FDCFECFC}"/>
              </a:ext>
            </a:extLst>
          </p:cNvPr>
          <p:cNvPicPr>
            <a:picLocks noChangeAspect="1"/>
          </p:cNvPicPr>
          <p:nvPr/>
        </p:nvPicPr>
        <p:blipFill>
          <a:blip r:embed="rId3"/>
          <a:stretch>
            <a:fillRect/>
          </a:stretch>
        </p:blipFill>
        <p:spPr>
          <a:xfrm>
            <a:off x="425824" y="397194"/>
            <a:ext cx="4090771" cy="1182727"/>
          </a:xfrm>
          <a:prstGeom prst="rect">
            <a:avLst/>
          </a:prstGeom>
        </p:spPr>
      </p:pic>
      <p:pic>
        <p:nvPicPr>
          <p:cNvPr id="40" name="Picture 39">
            <a:extLst>
              <a:ext uri="{FF2B5EF4-FFF2-40B4-BE49-F238E27FC236}">
                <a16:creationId xmlns:a16="http://schemas.microsoft.com/office/drawing/2014/main" id="{B362ED74-2A25-1C65-40CD-6065A9A60782}"/>
              </a:ext>
            </a:extLst>
          </p:cNvPr>
          <p:cNvPicPr>
            <a:picLocks noChangeAspect="1"/>
          </p:cNvPicPr>
          <p:nvPr/>
        </p:nvPicPr>
        <p:blipFill>
          <a:blip r:embed="rId4"/>
          <a:stretch>
            <a:fillRect/>
          </a:stretch>
        </p:blipFill>
        <p:spPr>
          <a:xfrm>
            <a:off x="425823" y="1426494"/>
            <a:ext cx="11077392" cy="1072989"/>
          </a:xfrm>
          <a:prstGeom prst="rect">
            <a:avLst/>
          </a:prstGeom>
        </p:spPr>
      </p:pic>
      <p:pic>
        <p:nvPicPr>
          <p:cNvPr id="42" name="Picture 41">
            <a:extLst>
              <a:ext uri="{FF2B5EF4-FFF2-40B4-BE49-F238E27FC236}">
                <a16:creationId xmlns:a16="http://schemas.microsoft.com/office/drawing/2014/main" id="{01770285-77E1-BBB7-057A-502E43908A57}"/>
              </a:ext>
            </a:extLst>
          </p:cNvPr>
          <p:cNvPicPr>
            <a:picLocks noChangeAspect="1"/>
          </p:cNvPicPr>
          <p:nvPr/>
        </p:nvPicPr>
        <p:blipFill>
          <a:blip r:embed="rId5"/>
          <a:stretch>
            <a:fillRect/>
          </a:stretch>
        </p:blipFill>
        <p:spPr>
          <a:xfrm>
            <a:off x="419602" y="2346056"/>
            <a:ext cx="11772396" cy="1182727"/>
          </a:xfrm>
          <a:prstGeom prst="rect">
            <a:avLst/>
          </a:prstGeom>
        </p:spPr>
      </p:pic>
      <p:pic>
        <p:nvPicPr>
          <p:cNvPr id="44" name="Picture 43">
            <a:extLst>
              <a:ext uri="{FF2B5EF4-FFF2-40B4-BE49-F238E27FC236}">
                <a16:creationId xmlns:a16="http://schemas.microsoft.com/office/drawing/2014/main" id="{767F7ACE-1A40-2E71-B71B-32B10D05B01E}"/>
              </a:ext>
            </a:extLst>
          </p:cNvPr>
          <p:cNvPicPr>
            <a:picLocks noChangeAspect="1"/>
          </p:cNvPicPr>
          <p:nvPr/>
        </p:nvPicPr>
        <p:blipFill>
          <a:blip r:embed="rId6"/>
          <a:stretch>
            <a:fillRect/>
          </a:stretch>
        </p:blipFill>
        <p:spPr>
          <a:xfrm>
            <a:off x="447857" y="3375356"/>
            <a:ext cx="11077392" cy="1072989"/>
          </a:xfrm>
          <a:prstGeom prst="rect">
            <a:avLst/>
          </a:prstGeom>
        </p:spPr>
      </p:pic>
      <p:pic>
        <p:nvPicPr>
          <p:cNvPr id="46" name="Picture 45">
            <a:extLst>
              <a:ext uri="{FF2B5EF4-FFF2-40B4-BE49-F238E27FC236}">
                <a16:creationId xmlns:a16="http://schemas.microsoft.com/office/drawing/2014/main" id="{0A654F48-630E-20E3-CCAF-3FCF121213B9}"/>
              </a:ext>
            </a:extLst>
          </p:cNvPr>
          <p:cNvPicPr>
            <a:picLocks noChangeAspect="1"/>
          </p:cNvPicPr>
          <p:nvPr/>
        </p:nvPicPr>
        <p:blipFill>
          <a:blip r:embed="rId7"/>
          <a:stretch>
            <a:fillRect/>
          </a:stretch>
        </p:blipFill>
        <p:spPr>
          <a:xfrm>
            <a:off x="425823" y="4294918"/>
            <a:ext cx="11077392" cy="1072989"/>
          </a:xfrm>
          <a:prstGeom prst="rect">
            <a:avLst/>
          </a:prstGeom>
        </p:spPr>
      </p:pic>
      <p:pic>
        <p:nvPicPr>
          <p:cNvPr id="48" name="Picture 47">
            <a:extLst>
              <a:ext uri="{FF2B5EF4-FFF2-40B4-BE49-F238E27FC236}">
                <a16:creationId xmlns:a16="http://schemas.microsoft.com/office/drawing/2014/main" id="{F9AACFDB-C63F-96E1-2894-7E42EBF9B0B9}"/>
              </a:ext>
            </a:extLst>
          </p:cNvPr>
          <p:cNvPicPr>
            <a:picLocks noChangeAspect="1"/>
          </p:cNvPicPr>
          <p:nvPr/>
        </p:nvPicPr>
        <p:blipFill>
          <a:blip r:embed="rId8"/>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1133959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9D1B-8227-1D3B-5F23-B3749B4D75DA}"/>
            </a:ext>
          </a:extLst>
        </p:cNvPr>
        <p:cNvGrpSpPr/>
        <p:nvPr/>
      </p:nvGrpSpPr>
      <p:grpSpPr>
        <a:xfrm>
          <a:off x="0" y="0"/>
          <a:ext cx="0" cy="0"/>
          <a:chOff x="0" y="0"/>
          <a:chExt cx="0" cy="0"/>
        </a:xfrm>
      </p:grpSpPr>
      <p:pic>
        <p:nvPicPr>
          <p:cNvPr id="3" name="Picture 2" descr="A graphic of a paper and a pencil&#10;&#10;AI-generated content may be incorrect.">
            <a:extLst>
              <a:ext uri="{FF2B5EF4-FFF2-40B4-BE49-F238E27FC236}">
                <a16:creationId xmlns:a16="http://schemas.microsoft.com/office/drawing/2014/main" id="{71CB8F4E-FCCB-F584-6A9D-D10ED4A599AE}"/>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3905250" y="7429321"/>
            <a:ext cx="4362450" cy="4572000"/>
          </a:xfrm>
          <a:prstGeom prst="rect">
            <a:avLst/>
          </a:prstGeom>
        </p:spPr>
      </p:pic>
      <p:sp>
        <p:nvSpPr>
          <p:cNvPr id="4" name="TextBox 3">
            <a:extLst>
              <a:ext uri="{FF2B5EF4-FFF2-40B4-BE49-F238E27FC236}">
                <a16:creationId xmlns:a16="http://schemas.microsoft.com/office/drawing/2014/main" id="{24BCCE8F-50EC-E61A-2C5E-A1B6102FD145}"/>
              </a:ext>
            </a:extLst>
          </p:cNvPr>
          <p:cNvSpPr txBox="1"/>
          <p:nvPr/>
        </p:nvSpPr>
        <p:spPr>
          <a:xfrm>
            <a:off x="701675" y="-2170450"/>
            <a:ext cx="10788650" cy="1200329"/>
          </a:xfrm>
          <a:prstGeom prst="rect">
            <a:avLst/>
          </a:prstGeom>
          <a:noFill/>
        </p:spPr>
        <p:txBody>
          <a:bodyPr wrap="square" rtlCol="0">
            <a:spAutoFit/>
          </a:bodyPr>
          <a:lstStyle/>
          <a:p>
            <a:pPr algn="ctr"/>
            <a:r>
              <a:rPr lang="en-US" sz="7200" b="1" dirty="0">
                <a:latin typeface="Avenir Next LT Pro" panose="020B0504020202020204" pitchFamily="34" charset="0"/>
              </a:rPr>
              <a:t>RECOMMENDATIONS</a:t>
            </a:r>
          </a:p>
        </p:txBody>
      </p:sp>
      <p:pic>
        <p:nvPicPr>
          <p:cNvPr id="2" name="Picture 1">
            <a:extLst>
              <a:ext uri="{FF2B5EF4-FFF2-40B4-BE49-F238E27FC236}">
                <a16:creationId xmlns:a16="http://schemas.microsoft.com/office/drawing/2014/main" id="{778DED40-99E8-6426-ACD8-971686336DBE}"/>
              </a:ext>
            </a:extLst>
          </p:cNvPr>
          <p:cNvPicPr>
            <a:picLocks noChangeAspect="1"/>
          </p:cNvPicPr>
          <p:nvPr/>
        </p:nvPicPr>
        <p:blipFill>
          <a:blip r:embed="rId3"/>
          <a:stretch>
            <a:fillRect/>
          </a:stretch>
        </p:blipFill>
        <p:spPr>
          <a:xfrm>
            <a:off x="425824" y="-18094006"/>
            <a:ext cx="4090771" cy="1182727"/>
          </a:xfrm>
          <a:prstGeom prst="rect">
            <a:avLst/>
          </a:prstGeom>
        </p:spPr>
      </p:pic>
      <p:pic>
        <p:nvPicPr>
          <p:cNvPr id="5" name="Picture 4">
            <a:extLst>
              <a:ext uri="{FF2B5EF4-FFF2-40B4-BE49-F238E27FC236}">
                <a16:creationId xmlns:a16="http://schemas.microsoft.com/office/drawing/2014/main" id="{376FF845-9B85-9B3F-9743-1E115C102C62}"/>
              </a:ext>
            </a:extLst>
          </p:cNvPr>
          <p:cNvPicPr>
            <a:picLocks noChangeAspect="1"/>
          </p:cNvPicPr>
          <p:nvPr/>
        </p:nvPicPr>
        <p:blipFill>
          <a:blip r:embed="rId4"/>
          <a:stretch>
            <a:fillRect/>
          </a:stretch>
        </p:blipFill>
        <p:spPr>
          <a:xfrm>
            <a:off x="425823" y="-17064706"/>
            <a:ext cx="11077392" cy="1072989"/>
          </a:xfrm>
          <a:prstGeom prst="rect">
            <a:avLst/>
          </a:prstGeom>
        </p:spPr>
      </p:pic>
      <p:pic>
        <p:nvPicPr>
          <p:cNvPr id="6" name="Picture 5">
            <a:extLst>
              <a:ext uri="{FF2B5EF4-FFF2-40B4-BE49-F238E27FC236}">
                <a16:creationId xmlns:a16="http://schemas.microsoft.com/office/drawing/2014/main" id="{49BD1F5E-D365-81C8-B385-449FEF9BA70D}"/>
              </a:ext>
            </a:extLst>
          </p:cNvPr>
          <p:cNvPicPr>
            <a:picLocks noChangeAspect="1"/>
          </p:cNvPicPr>
          <p:nvPr/>
        </p:nvPicPr>
        <p:blipFill>
          <a:blip r:embed="rId5"/>
          <a:stretch>
            <a:fillRect/>
          </a:stretch>
        </p:blipFill>
        <p:spPr>
          <a:xfrm>
            <a:off x="419602" y="-16145144"/>
            <a:ext cx="11772396" cy="1182727"/>
          </a:xfrm>
          <a:prstGeom prst="rect">
            <a:avLst/>
          </a:prstGeom>
        </p:spPr>
      </p:pic>
      <p:pic>
        <p:nvPicPr>
          <p:cNvPr id="7" name="Picture 6">
            <a:extLst>
              <a:ext uri="{FF2B5EF4-FFF2-40B4-BE49-F238E27FC236}">
                <a16:creationId xmlns:a16="http://schemas.microsoft.com/office/drawing/2014/main" id="{68356B42-9838-46EE-4E5E-A42B15275C42}"/>
              </a:ext>
            </a:extLst>
          </p:cNvPr>
          <p:cNvPicPr>
            <a:picLocks noChangeAspect="1"/>
          </p:cNvPicPr>
          <p:nvPr/>
        </p:nvPicPr>
        <p:blipFill>
          <a:blip r:embed="rId6"/>
          <a:stretch>
            <a:fillRect/>
          </a:stretch>
        </p:blipFill>
        <p:spPr>
          <a:xfrm>
            <a:off x="447857" y="-15115844"/>
            <a:ext cx="11077392" cy="1072989"/>
          </a:xfrm>
          <a:prstGeom prst="rect">
            <a:avLst/>
          </a:prstGeom>
        </p:spPr>
      </p:pic>
      <p:pic>
        <p:nvPicPr>
          <p:cNvPr id="8" name="Picture 7">
            <a:extLst>
              <a:ext uri="{FF2B5EF4-FFF2-40B4-BE49-F238E27FC236}">
                <a16:creationId xmlns:a16="http://schemas.microsoft.com/office/drawing/2014/main" id="{298D6C3B-E062-0D0B-7E84-FC0D9228C07F}"/>
              </a:ext>
            </a:extLst>
          </p:cNvPr>
          <p:cNvPicPr>
            <a:picLocks noChangeAspect="1"/>
          </p:cNvPicPr>
          <p:nvPr/>
        </p:nvPicPr>
        <p:blipFill>
          <a:blip r:embed="rId7"/>
          <a:stretch>
            <a:fillRect/>
          </a:stretch>
        </p:blipFill>
        <p:spPr>
          <a:xfrm>
            <a:off x="425823" y="-14196282"/>
            <a:ext cx="11077392" cy="1072989"/>
          </a:xfrm>
          <a:prstGeom prst="rect">
            <a:avLst/>
          </a:prstGeom>
        </p:spPr>
      </p:pic>
      <p:pic>
        <p:nvPicPr>
          <p:cNvPr id="9" name="Picture 8">
            <a:extLst>
              <a:ext uri="{FF2B5EF4-FFF2-40B4-BE49-F238E27FC236}">
                <a16:creationId xmlns:a16="http://schemas.microsoft.com/office/drawing/2014/main" id="{12E16164-ADE6-FE2A-4620-ED18C75C4B80}"/>
              </a:ext>
            </a:extLst>
          </p:cNvPr>
          <p:cNvPicPr>
            <a:picLocks noChangeAspect="1"/>
          </p:cNvPicPr>
          <p:nvPr/>
        </p:nvPicPr>
        <p:blipFill>
          <a:blip r:embed="rId8"/>
          <a:stretch>
            <a:fillRect/>
          </a:stretch>
        </p:blipFill>
        <p:spPr>
          <a:xfrm>
            <a:off x="-141976396" y="-33202880"/>
            <a:ext cx="1223270192" cy="77094080"/>
          </a:xfrm>
          <a:prstGeom prst="rect">
            <a:avLst/>
          </a:prstGeom>
        </p:spPr>
      </p:pic>
    </p:spTree>
    <p:extLst>
      <p:ext uri="{BB962C8B-B14F-4D97-AF65-F5344CB8AC3E}">
        <p14:creationId xmlns:p14="http://schemas.microsoft.com/office/powerpoint/2010/main" val="16715105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C3E7-2D97-28AB-C24E-22DAF988CA09}"/>
            </a:ext>
          </a:extLst>
        </p:cNvPr>
        <p:cNvGrpSpPr/>
        <p:nvPr/>
      </p:nvGrpSpPr>
      <p:grpSpPr>
        <a:xfrm>
          <a:off x="0" y="0"/>
          <a:ext cx="0" cy="0"/>
          <a:chOff x="0" y="0"/>
          <a:chExt cx="0" cy="0"/>
        </a:xfrm>
      </p:grpSpPr>
      <p:pic>
        <p:nvPicPr>
          <p:cNvPr id="3" name="Picture 2" descr="A graphic of a paper and a pencil&#10;&#10;AI-generated content may be incorrect.">
            <a:extLst>
              <a:ext uri="{FF2B5EF4-FFF2-40B4-BE49-F238E27FC236}">
                <a16:creationId xmlns:a16="http://schemas.microsoft.com/office/drawing/2014/main" id="{2FF73DA6-84BF-D9A9-290E-053BD2FC1730}"/>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3905250" y="2209621"/>
            <a:ext cx="4362450" cy="4572000"/>
          </a:xfrm>
          <a:prstGeom prst="rect">
            <a:avLst/>
          </a:prstGeom>
        </p:spPr>
      </p:pic>
      <p:sp>
        <p:nvSpPr>
          <p:cNvPr id="4" name="TextBox 3">
            <a:extLst>
              <a:ext uri="{FF2B5EF4-FFF2-40B4-BE49-F238E27FC236}">
                <a16:creationId xmlns:a16="http://schemas.microsoft.com/office/drawing/2014/main" id="{6F25C7C1-37AE-EDE0-C18E-95970EFB9AF2}"/>
              </a:ext>
            </a:extLst>
          </p:cNvPr>
          <p:cNvSpPr txBox="1"/>
          <p:nvPr/>
        </p:nvSpPr>
        <p:spPr>
          <a:xfrm>
            <a:off x="701675" y="1944350"/>
            <a:ext cx="10788650" cy="1200329"/>
          </a:xfrm>
          <a:prstGeom prst="rect">
            <a:avLst/>
          </a:prstGeom>
          <a:noFill/>
        </p:spPr>
        <p:txBody>
          <a:bodyPr wrap="square" rtlCol="0">
            <a:spAutoFit/>
          </a:bodyPr>
          <a:lstStyle/>
          <a:p>
            <a:pPr algn="ctr"/>
            <a:r>
              <a:rPr lang="en-US" sz="7200" b="1" dirty="0">
                <a:latin typeface="Avenir Next LT Pro" panose="020B0504020202020204" pitchFamily="34" charset="0"/>
              </a:rPr>
              <a:t>RECOMMENDATIONS</a:t>
            </a:r>
          </a:p>
        </p:txBody>
      </p:sp>
    </p:spTree>
    <p:extLst>
      <p:ext uri="{BB962C8B-B14F-4D97-AF65-F5344CB8AC3E}">
        <p14:creationId xmlns:p14="http://schemas.microsoft.com/office/powerpoint/2010/main" val="42244539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15F71-F132-105C-6569-7B571720591C}"/>
            </a:ext>
          </a:extLst>
        </p:cNvPr>
        <p:cNvGrpSpPr/>
        <p:nvPr/>
      </p:nvGrpSpPr>
      <p:grpSpPr>
        <a:xfrm>
          <a:off x="0" y="0"/>
          <a:ext cx="0" cy="0"/>
          <a:chOff x="0" y="0"/>
          <a:chExt cx="0" cy="0"/>
        </a:xfrm>
      </p:grpSpPr>
      <p:pic>
        <p:nvPicPr>
          <p:cNvPr id="3" name="Picture 2" descr="A graphic of a paper and a pencil&#10;&#10;AI-generated content may be incorrect.">
            <a:extLst>
              <a:ext uri="{FF2B5EF4-FFF2-40B4-BE49-F238E27FC236}">
                <a16:creationId xmlns:a16="http://schemas.microsoft.com/office/drawing/2014/main" id="{29B21618-2683-7E48-DFD7-ED1875322576}"/>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052372A0-3CD4-AE9E-D01B-24F074186558}"/>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9B291229-5FF7-8621-53B5-82666F530CA8}"/>
              </a:ext>
            </a:extLst>
          </p:cNvPr>
          <p:cNvSpPr/>
          <p:nvPr/>
        </p:nvSpPr>
        <p:spPr>
          <a:xfrm>
            <a:off x="0" y="628650"/>
            <a:ext cx="12192000" cy="62293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D3ABD27-DBE3-30BD-2D7F-ED25259EA1FC}"/>
              </a:ext>
            </a:extLst>
          </p:cNvPr>
          <p:cNvSpPr txBox="1"/>
          <p:nvPr/>
        </p:nvSpPr>
        <p:spPr>
          <a:xfrm>
            <a:off x="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SHORT TERM</a:t>
            </a:r>
          </a:p>
        </p:txBody>
      </p:sp>
      <p:sp>
        <p:nvSpPr>
          <p:cNvPr id="6" name="TextBox 5">
            <a:extLst>
              <a:ext uri="{FF2B5EF4-FFF2-40B4-BE49-F238E27FC236}">
                <a16:creationId xmlns:a16="http://schemas.microsoft.com/office/drawing/2014/main" id="{6DD0C889-901A-9465-3584-8F096A88E13B}"/>
              </a:ext>
            </a:extLst>
          </p:cNvPr>
          <p:cNvSpPr txBox="1"/>
          <p:nvPr/>
        </p:nvSpPr>
        <p:spPr>
          <a:xfrm>
            <a:off x="609600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LONG TERM</a:t>
            </a:r>
          </a:p>
        </p:txBody>
      </p:sp>
    </p:spTree>
    <p:extLst>
      <p:ext uri="{BB962C8B-B14F-4D97-AF65-F5344CB8AC3E}">
        <p14:creationId xmlns:p14="http://schemas.microsoft.com/office/powerpoint/2010/main" val="2404975258"/>
      </p:ext>
    </p:extLst>
  </p:cSld>
  <p:clrMapOvr>
    <a:masterClrMapping/>
  </p:clrMapOvr>
  <p:transition spd="slow">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D2E2A-4627-30D5-CA9D-8B4C55DA1E9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A9C32AE-1A07-7BAE-D851-FEA8DCCE28F3}"/>
              </a:ext>
            </a:extLst>
          </p:cNvPr>
          <p:cNvSpPr/>
          <p:nvPr/>
        </p:nvSpPr>
        <p:spPr>
          <a:xfrm>
            <a:off x="0" y="0"/>
            <a:ext cx="6096000" cy="1409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ic of a paper and a pencil&#10;&#10;AI-generated content may be incorrect.">
            <a:extLst>
              <a:ext uri="{FF2B5EF4-FFF2-40B4-BE49-F238E27FC236}">
                <a16:creationId xmlns:a16="http://schemas.microsoft.com/office/drawing/2014/main" id="{C22D0960-46A3-C901-9D94-76A153660A3F}"/>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CF58CADE-4F57-F245-6130-A8945A9C7E50}"/>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0D70DF90-009E-72D5-E99F-81161CD5A9C4}"/>
              </a:ext>
            </a:extLst>
          </p:cNvPr>
          <p:cNvSpPr/>
          <p:nvPr/>
        </p:nvSpPr>
        <p:spPr>
          <a:xfrm>
            <a:off x="0" y="628650"/>
            <a:ext cx="12192000" cy="6229350"/>
          </a:xfrm>
          <a:prstGeom prst="rect">
            <a:avLst/>
          </a:prstGeom>
          <a:solidFill>
            <a:srgbClr val="DBC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9FF85A5-3B9A-4BCA-4D9B-9EF83F9B1AE1}"/>
              </a:ext>
            </a:extLst>
          </p:cNvPr>
          <p:cNvSpPr txBox="1"/>
          <p:nvPr/>
        </p:nvSpPr>
        <p:spPr>
          <a:xfrm>
            <a:off x="0" y="0"/>
            <a:ext cx="6096000" cy="707886"/>
          </a:xfrm>
          <a:prstGeom prst="rect">
            <a:avLst/>
          </a:prstGeom>
          <a:solidFill>
            <a:srgbClr val="DBCAC2"/>
          </a:solidFill>
          <a:ln>
            <a:noFill/>
          </a:ln>
        </p:spPr>
        <p:txBody>
          <a:bodyPr wrap="square" rtlCol="0">
            <a:spAutoFit/>
          </a:bodyPr>
          <a:lstStyle/>
          <a:p>
            <a:pPr algn="ctr"/>
            <a:r>
              <a:rPr lang="en-US" sz="4000" b="1" dirty="0">
                <a:latin typeface="Avenir Next LT Pro" panose="020B0504020202020204" pitchFamily="34" charset="0"/>
              </a:rPr>
              <a:t>SHORT TERM</a:t>
            </a:r>
          </a:p>
        </p:txBody>
      </p:sp>
      <p:sp>
        <p:nvSpPr>
          <p:cNvPr id="6" name="TextBox 5">
            <a:extLst>
              <a:ext uri="{FF2B5EF4-FFF2-40B4-BE49-F238E27FC236}">
                <a16:creationId xmlns:a16="http://schemas.microsoft.com/office/drawing/2014/main" id="{9C1AE351-2444-DE13-4736-1D94AFAD3E02}"/>
              </a:ext>
            </a:extLst>
          </p:cNvPr>
          <p:cNvSpPr txBox="1"/>
          <p:nvPr/>
        </p:nvSpPr>
        <p:spPr>
          <a:xfrm>
            <a:off x="609600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LONG TERM</a:t>
            </a:r>
          </a:p>
        </p:txBody>
      </p:sp>
      <p:pic>
        <p:nvPicPr>
          <p:cNvPr id="9" name="Graphic 8" descr="Checklist with solid fill">
            <a:extLst>
              <a:ext uri="{FF2B5EF4-FFF2-40B4-BE49-F238E27FC236}">
                <a16:creationId xmlns:a16="http://schemas.microsoft.com/office/drawing/2014/main" id="{36A7D235-551D-846F-FFC0-0FB214A608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100" y="1981200"/>
            <a:ext cx="850900" cy="850900"/>
          </a:xfrm>
          <a:prstGeom prst="rect">
            <a:avLst/>
          </a:prstGeom>
        </p:spPr>
      </p:pic>
      <p:sp>
        <p:nvSpPr>
          <p:cNvPr id="10" name="TextBox 9">
            <a:extLst>
              <a:ext uri="{FF2B5EF4-FFF2-40B4-BE49-F238E27FC236}">
                <a16:creationId xmlns:a16="http://schemas.microsoft.com/office/drawing/2014/main" id="{C390B792-1E99-1E10-571A-D225567E2F09}"/>
              </a:ext>
            </a:extLst>
          </p:cNvPr>
          <p:cNvSpPr txBox="1"/>
          <p:nvPr/>
        </p:nvSpPr>
        <p:spPr>
          <a:xfrm>
            <a:off x="0" y="2829580"/>
            <a:ext cx="3136900" cy="400110"/>
          </a:xfrm>
          <a:prstGeom prst="rect">
            <a:avLst/>
          </a:prstGeom>
          <a:noFill/>
        </p:spPr>
        <p:txBody>
          <a:bodyPr wrap="square" rtlCol="0">
            <a:spAutoFit/>
          </a:bodyPr>
          <a:lstStyle/>
          <a:p>
            <a:r>
              <a:rPr lang="en-US" sz="2000" b="1" dirty="0"/>
              <a:t>PRE-OPERATION</a:t>
            </a:r>
          </a:p>
        </p:txBody>
      </p:sp>
    </p:spTree>
    <p:extLst>
      <p:ext uri="{BB962C8B-B14F-4D97-AF65-F5344CB8AC3E}">
        <p14:creationId xmlns:p14="http://schemas.microsoft.com/office/powerpoint/2010/main" val="136582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A9F70-91C2-264E-EDC0-0D4B6893D89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91459AF-8350-C419-2C4B-050980BB1F80}"/>
              </a:ext>
            </a:extLst>
          </p:cNvPr>
          <p:cNvSpPr/>
          <p:nvPr/>
        </p:nvSpPr>
        <p:spPr>
          <a:xfrm>
            <a:off x="0" y="0"/>
            <a:ext cx="6096000" cy="1409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ic of a paper and a pencil&#10;&#10;AI-generated content may be incorrect.">
            <a:extLst>
              <a:ext uri="{FF2B5EF4-FFF2-40B4-BE49-F238E27FC236}">
                <a16:creationId xmlns:a16="http://schemas.microsoft.com/office/drawing/2014/main" id="{D5C47220-B07D-3C50-6327-36ACFFD243B8}"/>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4B9ECA92-C956-4FFF-FC47-794BFEE8A364}"/>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F729B05E-9DAB-5D6F-93C3-969133332131}"/>
              </a:ext>
            </a:extLst>
          </p:cNvPr>
          <p:cNvSpPr/>
          <p:nvPr/>
        </p:nvSpPr>
        <p:spPr>
          <a:xfrm>
            <a:off x="0" y="628650"/>
            <a:ext cx="12192000" cy="6229350"/>
          </a:xfrm>
          <a:prstGeom prst="rect">
            <a:avLst/>
          </a:prstGeom>
          <a:solidFill>
            <a:srgbClr val="DBC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0D5BCA-13BF-8AAE-76B9-8AA384B5BD4C}"/>
              </a:ext>
            </a:extLst>
          </p:cNvPr>
          <p:cNvSpPr txBox="1"/>
          <p:nvPr/>
        </p:nvSpPr>
        <p:spPr>
          <a:xfrm>
            <a:off x="0" y="0"/>
            <a:ext cx="6096000" cy="707886"/>
          </a:xfrm>
          <a:prstGeom prst="rect">
            <a:avLst/>
          </a:prstGeom>
          <a:solidFill>
            <a:srgbClr val="DBCAC2"/>
          </a:solidFill>
          <a:ln>
            <a:noFill/>
          </a:ln>
        </p:spPr>
        <p:txBody>
          <a:bodyPr wrap="square" rtlCol="0">
            <a:spAutoFit/>
          </a:bodyPr>
          <a:lstStyle/>
          <a:p>
            <a:pPr algn="ctr"/>
            <a:r>
              <a:rPr lang="en-US" sz="4000" b="1" dirty="0">
                <a:latin typeface="Avenir Next LT Pro" panose="020B0504020202020204" pitchFamily="34" charset="0"/>
              </a:rPr>
              <a:t>SHORT TERM</a:t>
            </a:r>
          </a:p>
        </p:txBody>
      </p:sp>
      <p:sp>
        <p:nvSpPr>
          <p:cNvPr id="6" name="TextBox 5">
            <a:extLst>
              <a:ext uri="{FF2B5EF4-FFF2-40B4-BE49-F238E27FC236}">
                <a16:creationId xmlns:a16="http://schemas.microsoft.com/office/drawing/2014/main" id="{D87FC3B9-AECE-FC8B-7A26-5C3EF462DE91}"/>
              </a:ext>
            </a:extLst>
          </p:cNvPr>
          <p:cNvSpPr txBox="1"/>
          <p:nvPr/>
        </p:nvSpPr>
        <p:spPr>
          <a:xfrm>
            <a:off x="609600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LONG TERM</a:t>
            </a:r>
          </a:p>
        </p:txBody>
      </p:sp>
      <p:sp>
        <p:nvSpPr>
          <p:cNvPr id="8" name="Oval 7">
            <a:extLst>
              <a:ext uri="{FF2B5EF4-FFF2-40B4-BE49-F238E27FC236}">
                <a16:creationId xmlns:a16="http://schemas.microsoft.com/office/drawing/2014/main" id="{0DD2C227-C813-DAB9-7AEB-CD58B0AE521D}"/>
              </a:ext>
            </a:extLst>
          </p:cNvPr>
          <p:cNvSpPr/>
          <p:nvPr/>
        </p:nvSpPr>
        <p:spPr>
          <a:xfrm>
            <a:off x="-725719" y="1711325"/>
            <a:ext cx="3011719" cy="2032000"/>
          </a:xfrm>
          <a:prstGeom prst="ellipse">
            <a:avLst/>
          </a:prstGeom>
          <a:solidFill>
            <a:srgbClr val="DEC7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hecklist with solid fill">
            <a:extLst>
              <a:ext uri="{FF2B5EF4-FFF2-40B4-BE49-F238E27FC236}">
                <a16:creationId xmlns:a16="http://schemas.microsoft.com/office/drawing/2014/main" id="{6D990CAD-F4C2-E6DA-DA12-9EE7910F8C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100" y="1981200"/>
            <a:ext cx="850900" cy="850900"/>
          </a:xfrm>
          <a:prstGeom prst="rect">
            <a:avLst/>
          </a:prstGeom>
        </p:spPr>
      </p:pic>
      <p:sp>
        <p:nvSpPr>
          <p:cNvPr id="10" name="TextBox 9">
            <a:extLst>
              <a:ext uri="{FF2B5EF4-FFF2-40B4-BE49-F238E27FC236}">
                <a16:creationId xmlns:a16="http://schemas.microsoft.com/office/drawing/2014/main" id="{F17D021B-32C2-82EE-8351-8239B0CDD05D}"/>
              </a:ext>
            </a:extLst>
          </p:cNvPr>
          <p:cNvSpPr txBox="1"/>
          <p:nvPr/>
        </p:nvSpPr>
        <p:spPr>
          <a:xfrm>
            <a:off x="0" y="2829580"/>
            <a:ext cx="3136900" cy="400110"/>
          </a:xfrm>
          <a:prstGeom prst="rect">
            <a:avLst/>
          </a:prstGeom>
          <a:noFill/>
        </p:spPr>
        <p:txBody>
          <a:bodyPr wrap="square" rtlCol="0">
            <a:spAutoFit/>
          </a:bodyPr>
          <a:lstStyle/>
          <a:p>
            <a:r>
              <a:rPr lang="en-US" sz="2000" b="1" dirty="0"/>
              <a:t>PRE-OPERATION</a:t>
            </a:r>
          </a:p>
        </p:txBody>
      </p:sp>
      <p:pic>
        <p:nvPicPr>
          <p:cNvPr id="14" name="Picture 13">
            <a:extLst>
              <a:ext uri="{FF2B5EF4-FFF2-40B4-BE49-F238E27FC236}">
                <a16:creationId xmlns:a16="http://schemas.microsoft.com/office/drawing/2014/main" id="{2D8D093F-11F6-4AF3-925F-9770BBDC89BC}"/>
              </a:ext>
            </a:extLst>
          </p:cNvPr>
          <p:cNvPicPr>
            <a:picLocks noChangeAspect="1"/>
          </p:cNvPicPr>
          <p:nvPr/>
        </p:nvPicPr>
        <p:blipFill>
          <a:blip r:embed="rId5"/>
          <a:stretch>
            <a:fillRect/>
          </a:stretch>
        </p:blipFill>
        <p:spPr>
          <a:xfrm>
            <a:off x="3048000" y="863600"/>
            <a:ext cx="4284288" cy="5761037"/>
          </a:xfrm>
          <a:prstGeom prst="rect">
            <a:avLst/>
          </a:prstGeom>
        </p:spPr>
      </p:pic>
      <p:pic>
        <p:nvPicPr>
          <p:cNvPr id="16" name="Picture 15">
            <a:extLst>
              <a:ext uri="{FF2B5EF4-FFF2-40B4-BE49-F238E27FC236}">
                <a16:creationId xmlns:a16="http://schemas.microsoft.com/office/drawing/2014/main" id="{41877752-B273-10B2-361A-AF63DCFD82B4}"/>
              </a:ext>
            </a:extLst>
          </p:cNvPr>
          <p:cNvPicPr>
            <a:picLocks noChangeAspect="1"/>
          </p:cNvPicPr>
          <p:nvPr/>
        </p:nvPicPr>
        <p:blipFill>
          <a:blip r:embed="rId6"/>
          <a:stretch>
            <a:fillRect/>
          </a:stretch>
        </p:blipFill>
        <p:spPr>
          <a:xfrm>
            <a:off x="7589462" y="863600"/>
            <a:ext cx="4404991" cy="5761037"/>
          </a:xfrm>
          <a:prstGeom prst="rect">
            <a:avLst/>
          </a:prstGeom>
        </p:spPr>
      </p:pic>
    </p:spTree>
    <p:extLst>
      <p:ext uri="{BB962C8B-B14F-4D97-AF65-F5344CB8AC3E}">
        <p14:creationId xmlns:p14="http://schemas.microsoft.com/office/powerpoint/2010/main" val="60280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2866D-7730-93AF-2605-096916834B9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43C8213-447E-8223-B8E8-839BB36028D6}"/>
              </a:ext>
            </a:extLst>
          </p:cNvPr>
          <p:cNvSpPr/>
          <p:nvPr/>
        </p:nvSpPr>
        <p:spPr>
          <a:xfrm>
            <a:off x="0" y="0"/>
            <a:ext cx="6096000" cy="1409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ic of a paper and a pencil&#10;&#10;AI-generated content may be incorrect.">
            <a:extLst>
              <a:ext uri="{FF2B5EF4-FFF2-40B4-BE49-F238E27FC236}">
                <a16:creationId xmlns:a16="http://schemas.microsoft.com/office/drawing/2014/main" id="{CBD199D3-1ADE-220C-ED2C-7A4F78935EE9}"/>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D81B6D1E-5506-B0FC-4486-0E6C79BB6C5A}"/>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688743C8-92E5-C9BC-2604-A4A142285F5F}"/>
              </a:ext>
            </a:extLst>
          </p:cNvPr>
          <p:cNvSpPr/>
          <p:nvPr/>
        </p:nvSpPr>
        <p:spPr>
          <a:xfrm>
            <a:off x="0" y="628650"/>
            <a:ext cx="12192000" cy="6229350"/>
          </a:xfrm>
          <a:prstGeom prst="rect">
            <a:avLst/>
          </a:prstGeom>
          <a:solidFill>
            <a:srgbClr val="DBC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CA0EC83-D4AB-6F16-31B5-1A2A607BCFF5}"/>
              </a:ext>
            </a:extLst>
          </p:cNvPr>
          <p:cNvSpPr txBox="1"/>
          <p:nvPr/>
        </p:nvSpPr>
        <p:spPr>
          <a:xfrm>
            <a:off x="0" y="0"/>
            <a:ext cx="6096000" cy="707886"/>
          </a:xfrm>
          <a:prstGeom prst="rect">
            <a:avLst/>
          </a:prstGeom>
          <a:solidFill>
            <a:srgbClr val="DBCAC2"/>
          </a:solidFill>
          <a:ln>
            <a:noFill/>
          </a:ln>
        </p:spPr>
        <p:txBody>
          <a:bodyPr wrap="square" rtlCol="0">
            <a:spAutoFit/>
          </a:bodyPr>
          <a:lstStyle/>
          <a:p>
            <a:pPr algn="ctr"/>
            <a:r>
              <a:rPr lang="en-US" sz="4000" b="1" dirty="0">
                <a:latin typeface="Avenir Next LT Pro" panose="020B0504020202020204" pitchFamily="34" charset="0"/>
              </a:rPr>
              <a:t>SHORT TERM</a:t>
            </a:r>
          </a:p>
        </p:txBody>
      </p:sp>
      <p:sp>
        <p:nvSpPr>
          <p:cNvPr id="6" name="TextBox 5">
            <a:extLst>
              <a:ext uri="{FF2B5EF4-FFF2-40B4-BE49-F238E27FC236}">
                <a16:creationId xmlns:a16="http://schemas.microsoft.com/office/drawing/2014/main" id="{740A93CA-39D8-BB86-5E2D-97260A7389C2}"/>
              </a:ext>
            </a:extLst>
          </p:cNvPr>
          <p:cNvSpPr txBox="1"/>
          <p:nvPr/>
        </p:nvSpPr>
        <p:spPr>
          <a:xfrm>
            <a:off x="609600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LONG TERM</a:t>
            </a:r>
          </a:p>
        </p:txBody>
      </p:sp>
      <p:sp>
        <p:nvSpPr>
          <p:cNvPr id="8" name="Oval 7">
            <a:extLst>
              <a:ext uri="{FF2B5EF4-FFF2-40B4-BE49-F238E27FC236}">
                <a16:creationId xmlns:a16="http://schemas.microsoft.com/office/drawing/2014/main" id="{975D4536-94D6-A720-C77E-B8AC4D17AC67}"/>
              </a:ext>
            </a:extLst>
          </p:cNvPr>
          <p:cNvSpPr/>
          <p:nvPr/>
        </p:nvSpPr>
        <p:spPr>
          <a:xfrm>
            <a:off x="-725719" y="1711325"/>
            <a:ext cx="3011719" cy="2032000"/>
          </a:xfrm>
          <a:prstGeom prst="ellipse">
            <a:avLst/>
          </a:prstGeom>
          <a:solidFill>
            <a:srgbClr val="DEC7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hecklist with solid fill">
            <a:extLst>
              <a:ext uri="{FF2B5EF4-FFF2-40B4-BE49-F238E27FC236}">
                <a16:creationId xmlns:a16="http://schemas.microsoft.com/office/drawing/2014/main" id="{7D89A9B0-2113-893D-33EE-EE0781D798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100" y="1981200"/>
            <a:ext cx="850900" cy="850900"/>
          </a:xfrm>
          <a:prstGeom prst="rect">
            <a:avLst/>
          </a:prstGeom>
        </p:spPr>
      </p:pic>
      <p:sp>
        <p:nvSpPr>
          <p:cNvPr id="10" name="TextBox 9">
            <a:extLst>
              <a:ext uri="{FF2B5EF4-FFF2-40B4-BE49-F238E27FC236}">
                <a16:creationId xmlns:a16="http://schemas.microsoft.com/office/drawing/2014/main" id="{F861DF9F-8EA4-9820-BBAF-DA7DFE913FFD}"/>
              </a:ext>
            </a:extLst>
          </p:cNvPr>
          <p:cNvSpPr txBox="1"/>
          <p:nvPr/>
        </p:nvSpPr>
        <p:spPr>
          <a:xfrm>
            <a:off x="0" y="2829580"/>
            <a:ext cx="3136900" cy="400110"/>
          </a:xfrm>
          <a:prstGeom prst="rect">
            <a:avLst/>
          </a:prstGeom>
          <a:noFill/>
        </p:spPr>
        <p:txBody>
          <a:bodyPr wrap="square" rtlCol="0">
            <a:spAutoFit/>
          </a:bodyPr>
          <a:lstStyle/>
          <a:p>
            <a:r>
              <a:rPr lang="en-US" sz="2000" b="1" dirty="0"/>
              <a:t>PRE-OPERATION</a:t>
            </a:r>
          </a:p>
        </p:txBody>
      </p:sp>
      <p:pic>
        <p:nvPicPr>
          <p:cNvPr id="12" name="Picture 11">
            <a:extLst>
              <a:ext uri="{FF2B5EF4-FFF2-40B4-BE49-F238E27FC236}">
                <a16:creationId xmlns:a16="http://schemas.microsoft.com/office/drawing/2014/main" id="{0D663D6E-AD02-9073-50CF-F8ACEC97AB11}"/>
              </a:ext>
            </a:extLst>
          </p:cNvPr>
          <p:cNvPicPr>
            <a:picLocks noChangeAspect="1"/>
          </p:cNvPicPr>
          <p:nvPr/>
        </p:nvPicPr>
        <p:blipFill>
          <a:blip r:embed="rId5"/>
          <a:stretch>
            <a:fillRect/>
          </a:stretch>
        </p:blipFill>
        <p:spPr>
          <a:xfrm>
            <a:off x="3531510" y="1336536"/>
            <a:ext cx="6279240" cy="4909113"/>
          </a:xfrm>
          <a:prstGeom prst="rect">
            <a:avLst/>
          </a:prstGeom>
        </p:spPr>
      </p:pic>
      <p:sp>
        <p:nvSpPr>
          <p:cNvPr id="16" name="Oval 15">
            <a:extLst>
              <a:ext uri="{FF2B5EF4-FFF2-40B4-BE49-F238E27FC236}">
                <a16:creationId xmlns:a16="http://schemas.microsoft.com/office/drawing/2014/main" id="{2A507E9D-F608-34C3-EC95-BADA42BD09DF}"/>
              </a:ext>
            </a:extLst>
          </p:cNvPr>
          <p:cNvSpPr/>
          <p:nvPr/>
        </p:nvSpPr>
        <p:spPr>
          <a:xfrm>
            <a:off x="-725719" y="3978275"/>
            <a:ext cx="3011719" cy="2032000"/>
          </a:xfrm>
          <a:prstGeom prst="ellipse">
            <a:avLst/>
          </a:prstGeom>
          <a:solidFill>
            <a:srgbClr val="DEC7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CDE8557-06C3-8781-5BAD-4ECDD0B31549}"/>
              </a:ext>
            </a:extLst>
          </p:cNvPr>
          <p:cNvSpPr txBox="1"/>
          <p:nvPr/>
        </p:nvSpPr>
        <p:spPr>
          <a:xfrm>
            <a:off x="0" y="5096530"/>
            <a:ext cx="3136900" cy="400110"/>
          </a:xfrm>
          <a:prstGeom prst="rect">
            <a:avLst/>
          </a:prstGeom>
          <a:noFill/>
        </p:spPr>
        <p:txBody>
          <a:bodyPr wrap="square" rtlCol="0">
            <a:spAutoFit/>
          </a:bodyPr>
          <a:lstStyle/>
          <a:p>
            <a:r>
              <a:rPr lang="en-US" sz="2000" b="1" dirty="0"/>
              <a:t>MID-OPERATION</a:t>
            </a:r>
          </a:p>
        </p:txBody>
      </p:sp>
      <p:pic>
        <p:nvPicPr>
          <p:cNvPr id="20" name="Graphic 19" descr="Gears with solid fill">
            <a:extLst>
              <a:ext uri="{FF2B5EF4-FFF2-40B4-BE49-F238E27FC236}">
                <a16:creationId xmlns:a16="http://schemas.microsoft.com/office/drawing/2014/main" id="{8B61980B-75D2-D2D7-B1A4-FBCDA92ED8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350" y="4192370"/>
            <a:ext cx="914400" cy="914400"/>
          </a:xfrm>
          <a:prstGeom prst="rect">
            <a:avLst/>
          </a:prstGeom>
        </p:spPr>
      </p:pic>
    </p:spTree>
    <p:extLst>
      <p:ext uri="{BB962C8B-B14F-4D97-AF65-F5344CB8AC3E}">
        <p14:creationId xmlns:p14="http://schemas.microsoft.com/office/powerpoint/2010/main" val="40579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795D4-53C3-3AD8-9D9B-5FEAC1DF157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4071499-7A5E-4C1F-CC08-7DCFB14B7AAA}"/>
              </a:ext>
            </a:extLst>
          </p:cNvPr>
          <p:cNvSpPr/>
          <p:nvPr/>
        </p:nvSpPr>
        <p:spPr>
          <a:xfrm>
            <a:off x="0" y="0"/>
            <a:ext cx="6096000" cy="1409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ic of a paper and a pencil&#10;&#10;AI-generated content may be incorrect.">
            <a:extLst>
              <a:ext uri="{FF2B5EF4-FFF2-40B4-BE49-F238E27FC236}">
                <a16:creationId xmlns:a16="http://schemas.microsoft.com/office/drawing/2014/main" id="{DE62C191-27E4-58F9-016C-539A6CEB3B56}"/>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4C12EC78-47A0-4CDB-6D5B-0FC67A26FD80}"/>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0AF6A0AB-9DA7-0E0B-82B3-D7F1E4D366B2}"/>
              </a:ext>
            </a:extLst>
          </p:cNvPr>
          <p:cNvSpPr/>
          <p:nvPr/>
        </p:nvSpPr>
        <p:spPr>
          <a:xfrm>
            <a:off x="0" y="628650"/>
            <a:ext cx="12192000" cy="6229350"/>
          </a:xfrm>
          <a:prstGeom prst="rect">
            <a:avLst/>
          </a:prstGeom>
          <a:solidFill>
            <a:srgbClr val="DBC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4FCCA44-CC5D-2673-43F4-4DCA60844BD3}"/>
              </a:ext>
            </a:extLst>
          </p:cNvPr>
          <p:cNvSpPr txBox="1"/>
          <p:nvPr/>
        </p:nvSpPr>
        <p:spPr>
          <a:xfrm>
            <a:off x="0" y="0"/>
            <a:ext cx="6096000" cy="707886"/>
          </a:xfrm>
          <a:prstGeom prst="rect">
            <a:avLst/>
          </a:prstGeom>
          <a:solidFill>
            <a:srgbClr val="DBCAC2"/>
          </a:solidFill>
          <a:ln>
            <a:noFill/>
          </a:ln>
        </p:spPr>
        <p:txBody>
          <a:bodyPr wrap="square" rtlCol="0">
            <a:spAutoFit/>
          </a:bodyPr>
          <a:lstStyle/>
          <a:p>
            <a:pPr algn="ctr"/>
            <a:r>
              <a:rPr lang="en-US" sz="4000" b="1" dirty="0">
                <a:latin typeface="Avenir Next LT Pro" panose="020B0504020202020204" pitchFamily="34" charset="0"/>
              </a:rPr>
              <a:t>SHORT TERM</a:t>
            </a:r>
          </a:p>
        </p:txBody>
      </p:sp>
      <p:sp>
        <p:nvSpPr>
          <p:cNvPr id="6" name="TextBox 5">
            <a:extLst>
              <a:ext uri="{FF2B5EF4-FFF2-40B4-BE49-F238E27FC236}">
                <a16:creationId xmlns:a16="http://schemas.microsoft.com/office/drawing/2014/main" id="{D9014E90-5C63-63B5-D92E-8F87C30EA776}"/>
              </a:ext>
            </a:extLst>
          </p:cNvPr>
          <p:cNvSpPr txBox="1"/>
          <p:nvPr/>
        </p:nvSpPr>
        <p:spPr>
          <a:xfrm>
            <a:off x="609600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LONG TERM</a:t>
            </a:r>
          </a:p>
        </p:txBody>
      </p:sp>
      <p:sp>
        <p:nvSpPr>
          <p:cNvPr id="8" name="Oval 7">
            <a:extLst>
              <a:ext uri="{FF2B5EF4-FFF2-40B4-BE49-F238E27FC236}">
                <a16:creationId xmlns:a16="http://schemas.microsoft.com/office/drawing/2014/main" id="{94146C69-236A-7F12-8784-4B567F653C5B}"/>
              </a:ext>
            </a:extLst>
          </p:cNvPr>
          <p:cNvSpPr/>
          <p:nvPr/>
        </p:nvSpPr>
        <p:spPr>
          <a:xfrm>
            <a:off x="-725719" y="1711325"/>
            <a:ext cx="3011719" cy="2032000"/>
          </a:xfrm>
          <a:prstGeom prst="ellipse">
            <a:avLst/>
          </a:prstGeom>
          <a:solidFill>
            <a:srgbClr val="DEC7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hecklist with solid fill">
            <a:extLst>
              <a:ext uri="{FF2B5EF4-FFF2-40B4-BE49-F238E27FC236}">
                <a16:creationId xmlns:a16="http://schemas.microsoft.com/office/drawing/2014/main" id="{6B00CE1B-136C-3985-7A04-925C86E565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100" y="1981200"/>
            <a:ext cx="850900" cy="850900"/>
          </a:xfrm>
          <a:prstGeom prst="rect">
            <a:avLst/>
          </a:prstGeom>
        </p:spPr>
      </p:pic>
      <p:sp>
        <p:nvSpPr>
          <p:cNvPr id="10" name="TextBox 9">
            <a:extLst>
              <a:ext uri="{FF2B5EF4-FFF2-40B4-BE49-F238E27FC236}">
                <a16:creationId xmlns:a16="http://schemas.microsoft.com/office/drawing/2014/main" id="{4207AAD1-35FD-44E8-74E0-4764A5C7A8F6}"/>
              </a:ext>
            </a:extLst>
          </p:cNvPr>
          <p:cNvSpPr txBox="1"/>
          <p:nvPr/>
        </p:nvSpPr>
        <p:spPr>
          <a:xfrm>
            <a:off x="0" y="2829580"/>
            <a:ext cx="3136900" cy="400110"/>
          </a:xfrm>
          <a:prstGeom prst="rect">
            <a:avLst/>
          </a:prstGeom>
          <a:noFill/>
        </p:spPr>
        <p:txBody>
          <a:bodyPr wrap="square" rtlCol="0">
            <a:spAutoFit/>
          </a:bodyPr>
          <a:lstStyle/>
          <a:p>
            <a:r>
              <a:rPr lang="en-US" sz="2000" b="1" dirty="0"/>
              <a:t>PRE-OPERATION</a:t>
            </a:r>
          </a:p>
        </p:txBody>
      </p:sp>
      <p:grpSp>
        <p:nvGrpSpPr>
          <p:cNvPr id="17" name="Group 16">
            <a:extLst>
              <a:ext uri="{FF2B5EF4-FFF2-40B4-BE49-F238E27FC236}">
                <a16:creationId xmlns:a16="http://schemas.microsoft.com/office/drawing/2014/main" id="{E3D680A0-6FA2-BF03-485F-6D8661C3851C}"/>
              </a:ext>
            </a:extLst>
          </p:cNvPr>
          <p:cNvGrpSpPr/>
          <p:nvPr/>
        </p:nvGrpSpPr>
        <p:grpSpPr>
          <a:xfrm>
            <a:off x="3372663" y="938212"/>
            <a:ext cx="2220874" cy="2291478"/>
            <a:chOff x="2572681" y="938212"/>
            <a:chExt cx="3023044" cy="3119150"/>
          </a:xfrm>
        </p:grpSpPr>
        <p:pic>
          <p:nvPicPr>
            <p:cNvPr id="16" name="Picture 15">
              <a:extLst>
                <a:ext uri="{FF2B5EF4-FFF2-40B4-BE49-F238E27FC236}">
                  <a16:creationId xmlns:a16="http://schemas.microsoft.com/office/drawing/2014/main" id="{A70A09B1-EB3B-EDC1-6AE1-6DDB3D2B3D41}"/>
                </a:ext>
              </a:extLst>
            </p:cNvPr>
            <p:cNvPicPr>
              <a:picLocks noChangeAspect="1"/>
            </p:cNvPicPr>
            <p:nvPr/>
          </p:nvPicPr>
          <p:blipFill>
            <a:blip r:embed="rId5"/>
            <a:stretch>
              <a:fillRect/>
            </a:stretch>
          </p:blipFill>
          <p:spPr>
            <a:xfrm>
              <a:off x="3561785" y="1397288"/>
              <a:ext cx="2033940" cy="2660074"/>
            </a:xfrm>
            <a:prstGeom prst="rect">
              <a:avLst/>
            </a:prstGeom>
          </p:spPr>
        </p:pic>
        <p:pic>
          <p:nvPicPr>
            <p:cNvPr id="14" name="Picture 13">
              <a:extLst>
                <a:ext uri="{FF2B5EF4-FFF2-40B4-BE49-F238E27FC236}">
                  <a16:creationId xmlns:a16="http://schemas.microsoft.com/office/drawing/2014/main" id="{377A0FE6-02D7-2377-1625-00A9971FFFC3}"/>
                </a:ext>
              </a:extLst>
            </p:cNvPr>
            <p:cNvPicPr>
              <a:picLocks noChangeAspect="1"/>
            </p:cNvPicPr>
            <p:nvPr/>
          </p:nvPicPr>
          <p:blipFill>
            <a:blip r:embed="rId6"/>
            <a:stretch>
              <a:fillRect/>
            </a:stretch>
          </p:blipFill>
          <p:spPr>
            <a:xfrm>
              <a:off x="2572681" y="938212"/>
              <a:ext cx="1978208" cy="2660075"/>
            </a:xfrm>
            <a:prstGeom prst="rect">
              <a:avLst/>
            </a:prstGeom>
          </p:spPr>
        </p:pic>
      </p:grpSp>
      <p:grpSp>
        <p:nvGrpSpPr>
          <p:cNvPr id="18" name="Group 17">
            <a:extLst>
              <a:ext uri="{FF2B5EF4-FFF2-40B4-BE49-F238E27FC236}">
                <a16:creationId xmlns:a16="http://schemas.microsoft.com/office/drawing/2014/main" id="{5E43CAFF-8007-3737-458B-3ACE577F2B21}"/>
              </a:ext>
            </a:extLst>
          </p:cNvPr>
          <p:cNvGrpSpPr/>
          <p:nvPr/>
        </p:nvGrpSpPr>
        <p:grpSpPr>
          <a:xfrm>
            <a:off x="6598465" y="938213"/>
            <a:ext cx="2186729" cy="2291478"/>
            <a:chOff x="5878156" y="938212"/>
            <a:chExt cx="2988410" cy="3131562"/>
          </a:xfrm>
        </p:grpSpPr>
        <p:pic>
          <p:nvPicPr>
            <p:cNvPr id="12" name="Picture 11">
              <a:extLst>
                <a:ext uri="{FF2B5EF4-FFF2-40B4-BE49-F238E27FC236}">
                  <a16:creationId xmlns:a16="http://schemas.microsoft.com/office/drawing/2014/main" id="{FB6D7D0B-B07A-8236-F19A-30A7BEDD374E}"/>
                </a:ext>
              </a:extLst>
            </p:cNvPr>
            <p:cNvPicPr>
              <a:picLocks noChangeAspect="1"/>
            </p:cNvPicPr>
            <p:nvPr/>
          </p:nvPicPr>
          <p:blipFill>
            <a:blip r:embed="rId7"/>
            <a:stretch>
              <a:fillRect/>
            </a:stretch>
          </p:blipFill>
          <p:spPr>
            <a:xfrm>
              <a:off x="5878156" y="938212"/>
              <a:ext cx="1986708" cy="2660074"/>
            </a:xfrm>
            <a:prstGeom prst="rect">
              <a:avLst/>
            </a:prstGeom>
          </p:spPr>
        </p:pic>
        <p:pic>
          <p:nvPicPr>
            <p:cNvPr id="15" name="Picture 14">
              <a:extLst>
                <a:ext uri="{FF2B5EF4-FFF2-40B4-BE49-F238E27FC236}">
                  <a16:creationId xmlns:a16="http://schemas.microsoft.com/office/drawing/2014/main" id="{87F2A0A6-C38D-1C9C-B5D2-31B3669B78D6}"/>
                </a:ext>
              </a:extLst>
            </p:cNvPr>
            <p:cNvPicPr>
              <a:picLocks noChangeAspect="1"/>
            </p:cNvPicPr>
            <p:nvPr/>
          </p:nvPicPr>
          <p:blipFill>
            <a:blip r:embed="rId8"/>
            <a:stretch>
              <a:fillRect/>
            </a:stretch>
          </p:blipFill>
          <p:spPr>
            <a:xfrm>
              <a:off x="6871510" y="1409700"/>
              <a:ext cx="1995056" cy="2660074"/>
            </a:xfrm>
            <a:prstGeom prst="rect">
              <a:avLst/>
            </a:prstGeom>
          </p:spPr>
        </p:pic>
      </p:grpSp>
    </p:spTree>
    <p:extLst>
      <p:ext uri="{BB962C8B-B14F-4D97-AF65-F5344CB8AC3E}">
        <p14:creationId xmlns:p14="http://schemas.microsoft.com/office/powerpoint/2010/main" val="34265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8EB20-8F77-7E57-3BF8-D7D4F5A7BB0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B4E9143-87E3-692B-C855-CE56E4AC7BFC}"/>
              </a:ext>
            </a:extLst>
          </p:cNvPr>
          <p:cNvSpPr/>
          <p:nvPr/>
        </p:nvSpPr>
        <p:spPr>
          <a:xfrm>
            <a:off x="6096000" y="0"/>
            <a:ext cx="6096000" cy="1409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ic of a paper and a pencil&#10;&#10;AI-generated content may be incorrect.">
            <a:extLst>
              <a:ext uri="{FF2B5EF4-FFF2-40B4-BE49-F238E27FC236}">
                <a16:creationId xmlns:a16="http://schemas.microsoft.com/office/drawing/2014/main" id="{B361379A-A5BE-A90E-F345-756F854E80AF}"/>
              </a:ext>
            </a:extLst>
          </p:cNvPr>
          <p:cNvPicPr>
            <a:picLocks noChangeAspect="1"/>
          </p:cNvPicPr>
          <p:nvPr/>
        </p:nvPicPr>
        <p:blipFill>
          <a:blip r:embed="rId2">
            <a:extLst>
              <a:ext uri="{28A0092B-C50C-407E-A947-70E740481C1C}">
                <a14:useLocalDpi xmlns:a14="http://schemas.microsoft.com/office/drawing/2010/main" val="0"/>
              </a:ext>
            </a:extLst>
          </a:blip>
          <a:srcRect l="32031" t="16239" r="32188" b="16796"/>
          <a:stretch>
            <a:fillRect/>
          </a:stretch>
        </p:blipFill>
        <p:spPr>
          <a:xfrm>
            <a:off x="10589486" y="-1600022"/>
            <a:ext cx="1145314" cy="1200329"/>
          </a:xfrm>
          <a:prstGeom prst="rect">
            <a:avLst/>
          </a:prstGeom>
          <a:ln>
            <a:noFill/>
          </a:ln>
        </p:spPr>
      </p:pic>
      <p:sp>
        <p:nvSpPr>
          <p:cNvPr id="4" name="TextBox 3">
            <a:extLst>
              <a:ext uri="{FF2B5EF4-FFF2-40B4-BE49-F238E27FC236}">
                <a16:creationId xmlns:a16="http://schemas.microsoft.com/office/drawing/2014/main" id="{645E0052-BC04-9713-D209-B8A7B436BF03}"/>
              </a:ext>
            </a:extLst>
          </p:cNvPr>
          <p:cNvSpPr txBox="1"/>
          <p:nvPr/>
        </p:nvSpPr>
        <p:spPr>
          <a:xfrm>
            <a:off x="0" y="-1600021"/>
            <a:ext cx="10788650" cy="1200329"/>
          </a:xfrm>
          <a:prstGeom prst="rect">
            <a:avLst/>
          </a:prstGeom>
          <a:noFill/>
          <a:ln>
            <a:noFill/>
          </a:ln>
        </p:spPr>
        <p:txBody>
          <a:bodyPr wrap="square" rtlCol="0">
            <a:spAutoFit/>
          </a:bodyPr>
          <a:lstStyle/>
          <a:p>
            <a:pPr algn="ctr"/>
            <a:r>
              <a:rPr lang="en-US" sz="7200" b="1" dirty="0">
                <a:latin typeface="Avenir Next LT Pro" panose="020B0504020202020204" pitchFamily="34" charset="0"/>
              </a:rPr>
              <a:t>RECOMMENDATIONS</a:t>
            </a:r>
          </a:p>
        </p:txBody>
      </p:sp>
      <p:sp>
        <p:nvSpPr>
          <p:cNvPr id="2" name="Rectangle 1">
            <a:extLst>
              <a:ext uri="{FF2B5EF4-FFF2-40B4-BE49-F238E27FC236}">
                <a16:creationId xmlns:a16="http://schemas.microsoft.com/office/drawing/2014/main" id="{29AB8FFC-BF1A-0B25-E1EA-C91EA2B4A9C8}"/>
              </a:ext>
            </a:extLst>
          </p:cNvPr>
          <p:cNvSpPr/>
          <p:nvPr/>
        </p:nvSpPr>
        <p:spPr>
          <a:xfrm>
            <a:off x="0" y="628650"/>
            <a:ext cx="12192000" cy="6229350"/>
          </a:xfrm>
          <a:prstGeom prst="rect">
            <a:avLst/>
          </a:prstGeom>
          <a:solidFill>
            <a:srgbClr val="E0C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222597-13AE-53C8-B35D-3AE0AB37604E}"/>
              </a:ext>
            </a:extLst>
          </p:cNvPr>
          <p:cNvSpPr txBox="1"/>
          <p:nvPr/>
        </p:nvSpPr>
        <p:spPr>
          <a:xfrm>
            <a:off x="0" y="0"/>
            <a:ext cx="6096000" cy="707886"/>
          </a:xfrm>
          <a:prstGeom prst="rect">
            <a:avLst/>
          </a:prstGeom>
          <a:noFill/>
          <a:ln>
            <a:noFill/>
          </a:ln>
        </p:spPr>
        <p:txBody>
          <a:bodyPr wrap="square" rtlCol="0">
            <a:spAutoFit/>
          </a:bodyPr>
          <a:lstStyle/>
          <a:p>
            <a:pPr algn="ctr"/>
            <a:r>
              <a:rPr lang="en-US" sz="4000" b="1" dirty="0">
                <a:solidFill>
                  <a:schemeClr val="bg1"/>
                </a:solidFill>
                <a:latin typeface="Avenir Next LT Pro" panose="020B0504020202020204" pitchFamily="34" charset="0"/>
              </a:rPr>
              <a:t>SHORT TERM</a:t>
            </a:r>
          </a:p>
        </p:txBody>
      </p:sp>
      <p:sp>
        <p:nvSpPr>
          <p:cNvPr id="6" name="TextBox 5">
            <a:extLst>
              <a:ext uri="{FF2B5EF4-FFF2-40B4-BE49-F238E27FC236}">
                <a16:creationId xmlns:a16="http://schemas.microsoft.com/office/drawing/2014/main" id="{525E1F57-DACB-62B2-2A7D-28FEA5467638}"/>
              </a:ext>
            </a:extLst>
          </p:cNvPr>
          <p:cNvSpPr txBox="1"/>
          <p:nvPr/>
        </p:nvSpPr>
        <p:spPr>
          <a:xfrm>
            <a:off x="6096000" y="0"/>
            <a:ext cx="6096000" cy="707886"/>
          </a:xfrm>
          <a:prstGeom prst="rect">
            <a:avLst/>
          </a:prstGeom>
          <a:solidFill>
            <a:srgbClr val="E0C58E"/>
          </a:solidFill>
          <a:ln>
            <a:noFill/>
          </a:ln>
        </p:spPr>
        <p:txBody>
          <a:bodyPr wrap="square" rtlCol="0">
            <a:spAutoFit/>
          </a:bodyPr>
          <a:lstStyle/>
          <a:p>
            <a:pPr algn="ctr"/>
            <a:r>
              <a:rPr lang="en-US" sz="4000" b="1" dirty="0">
                <a:latin typeface="Avenir Next LT Pro" panose="020B0504020202020204" pitchFamily="34" charset="0"/>
              </a:rPr>
              <a:t>LONG TERM</a:t>
            </a:r>
          </a:p>
        </p:txBody>
      </p:sp>
      <p:pic>
        <p:nvPicPr>
          <p:cNvPr id="8" name="Picture 7">
            <a:extLst>
              <a:ext uri="{FF2B5EF4-FFF2-40B4-BE49-F238E27FC236}">
                <a16:creationId xmlns:a16="http://schemas.microsoft.com/office/drawing/2014/main" id="{9F877285-6401-9BF7-640C-FC797B2230BE}"/>
              </a:ext>
            </a:extLst>
          </p:cNvPr>
          <p:cNvPicPr>
            <a:picLocks noChangeAspect="1"/>
          </p:cNvPicPr>
          <p:nvPr/>
        </p:nvPicPr>
        <p:blipFill>
          <a:blip r:embed="rId3"/>
          <a:stretch>
            <a:fillRect/>
          </a:stretch>
        </p:blipFill>
        <p:spPr>
          <a:xfrm>
            <a:off x="425824" y="-18094006"/>
            <a:ext cx="4090771" cy="1182727"/>
          </a:xfrm>
          <a:prstGeom prst="rect">
            <a:avLst/>
          </a:prstGeom>
        </p:spPr>
      </p:pic>
      <p:pic>
        <p:nvPicPr>
          <p:cNvPr id="9" name="Picture 8">
            <a:extLst>
              <a:ext uri="{FF2B5EF4-FFF2-40B4-BE49-F238E27FC236}">
                <a16:creationId xmlns:a16="http://schemas.microsoft.com/office/drawing/2014/main" id="{F5FE6715-CEA2-1B96-6358-5C824F6D8842}"/>
              </a:ext>
            </a:extLst>
          </p:cNvPr>
          <p:cNvPicPr>
            <a:picLocks noChangeAspect="1"/>
          </p:cNvPicPr>
          <p:nvPr/>
        </p:nvPicPr>
        <p:blipFill>
          <a:blip r:embed="rId4"/>
          <a:stretch>
            <a:fillRect/>
          </a:stretch>
        </p:blipFill>
        <p:spPr>
          <a:xfrm>
            <a:off x="425823" y="-17064706"/>
            <a:ext cx="11077392" cy="1072989"/>
          </a:xfrm>
          <a:prstGeom prst="rect">
            <a:avLst/>
          </a:prstGeom>
        </p:spPr>
      </p:pic>
      <p:pic>
        <p:nvPicPr>
          <p:cNvPr id="10" name="Picture 9">
            <a:extLst>
              <a:ext uri="{FF2B5EF4-FFF2-40B4-BE49-F238E27FC236}">
                <a16:creationId xmlns:a16="http://schemas.microsoft.com/office/drawing/2014/main" id="{65ECF72C-64AA-E40A-14B6-0444B7D0F07A}"/>
              </a:ext>
            </a:extLst>
          </p:cNvPr>
          <p:cNvPicPr>
            <a:picLocks noChangeAspect="1"/>
          </p:cNvPicPr>
          <p:nvPr/>
        </p:nvPicPr>
        <p:blipFill>
          <a:blip r:embed="rId5"/>
          <a:stretch>
            <a:fillRect/>
          </a:stretch>
        </p:blipFill>
        <p:spPr>
          <a:xfrm>
            <a:off x="419602" y="-16145144"/>
            <a:ext cx="11772396" cy="1182727"/>
          </a:xfrm>
          <a:prstGeom prst="rect">
            <a:avLst/>
          </a:prstGeom>
        </p:spPr>
      </p:pic>
      <p:pic>
        <p:nvPicPr>
          <p:cNvPr id="11" name="Picture 10">
            <a:extLst>
              <a:ext uri="{FF2B5EF4-FFF2-40B4-BE49-F238E27FC236}">
                <a16:creationId xmlns:a16="http://schemas.microsoft.com/office/drawing/2014/main" id="{DE5D4374-05B6-9654-E357-56CA4273E1B5}"/>
              </a:ext>
            </a:extLst>
          </p:cNvPr>
          <p:cNvPicPr>
            <a:picLocks noChangeAspect="1"/>
          </p:cNvPicPr>
          <p:nvPr/>
        </p:nvPicPr>
        <p:blipFill>
          <a:blip r:embed="rId6"/>
          <a:stretch>
            <a:fillRect/>
          </a:stretch>
        </p:blipFill>
        <p:spPr>
          <a:xfrm>
            <a:off x="447857" y="-15115844"/>
            <a:ext cx="11077392" cy="1072989"/>
          </a:xfrm>
          <a:prstGeom prst="rect">
            <a:avLst/>
          </a:prstGeom>
        </p:spPr>
      </p:pic>
      <p:pic>
        <p:nvPicPr>
          <p:cNvPr id="12" name="Picture 11">
            <a:extLst>
              <a:ext uri="{FF2B5EF4-FFF2-40B4-BE49-F238E27FC236}">
                <a16:creationId xmlns:a16="http://schemas.microsoft.com/office/drawing/2014/main" id="{33C815C0-9DAD-3DCE-20EF-8D7F2A8CDAFC}"/>
              </a:ext>
            </a:extLst>
          </p:cNvPr>
          <p:cNvPicPr>
            <a:picLocks noChangeAspect="1"/>
          </p:cNvPicPr>
          <p:nvPr/>
        </p:nvPicPr>
        <p:blipFill>
          <a:blip r:embed="rId7"/>
          <a:stretch>
            <a:fillRect/>
          </a:stretch>
        </p:blipFill>
        <p:spPr>
          <a:xfrm>
            <a:off x="425823" y="-14196282"/>
            <a:ext cx="11077392" cy="1072989"/>
          </a:xfrm>
          <a:prstGeom prst="rect">
            <a:avLst/>
          </a:prstGeom>
        </p:spPr>
      </p:pic>
      <p:pic>
        <p:nvPicPr>
          <p:cNvPr id="13" name="Picture 12">
            <a:extLst>
              <a:ext uri="{FF2B5EF4-FFF2-40B4-BE49-F238E27FC236}">
                <a16:creationId xmlns:a16="http://schemas.microsoft.com/office/drawing/2014/main" id="{E64515C3-3084-8FA1-5824-4FD44378E1AE}"/>
              </a:ext>
            </a:extLst>
          </p:cNvPr>
          <p:cNvPicPr>
            <a:picLocks noChangeAspect="1"/>
          </p:cNvPicPr>
          <p:nvPr/>
        </p:nvPicPr>
        <p:blipFill>
          <a:blip r:embed="rId8"/>
          <a:stretch>
            <a:fillRect/>
          </a:stretch>
        </p:blipFill>
        <p:spPr>
          <a:xfrm>
            <a:off x="-141976396" y="-33202880"/>
            <a:ext cx="1223270192" cy="77094080"/>
          </a:xfrm>
          <a:prstGeom prst="rect">
            <a:avLst/>
          </a:prstGeom>
        </p:spPr>
      </p:pic>
    </p:spTree>
    <p:extLst>
      <p:ext uri="{BB962C8B-B14F-4D97-AF65-F5344CB8AC3E}">
        <p14:creationId xmlns:p14="http://schemas.microsoft.com/office/powerpoint/2010/main" val="256054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08AD8-F1A1-08D9-50FE-C89859E41A4D}"/>
              </a:ext>
            </a:extLst>
          </p:cNvPr>
          <p:cNvSpPr>
            <a:spLocks noGrp="1"/>
          </p:cNvSpPr>
          <p:nvPr>
            <p:ph type="title"/>
          </p:nvPr>
        </p:nvSpPr>
        <p:spPr/>
        <p:txBody>
          <a:bodyPr/>
          <a:lstStyle/>
          <a:p>
            <a:r>
              <a:rPr lang="en-US" dirty="0"/>
              <a:t>Deliverables</a:t>
            </a:r>
            <a:br>
              <a:rPr lang="en-US" dirty="0"/>
            </a:br>
            <a:endParaRPr lang="en-US" dirty="0"/>
          </a:p>
        </p:txBody>
      </p:sp>
      <p:sp>
        <p:nvSpPr>
          <p:cNvPr id="3" name="Content Placeholder 2">
            <a:extLst>
              <a:ext uri="{FF2B5EF4-FFF2-40B4-BE49-F238E27FC236}">
                <a16:creationId xmlns:a16="http://schemas.microsoft.com/office/drawing/2014/main" id="{8B99BC73-D599-240E-2F7F-43CF05AF6B6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28517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9763B-B152-B788-6B53-2CC174488E5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C742898-4A1E-015A-6B7F-1E14B8570F32}"/>
              </a:ext>
            </a:extLst>
          </p:cNvPr>
          <p:cNvPicPr>
            <a:picLocks noChangeAspect="1"/>
          </p:cNvPicPr>
          <p:nvPr/>
        </p:nvPicPr>
        <p:blipFill>
          <a:blip r:embed="rId2"/>
          <a:stretch>
            <a:fillRect/>
          </a:stretch>
        </p:blipFill>
        <p:spPr>
          <a:xfrm>
            <a:off x="-1" y="-15240"/>
            <a:ext cx="12192000" cy="6858000"/>
          </a:xfrm>
          <a:prstGeom prst="rect">
            <a:avLst/>
          </a:prstGeom>
          <a:solidFill>
            <a:schemeClr val="bg1">
              <a:alpha val="72000"/>
            </a:schemeClr>
          </a:solidFill>
        </p:spPr>
      </p:pic>
      <p:sp>
        <p:nvSpPr>
          <p:cNvPr id="2" name="Rectangle 1">
            <a:extLst>
              <a:ext uri="{FF2B5EF4-FFF2-40B4-BE49-F238E27FC236}">
                <a16:creationId xmlns:a16="http://schemas.microsoft.com/office/drawing/2014/main" id="{987E7694-3B32-601D-5F7F-1F00D75EBA8E}"/>
              </a:ext>
            </a:extLst>
          </p:cNvPr>
          <p:cNvSpPr/>
          <p:nvPr/>
        </p:nvSpPr>
        <p:spPr>
          <a:xfrm>
            <a:off x="-2" y="-15240"/>
            <a:ext cx="12192000" cy="6858000"/>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8F4F09E3-E6FB-7A90-7E8A-FAF7603F121F}"/>
              </a:ext>
            </a:extLst>
          </p:cNvPr>
          <p:cNvPicPr>
            <a:picLocks noChangeAspect="1"/>
          </p:cNvPicPr>
          <p:nvPr/>
        </p:nvPicPr>
        <p:blipFill>
          <a:blip r:embed="rId3"/>
          <a:stretch>
            <a:fillRect/>
          </a:stretch>
        </p:blipFill>
        <p:spPr>
          <a:xfrm>
            <a:off x="425824" y="397194"/>
            <a:ext cx="4090771" cy="1182727"/>
          </a:xfrm>
          <a:prstGeom prst="rect">
            <a:avLst/>
          </a:prstGeom>
        </p:spPr>
      </p:pic>
      <p:pic>
        <p:nvPicPr>
          <p:cNvPr id="40" name="Picture 39">
            <a:extLst>
              <a:ext uri="{FF2B5EF4-FFF2-40B4-BE49-F238E27FC236}">
                <a16:creationId xmlns:a16="http://schemas.microsoft.com/office/drawing/2014/main" id="{93993D73-5123-54E9-2FE7-7568A0E5DB9B}"/>
              </a:ext>
            </a:extLst>
          </p:cNvPr>
          <p:cNvPicPr>
            <a:picLocks noChangeAspect="1"/>
          </p:cNvPicPr>
          <p:nvPr/>
        </p:nvPicPr>
        <p:blipFill>
          <a:blip r:embed="rId4"/>
          <a:stretch>
            <a:fillRect/>
          </a:stretch>
        </p:blipFill>
        <p:spPr>
          <a:xfrm>
            <a:off x="425823" y="1426494"/>
            <a:ext cx="11077392" cy="1072989"/>
          </a:xfrm>
          <a:prstGeom prst="rect">
            <a:avLst/>
          </a:prstGeom>
        </p:spPr>
      </p:pic>
      <p:pic>
        <p:nvPicPr>
          <p:cNvPr id="42" name="Picture 41">
            <a:extLst>
              <a:ext uri="{FF2B5EF4-FFF2-40B4-BE49-F238E27FC236}">
                <a16:creationId xmlns:a16="http://schemas.microsoft.com/office/drawing/2014/main" id="{AA2B598A-09B9-F1B1-0D61-0914932DF7A2}"/>
              </a:ext>
            </a:extLst>
          </p:cNvPr>
          <p:cNvPicPr>
            <a:picLocks noChangeAspect="1"/>
          </p:cNvPicPr>
          <p:nvPr/>
        </p:nvPicPr>
        <p:blipFill>
          <a:blip r:embed="rId5"/>
          <a:stretch>
            <a:fillRect/>
          </a:stretch>
        </p:blipFill>
        <p:spPr>
          <a:xfrm>
            <a:off x="419602" y="2346056"/>
            <a:ext cx="11772396" cy="1182727"/>
          </a:xfrm>
          <a:prstGeom prst="rect">
            <a:avLst/>
          </a:prstGeom>
        </p:spPr>
      </p:pic>
      <p:pic>
        <p:nvPicPr>
          <p:cNvPr id="44" name="Picture 43">
            <a:extLst>
              <a:ext uri="{FF2B5EF4-FFF2-40B4-BE49-F238E27FC236}">
                <a16:creationId xmlns:a16="http://schemas.microsoft.com/office/drawing/2014/main" id="{465F4056-6F01-DDAE-CB64-54347299CEE2}"/>
              </a:ext>
            </a:extLst>
          </p:cNvPr>
          <p:cNvPicPr>
            <a:picLocks noChangeAspect="1"/>
          </p:cNvPicPr>
          <p:nvPr/>
        </p:nvPicPr>
        <p:blipFill>
          <a:blip r:embed="rId6"/>
          <a:stretch>
            <a:fillRect/>
          </a:stretch>
        </p:blipFill>
        <p:spPr>
          <a:xfrm>
            <a:off x="447857" y="3375356"/>
            <a:ext cx="11077392" cy="1072989"/>
          </a:xfrm>
          <a:prstGeom prst="rect">
            <a:avLst/>
          </a:prstGeom>
        </p:spPr>
      </p:pic>
      <p:pic>
        <p:nvPicPr>
          <p:cNvPr id="46" name="Picture 45">
            <a:extLst>
              <a:ext uri="{FF2B5EF4-FFF2-40B4-BE49-F238E27FC236}">
                <a16:creationId xmlns:a16="http://schemas.microsoft.com/office/drawing/2014/main" id="{AA7B9476-56E1-DEBD-235C-A5EBF5D12069}"/>
              </a:ext>
            </a:extLst>
          </p:cNvPr>
          <p:cNvPicPr>
            <a:picLocks noChangeAspect="1"/>
          </p:cNvPicPr>
          <p:nvPr/>
        </p:nvPicPr>
        <p:blipFill>
          <a:blip r:embed="rId7"/>
          <a:stretch>
            <a:fillRect/>
          </a:stretch>
        </p:blipFill>
        <p:spPr>
          <a:xfrm>
            <a:off x="425823" y="4294918"/>
            <a:ext cx="11077392" cy="1072989"/>
          </a:xfrm>
          <a:prstGeom prst="rect">
            <a:avLst/>
          </a:prstGeom>
        </p:spPr>
      </p:pic>
      <p:pic>
        <p:nvPicPr>
          <p:cNvPr id="48" name="Picture 47">
            <a:extLst>
              <a:ext uri="{FF2B5EF4-FFF2-40B4-BE49-F238E27FC236}">
                <a16:creationId xmlns:a16="http://schemas.microsoft.com/office/drawing/2014/main" id="{0D16EB0C-A37E-900D-E775-9CFB1D1E791D}"/>
              </a:ext>
            </a:extLst>
          </p:cNvPr>
          <p:cNvPicPr>
            <a:picLocks noChangeAspect="1"/>
          </p:cNvPicPr>
          <p:nvPr/>
        </p:nvPicPr>
        <p:blipFill>
          <a:blip r:embed="rId8"/>
          <a:stretch>
            <a:fillRect/>
          </a:stretch>
        </p:blipFill>
        <p:spPr>
          <a:xfrm>
            <a:off x="403789" y="5214481"/>
            <a:ext cx="11077392" cy="1072989"/>
          </a:xfrm>
          <a:prstGeom prst="rect">
            <a:avLst/>
          </a:prstGeom>
        </p:spPr>
      </p:pic>
    </p:spTree>
    <p:extLst>
      <p:ext uri="{BB962C8B-B14F-4D97-AF65-F5344CB8AC3E}">
        <p14:creationId xmlns:p14="http://schemas.microsoft.com/office/powerpoint/2010/main" val="1856220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1454</TotalTime>
  <Words>3477</Words>
  <Application>Microsoft Office PowerPoint</Application>
  <PresentationFormat>Widescreen</PresentationFormat>
  <Paragraphs>474</Paragraphs>
  <Slides>80</Slides>
  <Notes>4</Notes>
  <HiddenSlides>13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Akhbar MT</vt:lpstr>
      <vt:lpstr>Algerian</vt:lpstr>
      <vt:lpstr>Aptos</vt:lpstr>
      <vt:lpstr>Aptos Display</vt:lpstr>
      <vt:lpstr>Arial</vt:lpstr>
      <vt:lpstr>Avenir Next LT Pro</vt:lpstr>
      <vt:lpstr>Berlin Sans FB</vt:lpstr>
      <vt:lpstr>Berlin Sans FB Demi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Deliverables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Taher Abdelhamed Mohamed Yousef</dc:creator>
  <cp:lastModifiedBy>Ahmed Taher Abdelhamed Mohamed Yousef</cp:lastModifiedBy>
  <cp:revision>38</cp:revision>
  <dcterms:created xsi:type="dcterms:W3CDTF">2025-11-14T01:36:17Z</dcterms:created>
  <dcterms:modified xsi:type="dcterms:W3CDTF">2025-11-29T18:01:03Z</dcterms:modified>
</cp:coreProperties>
</file>